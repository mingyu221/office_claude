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 확정한 네 가지 설계 결정을 먼저 제시하고, 각각의 근거를 순서대로 전개한다.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한 장만 보고도 오늘 회의가 끝나야 한다. 이후 슬라이드는 각 결정의 근거 전개.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두 레짐은 상호 보완이다. 변이체는 점수를 실험에 묶고, 상동체는 일반화를 검정한다. 어느 한쪽만으로는 주장이 성립하지 않는다.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라벨 병목이 이 프로젝트의 출발점. 도킹은 라벨 생성기이고 pLM이 최종 예측기다.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서열 선정 → 구조 확보/조립 → 도킹 → 학습. 오늘은 앞의 세 단계가 확정됐다.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가장 중요한 결정. 순위 상관 손실(0.70)보다 Km 예측력 손실이 훨씬 크다는 점이 핵심.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숫자만으로는 계면이라는 게 안 와닿아서 모식도를 넣었다. 실제 렌더는 외부용.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CE2를 못 쓰는 이유가 핵심. 41번 자리 자체는 기전적 근거로 유지한다.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전환의 대가가 없다는 점이 요지. 오히려 med_ds는 올랐다.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반변 15는 타협의 결과가 아니라 물리적 근거가 있는 경계. 절대 바꾸지 말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선정 프로토콜 전체를 지배하는 원칙. 이후 슬라이드는 이 원칙의 실행 결과다.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클러스터링을 먼저 하고 게이트는 대표 선정 때만 적용한다는 원칙 1의 실행.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교수님 원안과 다른 경계를 쓰는 이유. 의도는 유지했다는 점을 강조.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포괄률과 누수 0이 핵심. 구간별 평가의 한계도 미리 못박아 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C의 존재 이유와 A의 이어 학습 조건이 질문 나올 지점.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SF2 계통은 1SU6로 맞추면 안 된다는 점이 요지. 6OND를 별도 참조로 썼다.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조립이 신호를 만들어내지 않았다는 확인. 이게 없으면 상동체 점수를 못 믿는다.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수치 없이는 상동체 순위를 예측했다는 주장을 방어할 수 없다. 심사자 질문 대비.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8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1417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C06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진척 보고  ·  2026-09-16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874520"/>
            <a:ext cx="10424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Engineering CO dehydrogenases with</a:t>
            </a:r>
            <a:endParaRPr lang="en-US" sz="30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enhanced electron mediator affinity through</a:t>
            </a:r>
            <a:endParaRPr lang="en-US" sz="30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docking-distilled protein language models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393192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AE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도킹으로 증류한 단백질 언어모델을 이용한 CO 탈수소효소의 전자매개체 결합친화도 개량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94360" y="4892040"/>
            <a:ext cx="2578608" cy="457200"/>
          </a:xfrm>
          <a:prstGeom prst="roundRect">
            <a:avLst>
              <a:gd name="adj" fmla="val 10000"/>
            </a:avLst>
          </a:prstGeom>
          <a:solidFill>
            <a:srgbClr val="24276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9224" y="48920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수용체 = 이량체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37560" y="4892040"/>
            <a:ext cx="2578608" cy="457200"/>
          </a:xfrm>
          <a:prstGeom prst="roundRect">
            <a:avLst>
              <a:gd name="adj" fmla="val 10000"/>
            </a:avLst>
          </a:prstGeom>
          <a:solidFill>
            <a:srgbClr val="24276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392424" y="48920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박스 중심 = 41번 CA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080760" y="4892040"/>
            <a:ext cx="2578608" cy="457200"/>
          </a:xfrm>
          <a:prstGeom prst="roundRect">
            <a:avLst>
              <a:gd name="adj" fmla="val 10000"/>
            </a:avLst>
          </a:prstGeom>
          <a:solidFill>
            <a:srgbClr val="24276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135624" y="48920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학습 157 / 평가 55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823960" y="4892040"/>
            <a:ext cx="2578608" cy="457200"/>
          </a:xfrm>
          <a:prstGeom prst="roundRect">
            <a:avLst>
              <a:gd name="adj" fmla="val 10000"/>
            </a:avLst>
          </a:prstGeom>
          <a:solidFill>
            <a:srgbClr val="24276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878824" y="48920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조립 321개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11018520" y="638251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E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65760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C06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SUMMARY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21792"/>
            <a:ext cx="10972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1C1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확정한 것 — 도킹 파이프라인의 네 가지 설계 결정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94360" y="1645920"/>
            <a:ext cx="5349240" cy="1783080"/>
          </a:xfrm>
          <a:prstGeom prst="roundRect">
            <a:avLst>
              <a:gd name="adj" fmla="val 3077"/>
            </a:avLst>
          </a:prstGeom>
          <a:solidFill>
            <a:srgbClr val="F7F8FC"/>
          </a:solidFill>
          <a:ln w="12700">
            <a:solidFill>
              <a:srgbClr val="D6DA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901952"/>
            <a:ext cx="402336" cy="402336"/>
          </a:xfrm>
          <a:prstGeom prst="ellipse">
            <a:avLst/>
          </a:prstGeom>
          <a:solidFill>
            <a:srgbClr val="2F359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9019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380744" y="1975104"/>
            <a:ext cx="425196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5C61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수용체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432304"/>
            <a:ext cx="48006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100" b="1" dirty="0">
                <a:solidFill>
                  <a:srgbClr val="2F35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이량체 확정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907792"/>
            <a:ext cx="48006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C1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단량체 기각. 실측 Km 상관이 0.88 → 0.55 로 붕괴한다.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5349240" cy="1783080"/>
          </a:xfrm>
          <a:prstGeom prst="roundRect">
            <a:avLst>
              <a:gd name="adj" fmla="val 3077"/>
            </a:avLst>
          </a:prstGeom>
          <a:solidFill>
            <a:srgbClr val="F7F8FC"/>
          </a:solidFill>
          <a:ln w="12700">
            <a:solidFill>
              <a:srgbClr val="D6DA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92240" y="1901952"/>
            <a:ext cx="402336" cy="402336"/>
          </a:xfrm>
          <a:prstGeom prst="ellipse">
            <a:avLst/>
          </a:prstGeom>
          <a:solidFill>
            <a:srgbClr val="2F359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92240" y="19019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004304" y="1975104"/>
            <a:ext cx="425196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5C61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박스 중심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492240" y="2432304"/>
            <a:ext cx="48006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100" b="1" dirty="0">
                <a:solidFill>
                  <a:srgbClr val="2F35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F41 CE2 → 41번 CA</a:t>
            </a:r>
            <a:endParaRPr lang="en-US" sz="2100" dirty="0"/>
          </a:p>
        </p:txBody>
      </p:sp>
      <p:sp>
        <p:nvSpPr>
          <p:cNvPr id="15" name="Text 13"/>
          <p:cNvSpPr txBox="1"/>
          <p:nvPr/>
        </p:nvSpPr>
        <p:spPr>
          <a:xfrm>
            <a:off x="6492240" y="2907792"/>
            <a:ext cx="48006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C1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등가 ρ 0.968. 적용 가능 서열 1,613 → 1,750 으로 증가.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94360" y="3685032"/>
            <a:ext cx="5349240" cy="1783080"/>
          </a:xfrm>
          <a:prstGeom prst="roundRect">
            <a:avLst>
              <a:gd name="adj" fmla="val 3077"/>
            </a:avLst>
          </a:prstGeom>
          <a:solidFill>
            <a:srgbClr val="F7F8FC"/>
          </a:solidFill>
          <a:ln w="12700">
            <a:solidFill>
              <a:srgbClr val="D6DA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" y="3941064"/>
            <a:ext cx="402336" cy="402336"/>
          </a:xfrm>
          <a:prstGeom prst="ellipse">
            <a:avLst/>
          </a:prstGeom>
          <a:solidFill>
            <a:srgbClr val="2F359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68680" y="39410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380744" y="4014216"/>
            <a:ext cx="425196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5C61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데이터셋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868680" y="4471416"/>
            <a:ext cx="48006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100" b="1" dirty="0">
                <a:solidFill>
                  <a:srgbClr val="2F35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157 / 평가 55</a:t>
            </a:r>
            <a:endParaRPr lang="en-US" sz="2100" dirty="0"/>
          </a:p>
        </p:txBody>
      </p:sp>
      <p:sp>
        <p:nvSpPr>
          <p:cNvPr id="21" name="Text 19"/>
          <p:cNvSpPr txBox="1"/>
          <p:nvPr/>
        </p:nvSpPr>
        <p:spPr>
          <a:xfrm>
            <a:off x="868680" y="4946904"/>
            <a:ext cx="48006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C1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212 대표를 클러스터 단위로 분할. 누수 0, 라벨 생성 전 고정.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217920" y="3685032"/>
            <a:ext cx="5349240" cy="1783080"/>
          </a:xfrm>
          <a:prstGeom prst="roundRect">
            <a:avLst>
              <a:gd name="adj" fmla="val 3077"/>
            </a:avLst>
          </a:prstGeom>
          <a:solidFill>
            <a:srgbClr val="F7F8FC"/>
          </a:solidFill>
          <a:ln w="12700">
            <a:solidFill>
              <a:srgbClr val="D6DAE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92240" y="3941064"/>
            <a:ext cx="402336" cy="402336"/>
          </a:xfrm>
          <a:prstGeom prst="ellipse">
            <a:avLst/>
          </a:prstGeom>
          <a:solidFill>
            <a:srgbClr val="2F3596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492240" y="39410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004304" y="4014216"/>
            <a:ext cx="425196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5C61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492240" y="4471416"/>
            <a:ext cx="48006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100" b="1" dirty="0">
                <a:solidFill>
                  <a:srgbClr val="2F35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이량체 321개 조립</a:t>
            </a:r>
            <a:endParaRPr lang="en-US" sz="2100" dirty="0"/>
          </a:p>
        </p:txBody>
      </p:sp>
      <p:sp>
        <p:nvSpPr>
          <p:cNvPr id="27" name="Text 25"/>
          <p:cNvSpPr txBox="1"/>
          <p:nvPr/>
        </p:nvSpPr>
        <p:spPr>
          <a:xfrm>
            <a:off x="6492240" y="4946904"/>
            <a:ext cx="48006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C1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조립 편향 0.080 kcal/mol &lt; 측정 IQR 0.09. 왜곡 없음.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594360" y="5806440"/>
            <a:ext cx="109728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C06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 중   도킹 321개 실행  →  노이즈 바닥(SNR) 측정  →  라벨 부착  →  학습 A / B / C / D1 / D2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11018520" y="638251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1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65760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C06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OBJECTIVE  &amp;  SCOPE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21792"/>
            <a:ext cx="10972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1C1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서열만으로 CODH 족의 매개체 결합친화도 순위를 매긴다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94360" y="1664208"/>
            <a:ext cx="10972800" cy="804672"/>
          </a:xfrm>
          <a:prstGeom prst="roundRect">
            <a:avLst>
              <a:gd name="adj" fmla="val 6818"/>
            </a:avLst>
          </a:prstGeom>
          <a:solidFill>
            <a:srgbClr val="EEF0FA"/>
          </a:solidFill>
          <a:ln w="12700">
            <a:solidFill>
              <a:srgbClr val="D6DA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86968" y="1847088"/>
            <a:ext cx="10387584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400" b="1" dirty="0">
                <a:solidFill>
                  <a:srgbClr val="2F35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도킹 점수로 증류한 단백질 언어모델로 후보 서열의 순위를 매겨, 전자매개체(EV) 결합친화도가 향상된 CO 탈수소효소 서열을 찾아낸다.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94360" y="2633472"/>
            <a:ext cx="3520440" cy="1481328"/>
          </a:xfrm>
          <a:prstGeom prst="roundRect">
            <a:avLst>
              <a:gd name="adj" fmla="val 3704"/>
            </a:avLst>
          </a:prstGeom>
          <a:solidFill>
            <a:srgbClr val="FBEEE2"/>
          </a:solidFill>
          <a:ln w="12700">
            <a:solidFill>
              <a:srgbClr val="E8C9A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32104" y="2798064"/>
            <a:ext cx="3044952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C06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무엇이 어려운가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832104" y="3108960"/>
            <a:ext cx="3044952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C1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실측 Km이 21건뿐이라 서열 모델을 직접 지도할 수 없다. 이 족에는 90%를 넘는 근연 상동체도 거의 없다.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61688" y="2633472"/>
            <a:ext cx="3520440" cy="1481328"/>
          </a:xfrm>
          <a:prstGeom prst="roundRect">
            <a:avLst>
              <a:gd name="adj" fmla="val 3704"/>
            </a:avLst>
          </a:prstGeom>
          <a:solidFill>
            <a:srgbClr val="F7F8FC"/>
          </a:solidFill>
          <a:ln w="12700">
            <a:solidFill>
              <a:srgbClr val="D6DA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99432" y="2798064"/>
            <a:ext cx="3044952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F35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접근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4599432" y="3108960"/>
            <a:ext cx="3044952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C1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도킹으로 라벨을 대량 생성한다 — 변이체 288개와 상동체 321개. 회귀 헤드가 이를 ESM 임베딩으로 증류하므로 추론에는 구조가 필요 없고 족 전체 1,827개로 확장된다.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129016" y="2633472"/>
            <a:ext cx="3520440" cy="1481328"/>
          </a:xfrm>
          <a:prstGeom prst="roundRect">
            <a:avLst>
              <a:gd name="adj" fmla="val 3704"/>
            </a:avLst>
          </a:prstGeom>
          <a:solidFill>
            <a:srgbClr val="F7F8FC"/>
          </a:solidFill>
          <a:ln w="12700">
            <a:solidFill>
              <a:srgbClr val="D6DAE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66760" y="2798064"/>
            <a:ext cx="3044952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F35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성공 기준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8366760" y="3108960"/>
            <a:ext cx="3044952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C1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고정된 55개 평가셋의 Spearman ρ. 109개 클러스터 내 쌍에서 측정한 도킹 노이즈 바닥을 넘어야 한다.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594360" y="4297680"/>
            <a:ext cx="109728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C1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Scope strategy — 두 레짐이 서로 답하지 못하는 것을 답한다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94360" y="4608576"/>
            <a:ext cx="5349240" cy="1188720"/>
          </a:xfrm>
          <a:prstGeom prst="roundRect">
            <a:avLst>
              <a:gd name="adj" fmla="val 4615"/>
            </a:avLst>
          </a:prstGeom>
          <a:solidFill>
            <a:srgbClr val="F7F8FC"/>
          </a:solidFill>
          <a:ln w="12700">
            <a:solidFill>
              <a:srgbClr val="D6DAE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50392" y="4754880"/>
            <a:ext cx="292608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F35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변이체 레짐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3703320" y="4791456"/>
            <a:ext cx="201168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C06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local  ·  dense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850392" y="5084064"/>
            <a:ext cx="484632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C1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1SU6 골격 하나 위의 변이체 288개, 15위치 × 19치환. 곁사슬만 바뀌고 골격 이완이 없다. 이 레짐이 도킹 점수를 실측 Km에 고정시킨다 (ρ = 0.90).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17920" y="4608576"/>
            <a:ext cx="5349240" cy="1188720"/>
          </a:xfrm>
          <a:prstGeom prst="roundRect">
            <a:avLst>
              <a:gd name="adj" fmla="val 4615"/>
            </a:avLst>
          </a:prstGeom>
          <a:solidFill>
            <a:srgbClr val="F7F8FC"/>
          </a:solidFill>
          <a:ln w="12700">
            <a:solidFill>
              <a:srgbClr val="D6DAE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73952" y="4754880"/>
            <a:ext cx="292608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F35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상동체 레짐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9326880" y="4791456"/>
            <a:ext cx="201168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C06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global  ·  sparse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6473952" y="5084064"/>
            <a:ext cx="484632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C1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identity 28.5–74.8%에 걸친 클러스터 대표 212개, 구조마다 별개로 예측하고 조립했다. 이 레짐이 골격이 바뀌어도 점수가 살아남는지를 검정한다.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594360" y="5925312"/>
            <a:ext cx="109728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5C61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SCOPE 밖   절대 결합친화도  ·  Fe-S 보조인자 정전기 환경  ·  기존 21건을 넘는 실험 검증</a:t>
            </a:r>
            <a:endParaRPr lang="en-US" sz="1050" dirty="0"/>
          </a:p>
        </p:txBody>
      </p:sp>
      <p:sp>
        <p:nvSpPr>
          <p:cNvPr id="26" name="Text 23"/>
          <p:cNvSpPr txBox="1"/>
          <p:nvPr/>
        </p:nvSpPr>
        <p:spPr>
          <a:xfrm>
            <a:off x="11018520" y="638251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1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65760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C06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전략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21792"/>
            <a:ext cx="10972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1C1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문제는 라벨 병목이다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78308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1C1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실측 Km 은 21건뿐이다. </a:t>
            </a:r>
            <a:pPr indent="0" marL="0">
              <a:lnSpc>
                <a:spcPct val="118000"/>
              </a:lnSpc>
              <a:spcAft>
                <a:spcPts val="1400"/>
              </a:spcAft>
              <a:buNone/>
            </a:pPr>
            <a:r>
              <a:rPr lang="en-US" sz="1350" dirty="0">
                <a:solidFill>
                  <a:srgbClr val="1C1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단백질 언어모델 회귀를 직접 지도하기에 부족하다.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1C1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도킹 점수가 대리 라벨이 된다. </a:t>
            </a:r>
            <a:pPr indent="0" marL="0">
              <a:lnSpc>
                <a:spcPct val="118000"/>
              </a:lnSpc>
              <a:spcAft>
                <a:spcPts val="1400"/>
              </a:spcAft>
              <a:buNone/>
            </a:pPr>
            <a:r>
              <a:rPr lang="en-US" sz="1350" dirty="0">
                <a:solidFill>
                  <a:srgbClr val="1C1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변이체 288개에서 실측 Km 과 ρ = 0.89 를 보인다.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1C1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전략 — docking-distilled pLM. </a:t>
            </a:r>
            <a:pPr indent="0" marL="0">
              <a:lnSpc>
                <a:spcPct val="118000"/>
              </a:lnSpc>
              <a:spcAft>
                <a:spcPts val="1400"/>
              </a:spcAft>
              <a:buNone/>
            </a:pPr>
            <a:r>
              <a:rPr lang="en-US" sz="1350" dirty="0">
                <a:solidFill>
                  <a:srgbClr val="1C1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EV 결합부위 도킹으로 결합친화도 예측값을 대량 생성해 서열 모델로 증류하고, 추론 단계에서는 구조 없이 서열만으로 예측한다.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94360" y="4343400"/>
            <a:ext cx="5760720" cy="1417320"/>
          </a:xfrm>
          <a:prstGeom prst="roundRect">
            <a:avLst>
              <a:gd name="adj" fmla="val 3871"/>
            </a:avLst>
          </a:prstGeom>
          <a:solidFill>
            <a:srgbClr val="F7F8FC"/>
          </a:solidFill>
          <a:ln w="12700">
            <a:solidFill>
              <a:srgbClr val="D6DAE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4526280"/>
            <a:ext cx="521208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C06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증류인가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4864608"/>
            <a:ext cx="521208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C1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도킹은 구조가 있어야 하고 한 서열당 수 분이 든다. 증류된 모델은 구조 없이 서열만으로 즉시 순위를 낸다 — 족 전체 1,827개로 확장 가능해진다.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903720" y="1783080"/>
            <a:ext cx="4663440" cy="749808"/>
          </a:xfrm>
          <a:prstGeom prst="roundRect">
            <a:avLst>
              <a:gd name="adj" fmla="val 7317"/>
            </a:avLst>
          </a:prstGeom>
          <a:solidFill>
            <a:srgbClr val="FBEEE2"/>
          </a:solidFill>
          <a:ln w="12700">
            <a:solidFill>
              <a:srgbClr val="E8C9A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32320" y="1901952"/>
            <a:ext cx="420624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C06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실측 Km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132320" y="2194560"/>
            <a:ext cx="420624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1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 건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9134856" y="2578608"/>
            <a:ext cx="201168" cy="201168"/>
          </a:xfrm>
          <a:prstGeom prst="downArrow">
            <a:avLst/>
          </a:prstGeom>
          <a:solidFill>
            <a:srgbClr val="6A72CE"/>
          </a:solidFill>
          <a:ln/>
        </p:spPr>
      </p:sp>
      <p:sp>
        <p:nvSpPr>
          <p:cNvPr id="12" name="Shape 10"/>
          <p:cNvSpPr/>
          <p:nvPr/>
        </p:nvSpPr>
        <p:spPr>
          <a:xfrm>
            <a:off x="6903720" y="2816352"/>
            <a:ext cx="4663440" cy="749808"/>
          </a:xfrm>
          <a:prstGeom prst="roundRect">
            <a:avLst>
              <a:gd name="adj" fmla="val 7317"/>
            </a:avLst>
          </a:prstGeom>
          <a:solidFill>
            <a:srgbClr val="EEF0FA"/>
          </a:solidFill>
          <a:ln w="12700">
            <a:solidFill>
              <a:srgbClr val="D6DAE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132320" y="2935224"/>
            <a:ext cx="420624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F35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도킹 점수 생성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132320" y="3227832"/>
            <a:ext cx="420624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1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변이체 288 + 상동체 321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134856" y="3611880"/>
            <a:ext cx="201168" cy="201168"/>
          </a:xfrm>
          <a:prstGeom prst="downArrow">
            <a:avLst/>
          </a:prstGeom>
          <a:solidFill>
            <a:srgbClr val="6A72CE"/>
          </a:solidFill>
          <a:ln/>
        </p:spPr>
      </p:sp>
      <p:sp>
        <p:nvSpPr>
          <p:cNvPr id="16" name="Shape 14"/>
          <p:cNvSpPr/>
          <p:nvPr/>
        </p:nvSpPr>
        <p:spPr>
          <a:xfrm>
            <a:off x="6903720" y="3849624"/>
            <a:ext cx="4663440" cy="749808"/>
          </a:xfrm>
          <a:prstGeom prst="roundRect">
            <a:avLst>
              <a:gd name="adj" fmla="val 7317"/>
            </a:avLst>
          </a:prstGeom>
          <a:solidFill>
            <a:srgbClr val="EEF0FA"/>
          </a:solidFill>
          <a:ln w="12700">
            <a:solidFill>
              <a:srgbClr val="D6DAE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132320" y="3968496"/>
            <a:ext cx="420624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F35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ESM 임베딩 + 회귀 헤드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132320" y="4261104"/>
            <a:ext cx="420624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1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SeekRank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134856" y="4645152"/>
            <a:ext cx="201168" cy="201168"/>
          </a:xfrm>
          <a:prstGeom prst="downArrow">
            <a:avLst/>
          </a:prstGeom>
          <a:solidFill>
            <a:srgbClr val="6A72CE"/>
          </a:solidFill>
          <a:ln/>
        </p:spPr>
      </p:sp>
      <p:sp>
        <p:nvSpPr>
          <p:cNvPr id="20" name="Shape 18"/>
          <p:cNvSpPr/>
          <p:nvPr/>
        </p:nvSpPr>
        <p:spPr>
          <a:xfrm>
            <a:off x="6903720" y="4882896"/>
            <a:ext cx="4663440" cy="749808"/>
          </a:xfrm>
          <a:prstGeom prst="roundRect">
            <a:avLst>
              <a:gd name="adj" fmla="val 7317"/>
            </a:avLst>
          </a:prstGeom>
          <a:solidFill>
            <a:srgbClr val="EEF0FA"/>
          </a:solidFill>
          <a:ln w="12700">
            <a:solidFill>
              <a:srgbClr val="D6DAE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132320" y="5001768"/>
            <a:ext cx="420624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6A72C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서열만으로 순위 예측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132320" y="5294376"/>
            <a:ext cx="420624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1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족 전체 1,827 로 확장</a:t>
            </a:r>
            <a:endParaRPr lang="en-US" sz="1050" dirty="0"/>
          </a:p>
        </p:txBody>
      </p:sp>
      <p:sp>
        <p:nvSpPr>
          <p:cNvPr id="24" name="Text 21"/>
          <p:cNvSpPr txBox="1"/>
          <p:nvPr/>
        </p:nvSpPr>
        <p:spPr>
          <a:xfrm>
            <a:off x="11018520" y="638251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1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65760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C06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OVERVIEW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21792"/>
            <a:ext cx="10972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1C1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파이프라인 전체도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1143000" cy="868680"/>
          </a:xfrm>
          <a:prstGeom prst="roundRect">
            <a:avLst>
              <a:gd name="adj" fmla="val 5263"/>
            </a:avLst>
          </a:prstGeom>
          <a:solidFill>
            <a:srgbClr val="16183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9224" y="1691640"/>
            <a:ext cx="10332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서열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993392" y="1691640"/>
            <a:ext cx="1666037" cy="868680"/>
          </a:xfrm>
          <a:prstGeom prst="roundRect">
            <a:avLst>
              <a:gd name="adj" fmla="val 5263"/>
            </a:avLst>
          </a:prstGeom>
          <a:solidFill>
            <a:srgbClr val="EEF0F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048256" y="1691640"/>
            <a:ext cx="155630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F35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IPR010047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F35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1,827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3677717" y="19933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A72C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970325" y="1691640"/>
            <a:ext cx="1666037" cy="868680"/>
          </a:xfrm>
          <a:prstGeom prst="roundRect">
            <a:avLst>
              <a:gd name="adj" fmla="val 5263"/>
            </a:avLst>
          </a:prstGeom>
          <a:solidFill>
            <a:srgbClr val="EEF0F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025189" y="1691640"/>
            <a:ext cx="155630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F35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70% 클러스터링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F35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219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654650" y="19933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A72C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947258" y="1691640"/>
            <a:ext cx="1666037" cy="868680"/>
          </a:xfrm>
          <a:prstGeom prst="roundRect">
            <a:avLst>
              <a:gd name="adj" fmla="val 5263"/>
            </a:avLst>
          </a:prstGeom>
          <a:solidFill>
            <a:srgbClr val="EEF0F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002122" y="1691640"/>
            <a:ext cx="155630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F35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도킹 가능성 게이트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F35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1,722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7631582" y="19933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A72C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924190" y="1691640"/>
            <a:ext cx="1666037" cy="868680"/>
          </a:xfrm>
          <a:prstGeom prst="roundRect">
            <a:avLst>
              <a:gd name="adj" fmla="val 5263"/>
            </a:avLst>
          </a:prstGeom>
          <a:solidFill>
            <a:srgbClr val="EEF0F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979054" y="1691640"/>
            <a:ext cx="155630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F35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medoid 대표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F35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212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9608515" y="19933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A72C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901123" y="1691640"/>
            <a:ext cx="1666037" cy="868680"/>
          </a:xfrm>
          <a:prstGeom prst="roundRect">
            <a:avLst>
              <a:gd name="adj" fmla="val 5263"/>
            </a:avLst>
          </a:prstGeom>
          <a:solidFill>
            <a:srgbClr val="EEF0F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955987" y="1691640"/>
            <a:ext cx="155630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F35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157 / 평가 55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F35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D2 확장 109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94360" y="2770632"/>
            <a:ext cx="1143000" cy="868680"/>
          </a:xfrm>
          <a:prstGeom prst="roundRect">
            <a:avLst>
              <a:gd name="adj" fmla="val 5263"/>
            </a:avLst>
          </a:prstGeom>
          <a:solidFill>
            <a:srgbClr val="16183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9224" y="2770632"/>
            <a:ext cx="10332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993392" y="2770632"/>
            <a:ext cx="2160270" cy="868680"/>
          </a:xfrm>
          <a:prstGeom prst="roundRect">
            <a:avLst>
              <a:gd name="adj" fmla="val 5263"/>
            </a:avLst>
          </a:prstGeom>
          <a:solidFill>
            <a:srgbClr val="EEF0F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2048256" y="2770632"/>
            <a:ext cx="205054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F35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AFDB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F35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298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4171950" y="30723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A72C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464558" y="2770632"/>
            <a:ext cx="2160270" cy="868680"/>
          </a:xfrm>
          <a:prstGeom prst="roundRect">
            <a:avLst>
              <a:gd name="adj" fmla="val 5263"/>
            </a:avLst>
          </a:prstGeom>
          <a:solidFill>
            <a:srgbClr val="EEF0F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519422" y="2770632"/>
            <a:ext cx="205054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F35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ColabFold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F35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6643116" y="30723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A72C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935724" y="2770632"/>
            <a:ext cx="2160270" cy="868680"/>
          </a:xfrm>
          <a:prstGeom prst="roundRect">
            <a:avLst>
              <a:gd name="adj" fmla="val 5263"/>
            </a:avLst>
          </a:prstGeom>
          <a:solidFill>
            <a:srgbClr val="EEF0F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990588" y="2770632"/>
            <a:ext cx="205054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F35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아키텍처별 참조 중첩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F35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SF4→1SU6 · SF2→6OND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9114282" y="30723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A72C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9406890" y="2770632"/>
            <a:ext cx="2160270" cy="868680"/>
          </a:xfrm>
          <a:prstGeom prst="roundRect">
            <a:avLst>
              <a:gd name="adj" fmla="val 5263"/>
            </a:avLst>
          </a:prstGeom>
          <a:solidFill>
            <a:srgbClr val="EEF0FA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61754" y="2770632"/>
            <a:ext cx="205054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F35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이량체 조립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F35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321 / 321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94360" y="3849624"/>
            <a:ext cx="1143000" cy="868680"/>
          </a:xfrm>
          <a:prstGeom prst="roundRect">
            <a:avLst>
              <a:gd name="adj" fmla="val 5263"/>
            </a:avLst>
          </a:prstGeom>
          <a:solidFill>
            <a:srgbClr val="16183A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49224" y="3849624"/>
            <a:ext cx="10332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도킹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1993392" y="3849624"/>
            <a:ext cx="9573768" cy="868680"/>
          </a:xfrm>
          <a:prstGeom prst="roundRect">
            <a:avLst>
              <a:gd name="adj" fmla="val 5263"/>
            </a:avLst>
          </a:prstGeom>
          <a:solidFill>
            <a:srgbClr val="EEF0FA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2048256" y="3849624"/>
            <a:ext cx="9464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F35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구조의 41번 CA 중심  ·  반변 15.000 Å (npts 80 × 0.375)  ·  AutoDock-GPU 50런  ·  주 지표 med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594360" y="4928616"/>
            <a:ext cx="1143000" cy="868680"/>
          </a:xfrm>
          <a:prstGeom prst="roundRect">
            <a:avLst>
              <a:gd name="adj" fmla="val 5263"/>
            </a:avLst>
          </a:prstGeom>
          <a:solidFill>
            <a:srgbClr val="16183A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649224" y="4928616"/>
            <a:ext cx="10332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1993392" y="4928616"/>
            <a:ext cx="9573768" cy="868680"/>
          </a:xfrm>
          <a:prstGeom prst="roundRect">
            <a:avLst>
              <a:gd name="adj" fmla="val 5263"/>
            </a:avLst>
          </a:prstGeom>
          <a:solidFill>
            <a:srgbClr val="EEF0FA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2048256" y="4928616"/>
            <a:ext cx="9464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F35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SeekRank 회귀 헤드  ·  실험 A 유사도 순차 / B 한번에 / C 무작위 순차 / D1 데이터 양 / D2 클러스터 내 확장</a:t>
            </a:r>
            <a:endParaRPr lang="en-US" sz="1150" dirty="0"/>
          </a:p>
        </p:txBody>
      </p:sp>
      <p:sp>
        <p:nvSpPr>
          <p:cNvPr id="41" name="Text 39"/>
          <p:cNvSpPr txBox="1"/>
          <p:nvPr/>
        </p:nvSpPr>
        <p:spPr>
          <a:xfrm>
            <a:off x="594360" y="5989320"/>
            <a:ext cx="109728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5C61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서열 선정 · 구조 확보 · 이량체 조립까지 확정되었다. 도킹부터가 다음 단계다.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1018520" y="638251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1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65760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C06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 ①  수용체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21792"/>
            <a:ext cx="10972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1C1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수용체는 이량체여야 한다 — 단량체는 예측력을 잃는다</a:t>
            </a:r>
            <a:endParaRPr lang="en-US" sz="27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783080"/>
          <a:ext cx="603504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1188720"/>
                <a:gridCol w="1188720"/>
                <a:gridCol w="118872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지표 (n=21)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5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이량체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5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단량체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5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차이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59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1E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ρ(실측 Km), med_lig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F359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0.903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69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0.531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E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−0.372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1E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ρ(실측 Km), med_ds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E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0.856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E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0.512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E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−0.344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1E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ρ(실측 Km), best_ds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E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0.876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E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0.558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E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−0.319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1E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ρ(순위, n=288), med_ds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E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E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0.702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E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94360" y="3794760"/>
            <a:ext cx="603504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5C61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단량체 절단 대조군 288개 · 중심 · 반변 · nrun · seed 모두 동일</a:t>
            </a:r>
            <a:endParaRPr lang="en-US" sz="1050" dirty="0"/>
          </a:p>
        </p:txBody>
      </p:sp>
      <p:sp>
        <p:nvSpPr>
          <p:cNvPr id="6" name="Text 3"/>
          <p:cNvSpPr txBox="1"/>
          <p:nvPr/>
        </p:nvSpPr>
        <p:spPr>
          <a:xfrm>
            <a:off x="594360" y="4206240"/>
            <a:ext cx="6035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1C1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수렴 실패가 아니다. </a:t>
            </a:r>
            <a:pPr indent="0" marL="0">
              <a:lnSpc>
                <a:spcPct val="11800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1C1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단량체 런의 리간드 교체 상관은 0.995 로 오히려 더 높다. 포켓이 단순해져 경쟁 최소점이 줄었을 뿐 계산은 정상 수렴했다.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1C1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구조를 바꾼 결과다. </a:t>
            </a:r>
            <a:pPr indent="0" marL="0">
              <a:lnSpc>
                <a:spcPct val="11800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1C1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잘려나간 SU2 의 기여가 무작위 잡음이 아니라 실측과 맞아떨어지던 신호였다.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C06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귀결 — 상동체도 multimer 예측이 전제. </a:t>
            </a:r>
            <a:pPr indent="0" marL="0">
              <a:lnSpc>
                <a:spcPct val="11800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C06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AF2 단량체로 상동체를 만드는 계획은 폐기했다.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995160" y="1783080"/>
            <a:ext cx="4572000" cy="2331720"/>
          </a:xfrm>
          <a:prstGeom prst="roundRect">
            <a:avLst>
              <a:gd name="adj" fmla="val 2353"/>
            </a:avLst>
          </a:prstGeom>
          <a:solidFill>
            <a:srgbClr val="F7F8FC"/>
          </a:solidFill>
          <a:ln w="12700">
            <a:solidFill>
              <a:srgbClr val="D6DAE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269480" y="1965960"/>
            <a:ext cx="402336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5C61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실측 Km 상관  (med_lig)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7223760" y="2377440"/>
            <a:ext cx="1828800" cy="66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F35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0.903</a:t>
            </a:r>
            <a:endParaRPr lang="en-US" sz="3400" dirty="0"/>
          </a:p>
        </p:txBody>
      </p:sp>
      <p:sp>
        <p:nvSpPr>
          <p:cNvPr id="10" name="Text 7"/>
          <p:cNvSpPr txBox="1"/>
          <p:nvPr/>
        </p:nvSpPr>
        <p:spPr>
          <a:xfrm>
            <a:off x="7223760" y="2983687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C61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이량체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9098280" y="2450592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C61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9509760" y="2377440"/>
            <a:ext cx="1828800" cy="66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06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0.531</a:t>
            </a:r>
            <a:endParaRPr lang="en-US" sz="3400" dirty="0"/>
          </a:p>
        </p:txBody>
      </p:sp>
      <p:sp>
        <p:nvSpPr>
          <p:cNvPr id="13" name="Text 10"/>
          <p:cNvSpPr txBox="1"/>
          <p:nvPr/>
        </p:nvSpPr>
        <p:spPr>
          <a:xfrm>
            <a:off x="9509760" y="2983687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C61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단량체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7269480" y="3675888"/>
            <a:ext cx="402336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C06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예측력의 41% 손실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995160" y="4315968"/>
            <a:ext cx="4572000" cy="1691640"/>
          </a:xfrm>
          <a:prstGeom prst="roundRect">
            <a:avLst>
              <a:gd name="adj" fmla="val 3243"/>
            </a:avLst>
          </a:prstGeom>
          <a:solidFill>
            <a:srgbClr val="EEF0FA"/>
          </a:solidFill>
          <a:ln w="12700">
            <a:solidFill>
              <a:srgbClr val="D6DAE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269480" y="4498848"/>
            <a:ext cx="402336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F35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이량체가 필요한가</a:t>
            </a:r>
            <a:endParaRPr lang="en-US" sz="1150" dirty="0"/>
          </a:p>
        </p:txBody>
      </p:sp>
      <p:sp>
        <p:nvSpPr>
          <p:cNvPr id="17" name="Text 14"/>
          <p:cNvSpPr txBox="1"/>
          <p:nvPr/>
        </p:nvSpPr>
        <p:spPr>
          <a:xfrm>
            <a:off x="7269480" y="4828032"/>
            <a:ext cx="402336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C1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EV 결합부위가 두 protomer 의 C2 계면에 걸쳐 있기 때문이다. 단량체로 자르면 결합부위의 절반이 사라진다.</a:t>
            </a:r>
            <a:endParaRPr lang="en-US" sz="1150" dirty="0"/>
          </a:p>
        </p:txBody>
      </p:sp>
      <p:sp>
        <p:nvSpPr>
          <p:cNvPr id="19" name="Text 15"/>
          <p:cNvSpPr txBox="1"/>
          <p:nvPr/>
        </p:nvSpPr>
        <p:spPr>
          <a:xfrm>
            <a:off x="11018520" y="638251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1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65760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C06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21792"/>
            <a:ext cx="10972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1C1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EV 결합부위가 C2 계면에 걸쳐 있다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783080"/>
            <a:ext cx="56692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1C1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박스 내 원자가 두 protomer 에 나뉜다. </a:t>
            </a:r>
            <a:pPr indent="0" marL="0">
              <a:lnSpc>
                <a:spcPct val="118000"/>
              </a:lnSpc>
              <a:spcAft>
                <a:spcPts val="1300"/>
              </a:spcAft>
              <a:buNone/>
            </a:pPr>
            <a:r>
              <a:rPr lang="en-US" sz="1250" dirty="0">
                <a:solidFill>
                  <a:srgbClr val="1C1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SU1 436개(54.6%) / SU2 362개(45.4%).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1C1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양쪽이 같은 34–67 루프를 마주 댄다. </a:t>
            </a:r>
            <a:pPr indent="0" marL="0">
              <a:lnSpc>
                <a:spcPct val="118000"/>
              </a:lnSpc>
              <a:spcAft>
                <a:spcPts val="1300"/>
              </a:spcAft>
              <a:buNone/>
            </a:pPr>
            <a:r>
              <a:rPr lang="en-US" sz="1250" dirty="0">
                <a:solidFill>
                  <a:srgbClr val="1C1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중심 12 Å 이내 포켓 벽이 SU1 28잔기, SU2 18잔기로 구성된다.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1C1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박스가 대칭축을 품는다. </a:t>
            </a:r>
            <a:pPr indent="0" marL="0">
              <a:lnSpc>
                <a:spcPct val="118000"/>
              </a:lnSpc>
              <a:spcAft>
                <a:spcPts val="1300"/>
              </a:spcAft>
              <a:buNone/>
            </a:pPr>
            <a:r>
              <a:rPr lang="en-US" sz="1250" dirty="0">
                <a:solidFill>
                  <a:srgbClr val="1C1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그리드 중심에서 C2 축까지 4.76 Å. 두 protomer 의 F41 CE2 는 9.53 Å 떨어진 대칭 쌍이다.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C06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C-클러스터는 박스 밖이다. </a:t>
            </a:r>
            <a:pPr indent="0" marL="0">
              <a:lnSpc>
                <a:spcPct val="118000"/>
              </a:lnSpc>
              <a:spcAft>
                <a:spcPts val="1300"/>
              </a:spcAft>
              <a:buNone/>
            </a:pPr>
            <a:r>
              <a:rPr lang="en-US" sz="1250" dirty="0">
                <a:solidFill>
                  <a:srgbClr val="C06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 산화 활성자리까지 26.4 Å. 박스는 D-클러스터 주변, 즉 전자 전달 경로에 앉아 있다.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94360" y="4983480"/>
            <a:ext cx="5669280" cy="1051560"/>
          </a:xfrm>
          <a:prstGeom prst="roundRect">
            <a:avLst>
              <a:gd name="adj" fmla="val 5217"/>
            </a:avLst>
          </a:prstGeom>
          <a:solidFill>
            <a:srgbClr val="F7F8FC"/>
          </a:solidFill>
          <a:ln w="12700">
            <a:solidFill>
              <a:srgbClr val="D6DAE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50392" y="5148072"/>
            <a:ext cx="5157216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C1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이량체가 같은 체인 A 에 같은 잔기번호로 들어 있어 잔기번호 기준 점검으로는 구분되지 않는다. 원자 수(11,370)와 중복쌍 거리 중앙값(51.61 Å)으로 확인했다.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537960" y="1783080"/>
            <a:ext cx="5029200" cy="4251960"/>
          </a:xfrm>
          <a:prstGeom prst="roundRect">
            <a:avLst>
              <a:gd name="adj" fmla="val 1290"/>
            </a:avLst>
          </a:prstGeom>
          <a:solidFill>
            <a:srgbClr val="F7F8FC"/>
          </a:solidFill>
          <a:ln w="12700">
            <a:solidFill>
              <a:srgbClr val="D6DA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092440" y="1874520"/>
            <a:ext cx="201168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C06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반변 15 Å 박스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9098280" y="2121408"/>
            <a:ext cx="0" cy="2542032"/>
          </a:xfrm>
          <a:prstGeom prst="line">
            <a:avLst/>
          </a:prstGeom>
          <a:noFill/>
          <a:ln w="15875">
            <a:solidFill>
              <a:srgbClr val="5C6180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6766560" y="1920240"/>
            <a:ext cx="2286000" cy="2286000"/>
          </a:xfrm>
          <a:prstGeom prst="ellipse">
            <a:avLst/>
          </a:prstGeom>
          <a:solidFill>
            <a:srgbClr val="D5DAF2"/>
          </a:solidFill>
          <a:ln w="15875">
            <a:solidFill>
              <a:srgbClr val="6A72C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0" y="1920240"/>
            <a:ext cx="2286000" cy="2286000"/>
          </a:xfrm>
          <a:prstGeom prst="ellipse">
            <a:avLst/>
          </a:prstGeom>
          <a:solidFill>
            <a:srgbClr val="E4E7F7"/>
          </a:solidFill>
          <a:ln w="15875">
            <a:solidFill>
              <a:srgbClr val="6A72C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995160" y="2880360"/>
            <a:ext cx="109728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F35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SU1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0104120" y="2880360"/>
            <a:ext cx="109728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F35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SU2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229600" y="2194560"/>
            <a:ext cx="1737360" cy="1737360"/>
          </a:xfrm>
          <a:prstGeom prst="roundRect">
            <a:avLst>
              <a:gd name="adj" fmla="val 2105"/>
            </a:avLst>
          </a:prstGeom>
          <a:ln w="28575">
            <a:solidFill>
              <a:srgbClr val="C0692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226296" y="4315968"/>
            <a:ext cx="914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5C61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C2 축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6812280" y="4956048"/>
            <a:ext cx="4572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F35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박스 내 원자   SU1 54.6%  /  SU2 45.4%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6812280" y="5321808"/>
            <a:ext cx="4572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C61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그리드 중심 → C2 축  4.76 Å      ·      C-클러스터  26.4 Å (박스 밖)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6812280" y="5650992"/>
            <a:ext cx="4572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5C61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모식도 — 외부 발표 시 PyMOL 렌더로 교체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11018520" y="638251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1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65760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C06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 ②  박스 중심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21792"/>
            <a:ext cx="10972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1C1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박스 중심을 41번 CA 로 전환한다 — 상동체 전 계통에 정의된다</a:t>
            </a:r>
            <a:endParaRPr lang="en-US" sz="27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783080"/>
          <a:ext cx="530352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325880"/>
                <a:gridCol w="132588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41번 잔기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5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서열 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5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CE2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59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1E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 / Y / W  (방향족)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E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1,613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F359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있음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1E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  (Ile 계통)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69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118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69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1E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 · T · H · L · S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E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19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069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1E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주석 없음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E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77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069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94360" y="3840480"/>
            <a:ext cx="5303520" cy="960120"/>
          </a:xfrm>
          <a:prstGeom prst="roundRect">
            <a:avLst>
              <a:gd name="adj" fmla="val 5714"/>
            </a:avLst>
          </a:prstGeom>
          <a:solidFill>
            <a:srgbClr val="FBEEE2"/>
          </a:solidFill>
          <a:ln w="12700">
            <a:solidFill>
              <a:srgbClr val="E8C9A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68680" y="4005072"/>
            <a:ext cx="475488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C06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214 개 (11.7%) 에 CE2 가 없다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4370832"/>
            <a:ext cx="475488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1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His 는 방향족이지만 CE1 / NE2 만 가져 역시 불가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4983480"/>
            <a:ext cx="530352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C1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 계통을 포함하려면 CE2 정의는 사용할 수 없다.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5285232"/>
            <a:ext cx="530352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1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비방향족 41번은 오류가 아니라 상동체에 실재하는 생물학적 사실이다.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6446520" y="1783080"/>
            <a:ext cx="5120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1C1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41번 자리 자체는 유지한다. </a:t>
            </a:r>
            <a:pPr indent="0" marL="0">
              <a:lnSpc>
                <a:spcPct val="118000"/>
              </a:lnSpc>
              <a:spcAft>
                <a:spcPts val="1300"/>
              </a:spcAft>
              <a:buNone/>
            </a:pPr>
            <a:r>
              <a:rPr lang="en-US" sz="1250" dirty="0">
                <a:solidFill>
                  <a:srgbClr val="1C1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변이 15위치(40, 42, 43, 44, 46, 57–66)에서 41번만 제외되어 있다. EV 와 전자를 주고받는 키 잔기라 변이 대상에서 뺀 것이므로, 중심을 41번에 두는 것은 편의가 아니라 기전적 선택이다.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1C1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정의가 서열에서 자동 결정된다. </a:t>
            </a:r>
            <a:pPr indent="0" marL="0">
              <a:lnSpc>
                <a:spcPct val="118000"/>
              </a:lnSpc>
              <a:spcAft>
                <a:spcPts val="1300"/>
              </a:spcAft>
              <a:buNone/>
            </a:pPr>
            <a:r>
              <a:rPr lang="en-US" sz="1250" dirty="0">
                <a:solidFill>
                  <a:srgbClr val="1C1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f41_pos = anchor_pos + 2 가 1,750 / 1,750 예외 없이 성립한다. 41번은 FeS 결합 Cys 모티프의 3번째 잔기다.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446520" y="4069080"/>
            <a:ext cx="5120640" cy="1481328"/>
          </a:xfrm>
          <a:prstGeom prst="roundRect">
            <a:avLst>
              <a:gd name="adj" fmla="val 3704"/>
            </a:avLst>
          </a:prstGeom>
          <a:solidFill>
            <a:srgbClr val="EEF0FA"/>
          </a:solidFill>
          <a:ln w="12700">
            <a:solidFill>
              <a:srgbClr val="D6DAE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473952" y="4279392"/>
            <a:ext cx="530352" cy="402336"/>
          </a:xfrm>
          <a:prstGeom prst="roundRect">
            <a:avLst>
              <a:gd name="adj" fmla="val 11364"/>
            </a:avLst>
          </a:prstGeom>
          <a:solidFill>
            <a:srgbClr val="16183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528816" y="4279392"/>
            <a:ext cx="420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C39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7040880" y="4279392"/>
            <a:ext cx="530352" cy="402336"/>
          </a:xfrm>
          <a:prstGeom prst="roundRect">
            <a:avLst>
              <a:gd name="adj" fmla="val 11364"/>
            </a:avLst>
          </a:prstGeom>
          <a:solidFill>
            <a:srgbClr val="F7F8FC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095744" y="4279392"/>
            <a:ext cx="420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2F35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G40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7022592" y="4718304"/>
            <a:ext cx="566928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5C61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변이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7607808" y="4279392"/>
            <a:ext cx="530352" cy="402336"/>
          </a:xfrm>
          <a:prstGeom prst="roundRect">
            <a:avLst>
              <a:gd name="adj" fmla="val 11364"/>
            </a:avLst>
          </a:prstGeom>
          <a:solidFill>
            <a:srgbClr val="C0692B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662672" y="4279392"/>
            <a:ext cx="420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F41</a:t>
            </a:r>
            <a:endParaRPr 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7589520" y="4718304"/>
            <a:ext cx="566928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5C61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중심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8174736" y="4279392"/>
            <a:ext cx="530352" cy="402336"/>
          </a:xfrm>
          <a:prstGeom prst="roundRect">
            <a:avLst>
              <a:gd name="adj" fmla="val 11364"/>
            </a:avLst>
          </a:prstGeom>
          <a:solidFill>
            <a:srgbClr val="F7F8FC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8229600" y="4279392"/>
            <a:ext cx="420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2F35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G42</a:t>
            </a:r>
            <a:endParaRPr lang="en-US" sz="1050" dirty="0"/>
          </a:p>
        </p:txBody>
      </p:sp>
      <p:sp>
        <p:nvSpPr>
          <p:cNvPr id="22" name="Text 19"/>
          <p:cNvSpPr txBox="1"/>
          <p:nvPr/>
        </p:nvSpPr>
        <p:spPr>
          <a:xfrm>
            <a:off x="8156448" y="4718304"/>
            <a:ext cx="566928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5C61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변이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8741664" y="4279392"/>
            <a:ext cx="530352" cy="402336"/>
          </a:xfrm>
          <a:prstGeom prst="roundRect">
            <a:avLst>
              <a:gd name="adj" fmla="val 11364"/>
            </a:avLst>
          </a:prstGeom>
          <a:solidFill>
            <a:srgbClr val="F7F8FC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8796528" y="4279392"/>
            <a:ext cx="420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2F35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E43</a:t>
            </a:r>
            <a:endParaRPr lang="en-US" sz="1050" dirty="0"/>
          </a:p>
        </p:txBody>
      </p:sp>
      <p:sp>
        <p:nvSpPr>
          <p:cNvPr id="25" name="Text 22"/>
          <p:cNvSpPr txBox="1"/>
          <p:nvPr/>
        </p:nvSpPr>
        <p:spPr>
          <a:xfrm>
            <a:off x="8723376" y="4718304"/>
            <a:ext cx="566928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5C61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변이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9308592" y="4279392"/>
            <a:ext cx="530352" cy="402336"/>
          </a:xfrm>
          <a:prstGeom prst="roundRect">
            <a:avLst>
              <a:gd name="adj" fmla="val 11364"/>
            </a:avLst>
          </a:prstGeom>
          <a:solidFill>
            <a:srgbClr val="F7F8FC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9363456" y="4279392"/>
            <a:ext cx="420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2F35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T44</a:t>
            </a:r>
            <a:endParaRPr lang="en-US" sz="1050" dirty="0"/>
          </a:p>
        </p:txBody>
      </p:sp>
      <p:sp>
        <p:nvSpPr>
          <p:cNvPr id="28" name="Text 25"/>
          <p:cNvSpPr txBox="1"/>
          <p:nvPr/>
        </p:nvSpPr>
        <p:spPr>
          <a:xfrm>
            <a:off x="9290304" y="4718304"/>
            <a:ext cx="566928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5C61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변이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9875520" y="4279392"/>
            <a:ext cx="530352" cy="402336"/>
          </a:xfrm>
          <a:prstGeom prst="roundRect">
            <a:avLst>
              <a:gd name="adj" fmla="val 11364"/>
            </a:avLst>
          </a:prstGeom>
          <a:solidFill>
            <a:srgbClr val="F7F8FC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9930384" y="4279392"/>
            <a:ext cx="420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5C61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x45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10442448" y="4279392"/>
            <a:ext cx="530352" cy="402336"/>
          </a:xfrm>
          <a:prstGeom prst="roundRect">
            <a:avLst>
              <a:gd name="adj" fmla="val 11364"/>
            </a:avLst>
          </a:prstGeom>
          <a:solidFill>
            <a:srgbClr val="F7F8FC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10497312" y="4279392"/>
            <a:ext cx="420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2F35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L46</a:t>
            </a:r>
            <a:endParaRPr lang="en-US" sz="1050" dirty="0"/>
          </a:p>
        </p:txBody>
      </p:sp>
      <p:sp>
        <p:nvSpPr>
          <p:cNvPr id="33" name="Text 30"/>
          <p:cNvSpPr txBox="1"/>
          <p:nvPr/>
        </p:nvSpPr>
        <p:spPr>
          <a:xfrm>
            <a:off x="10424160" y="4718304"/>
            <a:ext cx="566928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5C61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변이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11009376" y="4279392"/>
            <a:ext cx="530352" cy="402336"/>
          </a:xfrm>
          <a:prstGeom prst="roundRect">
            <a:avLst>
              <a:gd name="adj" fmla="val 11364"/>
            </a:avLst>
          </a:prstGeom>
          <a:solidFill>
            <a:srgbClr val="16183A"/>
          </a:solidFill>
          <a:ln/>
        </p:spPr>
      </p:sp>
      <p:sp>
        <p:nvSpPr>
          <p:cNvPr id="35" name="Text 32"/>
          <p:cNvSpPr txBox="1"/>
          <p:nvPr/>
        </p:nvSpPr>
        <p:spPr>
          <a:xfrm>
            <a:off x="11064240" y="4279392"/>
            <a:ext cx="420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C47</a:t>
            </a:r>
            <a:endParaRPr lang="en-US" sz="1050" dirty="0"/>
          </a:p>
        </p:txBody>
      </p:sp>
      <p:sp>
        <p:nvSpPr>
          <p:cNvPr id="36" name="Text 33"/>
          <p:cNvSpPr txBox="1"/>
          <p:nvPr/>
        </p:nvSpPr>
        <p:spPr>
          <a:xfrm>
            <a:off x="6675120" y="5102352"/>
            <a:ext cx="466344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5C61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변이 40 · 42 · 43 · 44 · 46 은 이 모티프의 비-Cys 자리다</a:t>
            </a:r>
            <a:endParaRPr lang="en-US" sz="1050" dirty="0"/>
          </a:p>
        </p:txBody>
      </p:sp>
      <p:sp>
        <p:nvSpPr>
          <p:cNvPr id="37" name="Text 34"/>
          <p:cNvSpPr txBox="1"/>
          <p:nvPr/>
        </p:nvSpPr>
        <p:spPr>
          <a:xfrm>
            <a:off x="6446520" y="5669280"/>
            <a:ext cx="512064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1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Cys 쌍 중점은 두 계통의 Cys 간격이 달라(8칸 vs 3칸) 기하가 어긋나므로 사용 금지.</a:t>
            </a:r>
            <a:endParaRPr lang="en-US" sz="1050" dirty="0"/>
          </a:p>
        </p:txBody>
      </p:sp>
      <p:sp>
        <p:nvSpPr>
          <p:cNvPr id="39" name="Text 35"/>
          <p:cNvSpPr txBox="1"/>
          <p:nvPr/>
        </p:nvSpPr>
        <p:spPr>
          <a:xfrm>
            <a:off x="11018520" y="638251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1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65760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C06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 ②  검증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21792"/>
            <a:ext cx="10972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1C1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전환해도 결과는 같다 — 중심 4.661 Å 이동, 순위 보존</a:t>
            </a:r>
            <a:endParaRPr lang="en-US" sz="27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783080"/>
          <a:ext cx="59436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463040"/>
                <a:gridCol w="1280160"/>
                <a:gridCol w="16459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5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ρ (CE2 대비)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5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ρ 위치내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5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ρ (실측 Km)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59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1E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med_ds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E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0.968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E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0.928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F359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0.856 → 0.889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1E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med_lig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E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0.971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E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0.929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E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0.903 → 0.896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1E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best_ds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E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0.978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E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0.956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E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0.876 → 0.884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1E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best_lig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E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0.970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E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0.954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E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0.882 → 0.892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94360" y="3730752"/>
            <a:ext cx="59436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5C61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288개 재도킹 · 반변 15 고정, 중심만 교체 · 기준선 = CE2 + 반변 15</a:t>
            </a:r>
            <a:endParaRPr lang="en-US" sz="1050" dirty="0"/>
          </a:p>
        </p:txBody>
      </p:sp>
      <p:sp>
        <p:nvSpPr>
          <p:cNvPr id="6" name="Text 3"/>
          <p:cNvSpPr txBox="1"/>
          <p:nvPr/>
        </p:nvSpPr>
        <p:spPr>
          <a:xfrm>
            <a:off x="594360" y="4160520"/>
            <a:ext cx="59436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F35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4.661 Å 를 옮겨도 안 바뀌는가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4498848"/>
            <a:ext cx="5943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1C1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박스가 76.8% 겹친다. </a:t>
            </a:r>
            <a:pPr indent="0" marL="0">
              <a:lnSpc>
                <a:spcPct val="118000"/>
              </a:lnSpc>
              <a:spcAft>
                <a:spcPts val="900"/>
              </a:spcAft>
              <a:buNone/>
            </a:pPr>
            <a:r>
              <a:rPr lang="en-US" sz="1200" dirty="0">
                <a:solidFill>
                  <a:srgbClr val="1C1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축별 겹침 0.920 × 0.875 × 0.954.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1C1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자리에 도킹한다. </a:t>
            </a:r>
            <a:pPr indent="0" marL="0">
              <a:lnSpc>
                <a:spcPct val="118000"/>
              </a:lnSpc>
              <a:spcAft>
                <a:spcPts val="900"/>
              </a:spcAft>
              <a:buNone/>
            </a:pPr>
            <a:r>
              <a:rPr lang="en-US" sz="1200" dirty="0">
                <a:solidFill>
                  <a:srgbClr val="1C1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1·2위 군집 좌표 차이가 2.86 / 2.83 Å — 격자 해상도 이내, 동일한 물리적 자리다.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1C1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남는 차이는 격자 이산화뿐. </a:t>
            </a:r>
            <a:pPr indent="0" marL="0">
              <a:lnSpc>
                <a:spcPct val="118000"/>
              </a:lnSpc>
              <a:spcAft>
                <a:spcPts val="900"/>
              </a:spcAft>
              <a:buNone/>
            </a:pPr>
            <a:r>
              <a:rPr lang="en-US" sz="1200" dirty="0">
                <a:solidFill>
                  <a:srgbClr val="1C1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평균차 +0.01~0.02 로 편향이 없고 개별 값만 흔들린다.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903720" y="1783080"/>
            <a:ext cx="4663440" cy="1965960"/>
          </a:xfrm>
          <a:prstGeom prst="roundRect">
            <a:avLst>
              <a:gd name="adj" fmla="val 2791"/>
            </a:avLst>
          </a:prstGeom>
          <a:solidFill>
            <a:srgbClr val="F7F8FC"/>
          </a:solidFill>
          <a:ln w="12700">
            <a:solidFill>
              <a:srgbClr val="D6DAEE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178040" y="1965960"/>
            <a:ext cx="41148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5C61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 가능 서열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7132320" y="2331720"/>
            <a:ext cx="1783080" cy="66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5C61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1,613</a:t>
            </a:r>
            <a:endParaRPr lang="en-US" sz="3400" dirty="0"/>
          </a:p>
        </p:txBody>
      </p:sp>
      <p:sp>
        <p:nvSpPr>
          <p:cNvPr id="11" name="Text 8"/>
          <p:cNvSpPr txBox="1"/>
          <p:nvPr/>
        </p:nvSpPr>
        <p:spPr>
          <a:xfrm>
            <a:off x="7132320" y="2937967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C61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CE2 기준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8961120" y="2404872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06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9372600" y="2331720"/>
            <a:ext cx="1783080" cy="66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F35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1,750</a:t>
            </a:r>
            <a:endParaRPr lang="en-US" sz="3400" dirty="0"/>
          </a:p>
        </p:txBody>
      </p:sp>
      <p:sp>
        <p:nvSpPr>
          <p:cNvPr id="14" name="Text 11"/>
          <p:cNvSpPr txBox="1"/>
          <p:nvPr/>
        </p:nvSpPr>
        <p:spPr>
          <a:xfrm>
            <a:off x="9372600" y="2937967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C61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41번 CA 기준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903720" y="3931920"/>
            <a:ext cx="4663440" cy="1143000"/>
          </a:xfrm>
          <a:prstGeom prst="roundRect">
            <a:avLst>
              <a:gd name="adj" fmla="val 4800"/>
            </a:avLst>
          </a:prstGeom>
          <a:solidFill>
            <a:srgbClr val="FBEEE2"/>
          </a:solidFill>
          <a:ln w="12700">
            <a:solidFill>
              <a:srgbClr val="E8C9A8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178040" y="4133088"/>
            <a:ext cx="41148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C06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med_ds 는 오히려 상승했다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7178040" y="4462272"/>
            <a:ext cx="41148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C1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0.856 → 0.889.  med_lig 는 0.903 → 0.896 으로 동등.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6903720" y="5230368"/>
            <a:ext cx="4663440" cy="822960"/>
          </a:xfrm>
          <a:prstGeom prst="roundRect">
            <a:avLst>
              <a:gd name="adj" fmla="val 6667"/>
            </a:avLst>
          </a:prstGeom>
          <a:solidFill>
            <a:srgbClr val="EEF0FA"/>
          </a:solidFill>
          <a:ln w="12700">
            <a:solidFill>
              <a:srgbClr val="D6DAEE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178040" y="5431536"/>
            <a:ext cx="41148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F35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 — 커버리지는 늘고 성능 손실은 없다.</a:t>
            </a:r>
            <a:endParaRPr lang="en-US" sz="1250" dirty="0"/>
          </a:p>
        </p:txBody>
      </p:sp>
      <p:sp>
        <p:nvSpPr>
          <p:cNvPr id="21" name="Text 17"/>
          <p:cNvSpPr txBox="1"/>
          <p:nvPr/>
        </p:nvSpPr>
        <p:spPr>
          <a:xfrm>
            <a:off x="11018520" y="638251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1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65760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C06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 ②  박스 크기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21792"/>
            <a:ext cx="10972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1C1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반변 15 Å 은 변경 불가 — 키우면 리간드가 홈을 따라 이탈한다</a:t>
            </a:r>
            <a:endParaRPr lang="en-US" sz="27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783080"/>
          <a:ext cx="566928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1463040"/>
                <a:gridCol w="1463040"/>
                <a:gridCol w="1325880"/>
              </a:tblGrid>
              <a:tr h="3337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반변 (Å)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5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 Å 내 포즈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5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변이체별 최소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5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ρ 위치내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596"/>
                    </a:solidFill>
                  </a:tcPr>
                </a:tc>
              </a:tr>
              <a:tr h="3337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C1E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15.000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F359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0.999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F359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0.82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F359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0.928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37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1E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16.125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E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0.301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69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0.00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E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0.833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37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1E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17.250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E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0.176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E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0.00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E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0.781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37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1E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18.000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E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0.168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E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0.00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E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0.779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37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1E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20.250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E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0.136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E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0.00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E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0.774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94360" y="4114800"/>
            <a:ext cx="5669280" cy="914400"/>
          </a:xfrm>
          <a:prstGeom prst="roundRect">
            <a:avLst>
              <a:gd name="adj" fmla="val 6000"/>
            </a:avLst>
          </a:prstGeom>
          <a:solidFill>
            <a:srgbClr val="FBEEE2"/>
          </a:solidFill>
          <a:ln w="12700">
            <a:solidFill>
              <a:srgbClr val="E8C9A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50392" y="4261104"/>
            <a:ext cx="512064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C06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r16 에서 이미 변이체별 최소가 0.00 이다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50392" y="4599432"/>
            <a:ext cx="512064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C1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50개 포즈가 전부 15 Å 밖으로 나가는 변이체가 존재한다 — 비균질 편향.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5212080"/>
            <a:ext cx="5669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1C1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절벽이 아니라 15.0 – 17.25 에 걸친 하강 후 평탄. </a:t>
            </a:r>
            <a:pPr indent="0" marL="0">
              <a:lnSpc>
                <a:spcPct val="118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1C1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하강의 60% 가 첫 1.1 Å 에서 일어난다.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2F35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반변 15 는 홈을 입구에서 끊는 크기다. </a:t>
            </a:r>
            <a:pPr indent="0" marL="0">
              <a:lnSpc>
                <a:spcPct val="118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2F35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구간이 변이 잔기 영역과 겹쳐서 신호가 나온다.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720840" y="1783080"/>
            <a:ext cx="4846320" cy="4023360"/>
          </a:xfrm>
          <a:prstGeom prst="roundRect">
            <a:avLst>
              <a:gd name="adj" fmla="val 1364"/>
            </a:avLst>
          </a:prstGeom>
          <a:solidFill>
            <a:srgbClr val="F7F8FC"/>
          </a:solidFill>
          <a:ln w="12700">
            <a:solidFill>
              <a:srgbClr val="D6DAE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995160" y="1965960"/>
            <a:ext cx="429768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F35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군집 중심이 같은 홈을 따라 밀려난다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6995160" y="2286000"/>
            <a:ext cx="429768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1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방향 (1, 0, 1)/√2 — y 는 3 에 고정된 채 x · z 만 늘어난다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7223760" y="3154680"/>
            <a:ext cx="1234440" cy="1554480"/>
          </a:xfrm>
          <a:prstGeom prst="rect">
            <a:avLst/>
          </a:prstGeom>
          <a:solidFill>
            <a:srgbClr val="E2E6F6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223760" y="2907792"/>
            <a:ext cx="123444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F35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변이 잔기 영역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7223760" y="3931920"/>
            <a:ext cx="3840480" cy="0"/>
          </a:xfrm>
          <a:prstGeom prst="line">
            <a:avLst/>
          </a:prstGeom>
          <a:noFill/>
          <a:ln w="15875">
            <a:solidFill>
              <a:srgbClr val="5C618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458200" y="3063240"/>
            <a:ext cx="0" cy="1737360"/>
          </a:xfrm>
          <a:prstGeom prst="line">
            <a:avLst/>
          </a:prstGeom>
          <a:noFill/>
          <a:ln w="19050">
            <a:solidFill>
              <a:srgbClr val="C0692B"/>
            </a:solidFill>
            <a:prstDash val="dash"/>
          </a:ln>
        </p:spPr>
      </p:sp>
      <p:sp>
        <p:nvSpPr>
          <p:cNvPr id="16" name="Text 13"/>
          <p:cNvSpPr txBox="1"/>
          <p:nvPr/>
        </p:nvSpPr>
        <p:spPr>
          <a:xfrm>
            <a:off x="8092440" y="4846320"/>
            <a:ext cx="146304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C06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반변 15 경계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7388352" y="3840480"/>
            <a:ext cx="182880" cy="182880"/>
          </a:xfrm>
          <a:prstGeom prst="ellipse">
            <a:avLst/>
          </a:prstGeom>
          <a:solidFill>
            <a:srgbClr val="2F3596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068312" y="3456432"/>
            <a:ext cx="82296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F35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[3,3,6]</a:t>
            </a:r>
            <a:endParaRPr lang="en-US" sz="950" dirty="0"/>
          </a:p>
        </p:txBody>
      </p:sp>
      <p:sp>
        <p:nvSpPr>
          <p:cNvPr id="19" name="Text 16"/>
          <p:cNvSpPr txBox="1"/>
          <p:nvPr/>
        </p:nvSpPr>
        <p:spPr>
          <a:xfrm>
            <a:off x="7068312" y="4078224"/>
            <a:ext cx="82296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C61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r15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8065008" y="3840480"/>
            <a:ext cx="182880" cy="182880"/>
          </a:xfrm>
          <a:prstGeom prst="ellipse">
            <a:avLst/>
          </a:prstGeom>
          <a:solidFill>
            <a:srgbClr val="2F3596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7744968" y="3456432"/>
            <a:ext cx="82296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F35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[6,3,6]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7744968" y="4078224"/>
            <a:ext cx="82296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C61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r15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9464040" y="3840480"/>
            <a:ext cx="182880" cy="182880"/>
          </a:xfrm>
          <a:prstGeom prst="ellipse">
            <a:avLst/>
          </a:prstGeom>
          <a:solidFill>
            <a:srgbClr val="C0692B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9144000" y="3456432"/>
            <a:ext cx="82296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C06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[12,3,12]</a:t>
            </a:r>
            <a:endParaRPr lang="en-US" sz="950" dirty="0"/>
          </a:p>
        </p:txBody>
      </p:sp>
      <p:sp>
        <p:nvSpPr>
          <p:cNvPr id="25" name="Text 22"/>
          <p:cNvSpPr txBox="1"/>
          <p:nvPr/>
        </p:nvSpPr>
        <p:spPr>
          <a:xfrm>
            <a:off x="9144000" y="4078224"/>
            <a:ext cx="82296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C61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r16–18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10561320" y="3840480"/>
            <a:ext cx="182880" cy="182880"/>
          </a:xfrm>
          <a:prstGeom prst="ellipse">
            <a:avLst/>
          </a:prstGeom>
          <a:solidFill>
            <a:srgbClr val="C0692B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10241280" y="3456432"/>
            <a:ext cx="82296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C06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[15,3,15]</a:t>
            </a:r>
            <a:endParaRPr lang="en-US" sz="950" dirty="0"/>
          </a:p>
        </p:txBody>
      </p:sp>
      <p:sp>
        <p:nvSpPr>
          <p:cNvPr id="28" name="Text 25"/>
          <p:cNvSpPr txBox="1"/>
          <p:nvPr/>
        </p:nvSpPr>
        <p:spPr>
          <a:xfrm>
            <a:off x="10241280" y="4078224"/>
            <a:ext cx="82296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C61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r20–22</a:t>
            </a:r>
            <a:endParaRPr lang="en-US" sz="900" dirty="0"/>
          </a:p>
        </p:txBody>
      </p:sp>
      <p:sp>
        <p:nvSpPr>
          <p:cNvPr id="29" name="Text 26"/>
          <p:cNvSpPr txBox="1"/>
          <p:nvPr/>
        </p:nvSpPr>
        <p:spPr>
          <a:xfrm>
            <a:off x="6995160" y="5138928"/>
            <a:ext cx="429768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C1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리간드가 변이 잔기를 지나쳐 홈 안쪽으로 들어가면, 우리가 재려는 것과 다른 것을 재게 된다.</a:t>
            </a:r>
            <a:endParaRPr lang="en-US" sz="1100" dirty="0"/>
          </a:p>
        </p:txBody>
      </p:sp>
      <p:sp>
        <p:nvSpPr>
          <p:cNvPr id="31" name="Text 27"/>
          <p:cNvSpPr txBox="1"/>
          <p:nvPr/>
        </p:nvSpPr>
        <p:spPr>
          <a:xfrm>
            <a:off x="11018520" y="638251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1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65760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C06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 ③  데이터셋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21792"/>
            <a:ext cx="10972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1C1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평가셋은 라벨을 보기 전에 고정했다 — 네 가지 원칙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810512"/>
            <a:ext cx="420624" cy="420624"/>
          </a:xfrm>
          <a:prstGeom prst="ellipse">
            <a:avLst/>
          </a:prstGeom>
          <a:solidFill>
            <a:srgbClr val="2F359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8105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737360"/>
            <a:ext cx="1024128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C1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클러스터링을 게이트보다 먼저 한다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066544"/>
            <a:ext cx="1024128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5C61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서열 분할은 단백질 족의 성질이지 우리 파이프라인의 성질이 아니다. 기술적 제약을 먼저 걸면 클러스터 경계가 그 제약에 따라 달라져 재현되지 않는다.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2843784"/>
            <a:ext cx="420624" cy="420624"/>
          </a:xfrm>
          <a:prstGeom prst="ellipse">
            <a:avLst/>
          </a:prstGeom>
          <a:solidFill>
            <a:srgbClr val="2F359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8437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770632"/>
            <a:ext cx="1024128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C1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클러스터당 대표 1개 (CAP = 1)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099816"/>
            <a:ext cx="1024128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5C61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클러스터의 서열은 70% 이상 닮아 라벨이 거의 같다. 여럿 넣으면 그 계통이 손실함수에서 표를 더 행사할 뿐 새 정보가 없다.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3877056"/>
            <a:ext cx="420624" cy="420624"/>
          </a:xfrm>
          <a:prstGeom prst="ellipse">
            <a:avLst/>
          </a:prstGeom>
          <a:solidFill>
            <a:srgbClr val="6A72C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8770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3803904"/>
            <a:ext cx="1024128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C1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분할 단위는 클러스터, 서열이 아니다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4133088"/>
            <a:ext cx="1024128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5C61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클러스터 멤버가 학습과 평가로 갈리면 외운 것을 다시 맞히는 평가가 된다. 대표가 1개이므로 이 누수는 구조적으로 발생할 수 없다.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4910328"/>
            <a:ext cx="420624" cy="420624"/>
          </a:xfrm>
          <a:prstGeom prst="ellipse">
            <a:avLst/>
          </a:prstGeom>
          <a:solidFill>
            <a:srgbClr val="6A72C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49103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4837176"/>
            <a:ext cx="1024128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C1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라벨을 보기 전에 분할을 확정한다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5166360"/>
            <a:ext cx="1024128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5C61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도킹 점수를 본 뒤 나누면 어떤 결과가 나와도 정당화할 수 있다. 212개와 학습·평가 배정은 도킹 시작 전에 고정되었다.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94360" y="5715000"/>
            <a:ext cx="10972800" cy="566928"/>
          </a:xfrm>
          <a:prstGeom prst="roundRect">
            <a:avLst>
              <a:gd name="adj" fmla="val 9677"/>
            </a:avLst>
          </a:prstGeom>
          <a:solidFill>
            <a:srgbClr val="FBEEE2"/>
          </a:solidFill>
          <a:ln w="12700">
            <a:solidFill>
              <a:srgbClr val="E8C9A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68680" y="5861304"/>
            <a:ext cx="1042416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C06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학습셋으로 평가하면 성능이 과대평가된다 — 이 네 가지가 그에 대한 답이다.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11018520" y="638251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1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65760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C06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 ③  선정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21792"/>
            <a:ext cx="10972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1C1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1,827 에서 212 까지 — 게이트는 대표를 고를 때만 적용한다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822960" y="1755648"/>
            <a:ext cx="6309360" cy="676656"/>
          </a:xfrm>
          <a:prstGeom prst="roundRect">
            <a:avLst>
              <a:gd name="adj" fmla="val 8108"/>
            </a:avLst>
          </a:prstGeom>
          <a:solidFill>
            <a:srgbClr val="EEF0FA"/>
          </a:solidFill>
          <a:ln w="12700">
            <a:solidFill>
              <a:srgbClr val="D6DA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1837944"/>
            <a:ext cx="59436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1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IPR010047 전체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084832"/>
            <a:ext cx="59436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F35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1,827 서열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886200" y="2450592"/>
            <a:ext cx="182880" cy="137160"/>
          </a:xfrm>
          <a:prstGeom prst="downArrow">
            <a:avLst/>
          </a:prstGeom>
          <a:solidFill>
            <a:srgbClr val="6A72CE"/>
          </a:solidFill>
          <a:ln/>
        </p:spPr>
      </p:sp>
      <p:sp>
        <p:nvSpPr>
          <p:cNvPr id="8" name="Shape 6"/>
          <p:cNvSpPr/>
          <p:nvPr/>
        </p:nvSpPr>
        <p:spPr>
          <a:xfrm>
            <a:off x="1280160" y="2596896"/>
            <a:ext cx="5394960" cy="676656"/>
          </a:xfrm>
          <a:prstGeom prst="roundRect">
            <a:avLst>
              <a:gd name="adj" fmla="val 8108"/>
            </a:avLst>
          </a:prstGeom>
          <a:solidFill>
            <a:srgbClr val="EEF0FA"/>
          </a:solidFill>
          <a:ln w="12700">
            <a:solidFill>
              <a:srgbClr val="D6DAE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463040" y="2679192"/>
            <a:ext cx="50292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1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mmseqs 클러스터링  --min-seq-id 0.70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1463040" y="2926080"/>
            <a:ext cx="50292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F35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219 클러스터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886200" y="3291840"/>
            <a:ext cx="182880" cy="137160"/>
          </a:xfrm>
          <a:prstGeom prst="downArrow">
            <a:avLst/>
          </a:prstGeom>
          <a:solidFill>
            <a:srgbClr val="6A72CE"/>
          </a:solidFill>
          <a:ln/>
        </p:spPr>
      </p:sp>
      <p:sp>
        <p:nvSpPr>
          <p:cNvPr id="12" name="Shape 10"/>
          <p:cNvSpPr/>
          <p:nvPr/>
        </p:nvSpPr>
        <p:spPr>
          <a:xfrm>
            <a:off x="1737360" y="3438144"/>
            <a:ext cx="4480560" cy="676656"/>
          </a:xfrm>
          <a:prstGeom prst="roundRect">
            <a:avLst>
              <a:gd name="adj" fmla="val 8108"/>
            </a:avLst>
          </a:prstGeom>
          <a:solidFill>
            <a:srgbClr val="EEF0FA"/>
          </a:solidFill>
          <a:ln w="12700">
            <a:solidFill>
              <a:srgbClr val="D6DAE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920240" y="3520440"/>
            <a:ext cx="41148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1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도킹 가능성 게이트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1920240" y="3767328"/>
            <a:ext cx="41148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6A72C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1,722 서열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886200" y="4133088"/>
            <a:ext cx="182880" cy="137160"/>
          </a:xfrm>
          <a:prstGeom prst="downArrow">
            <a:avLst/>
          </a:prstGeom>
          <a:solidFill>
            <a:srgbClr val="6A72CE"/>
          </a:solidFill>
          <a:ln/>
        </p:spPr>
      </p:sp>
      <p:sp>
        <p:nvSpPr>
          <p:cNvPr id="16" name="Shape 14"/>
          <p:cNvSpPr/>
          <p:nvPr/>
        </p:nvSpPr>
        <p:spPr>
          <a:xfrm>
            <a:off x="2194560" y="4279392"/>
            <a:ext cx="3566160" cy="676656"/>
          </a:xfrm>
          <a:prstGeom prst="roundRect">
            <a:avLst>
              <a:gd name="adj" fmla="val 8108"/>
            </a:avLst>
          </a:prstGeom>
          <a:solidFill>
            <a:srgbClr val="EEF0FA"/>
          </a:solidFill>
          <a:ln w="12700">
            <a:solidFill>
              <a:srgbClr val="D6DAE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377440" y="4361688"/>
            <a:ext cx="3200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1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클러스터당 medoid 1개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2377440" y="4608576"/>
            <a:ext cx="3200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6A72C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212 대표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886200" y="4974336"/>
            <a:ext cx="182880" cy="137160"/>
          </a:xfrm>
          <a:prstGeom prst="downArrow">
            <a:avLst/>
          </a:prstGeom>
          <a:solidFill>
            <a:srgbClr val="6A72CE"/>
          </a:solidFill>
          <a:ln/>
        </p:spPr>
      </p:sp>
      <p:sp>
        <p:nvSpPr>
          <p:cNvPr id="20" name="Shape 18"/>
          <p:cNvSpPr/>
          <p:nvPr/>
        </p:nvSpPr>
        <p:spPr>
          <a:xfrm>
            <a:off x="2606040" y="5120640"/>
            <a:ext cx="2743200" cy="676656"/>
          </a:xfrm>
          <a:prstGeom prst="roundRect">
            <a:avLst>
              <a:gd name="adj" fmla="val 8108"/>
            </a:avLst>
          </a:prstGeom>
          <a:solidFill>
            <a:srgbClr val="FBEEE2"/>
          </a:solidFill>
          <a:ln w="12700">
            <a:solidFill>
              <a:srgbClr val="E8C9A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788920" y="5202936"/>
            <a:ext cx="237744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1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구간 층화 25% 분할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2788920" y="5449824"/>
            <a:ext cx="237744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C06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157 / 평가 55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635240" y="1755648"/>
            <a:ext cx="393192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C1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게이트에서 탈락한 것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35240" y="2103120"/>
          <a:ext cx="393192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005840"/>
                <a:gridCol w="100584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5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5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클러스터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59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C1E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41번 등가 잔기 부재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C1E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C1E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C1E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품질 필터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C1E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25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C1E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C1E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합계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C1E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105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C1E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Text 22"/>
          <p:cNvSpPr txBox="1"/>
          <p:nvPr/>
        </p:nvSpPr>
        <p:spPr>
          <a:xfrm>
            <a:off x="7635240" y="3703320"/>
            <a:ext cx="3931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b="1" dirty="0">
                <a:solidFill>
                  <a:srgbClr val="1C1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41번 부재는 생물학적 사실이다. </a:t>
            </a:r>
            <a:pPr indent="0" marL="0">
              <a:lnSpc>
                <a:spcPct val="118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1C1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족의 4.4% 는 해당 자리가 아예 없어 결합 부위를 정의할 수 없다.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b="1" dirty="0">
                <a:solidFill>
                  <a:srgbClr val="1C1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AFDB 등재 여부는 게이트가 아니다. </a:t>
            </a:r>
            <a:pPr indent="0" marL="0">
              <a:lnSpc>
                <a:spcPct val="118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1C1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단백질의 성질이 아니라 데이터베이스의 수록 상태다. 예측 필요분 23개가 전부 A0AB* / A0AC* 였다 — 게이트로 썼다면 최근 등록된 환경·메타게놈 계통을 통째로 잃었다.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7635240" y="5230368"/>
            <a:ext cx="3931920" cy="987552"/>
          </a:xfrm>
          <a:prstGeom prst="roundRect">
            <a:avLst>
              <a:gd name="adj" fmla="val 5556"/>
            </a:avLst>
          </a:prstGeom>
          <a:solidFill>
            <a:srgbClr val="EEF0FA"/>
          </a:solidFill>
          <a:ln w="12700">
            <a:solidFill>
              <a:srgbClr val="D6DAEE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872984" y="5394960"/>
            <a:ext cx="3456432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2F35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멤버 13개가 전원 41번 결실인 클러스터가 하나 있다 — F41 자리를 잃은 분류군일 가능성이 있어 별도 확인 대상.</a:t>
            </a:r>
            <a:endParaRPr lang="en-US" sz="1050" dirty="0"/>
          </a:p>
        </p:txBody>
      </p:sp>
      <p:sp>
        <p:nvSpPr>
          <p:cNvPr id="29" name="Text 25"/>
          <p:cNvSpPr txBox="1"/>
          <p:nvPr/>
        </p:nvSpPr>
        <p:spPr>
          <a:xfrm>
            <a:off x="11018520" y="638251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1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65760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C06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 ③  구간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21792"/>
            <a:ext cx="10972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1C1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구간 경계는 데이터에 맞췄다 — 의도는 그대로 유지했다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94360" y="1783080"/>
            <a:ext cx="5577840" cy="1691640"/>
          </a:xfrm>
          <a:prstGeom prst="roundRect">
            <a:avLst>
              <a:gd name="adj" fmla="val 3243"/>
            </a:avLst>
          </a:prstGeom>
          <a:solidFill>
            <a:srgbClr val="F7F8FC"/>
          </a:solidFill>
          <a:ln w="12700">
            <a:solidFill>
              <a:srgbClr val="D6DA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947672"/>
            <a:ext cx="50292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5C61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ChCODH2 대비 identity 분포  (212 클러스터)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331720"/>
            <a:ext cx="1261872" cy="4293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F35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0.285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706167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5C61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최소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2093976" y="2331720"/>
            <a:ext cx="1261872" cy="4293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F35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0.419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2093976" y="2706167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5C61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중앙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3410712" y="2331720"/>
            <a:ext cx="1261872" cy="4293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F35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0.550</a:t>
            </a:r>
            <a:endParaRPr lang="en-US" sz="2100" dirty="0"/>
          </a:p>
        </p:txBody>
      </p:sp>
      <p:sp>
        <p:nvSpPr>
          <p:cNvPr id="11" name="Text 9"/>
          <p:cNvSpPr txBox="1"/>
          <p:nvPr/>
        </p:nvSpPr>
        <p:spPr>
          <a:xfrm>
            <a:off x="3410712" y="2706167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5C61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95백분위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4727448" y="2331720"/>
            <a:ext cx="1261872" cy="4293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F35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0.748</a:t>
            </a:r>
            <a:endParaRPr lang="en-US" sz="2100" dirty="0"/>
          </a:p>
        </p:txBody>
      </p:sp>
      <p:sp>
        <p:nvSpPr>
          <p:cNvPr id="13" name="Text 11"/>
          <p:cNvSpPr txBox="1"/>
          <p:nvPr/>
        </p:nvSpPr>
        <p:spPr>
          <a:xfrm>
            <a:off x="4727448" y="2706167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5C61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최대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94360" y="3657600"/>
            <a:ext cx="5577840" cy="1234440"/>
          </a:xfrm>
          <a:prstGeom prst="roundRect">
            <a:avLst>
              <a:gd name="adj" fmla="val 4444"/>
            </a:avLst>
          </a:prstGeom>
          <a:solidFill>
            <a:srgbClr val="FBEEE2"/>
          </a:solidFill>
          <a:ln w="12700">
            <a:solidFill>
              <a:srgbClr val="E8C9A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68680" y="3858768"/>
            <a:ext cx="50292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C06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90% 를 넘는 서열은 3~4개뿐이고, 62.5 – 72.5% 구간은 완전히 비어 있다.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68680" y="4462272"/>
            <a:ext cx="50292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C1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족에는 ChCODH2 와 가까운 친척이 거의 없다.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594360" y="5074920"/>
            <a:ext cx="557784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C1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원안대로면 위 네 구간이 모두 한 자릿수가 되고 마지막 하나에 1,780개가 몰린다.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94360" y="5532120"/>
            <a:ext cx="557784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F35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유사도 순차 학습이라는 의도는 그대로 두고 경계만 데이터에 맞췄다.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720840" y="1783080"/>
            <a:ext cx="219456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5C61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원안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9372600" y="1783080"/>
            <a:ext cx="219456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F35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720840" y="2148840"/>
            <a:ext cx="2194560" cy="566928"/>
          </a:xfrm>
          <a:prstGeom prst="roundRect">
            <a:avLst>
              <a:gd name="adj" fmla="val 8065"/>
            </a:avLst>
          </a:prstGeom>
          <a:solidFill>
            <a:srgbClr val="E9EAE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775704" y="2148840"/>
            <a:ext cx="20848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5C61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90 – 100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988552" y="22951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A72C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9372600" y="2148840"/>
            <a:ext cx="2194560" cy="566928"/>
          </a:xfrm>
          <a:prstGeom prst="roundRect">
            <a:avLst>
              <a:gd name="adj" fmla="val 8065"/>
            </a:avLst>
          </a:prstGeom>
          <a:solidFill>
            <a:srgbClr val="EEF0F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427464" y="2148840"/>
            <a:ext cx="20848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2F35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≥ 60      6 대표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720840" y="2898648"/>
            <a:ext cx="2194560" cy="566928"/>
          </a:xfrm>
          <a:prstGeom prst="roundRect">
            <a:avLst>
              <a:gd name="adj" fmla="val 8065"/>
            </a:avLst>
          </a:prstGeom>
          <a:solidFill>
            <a:srgbClr val="E9EAEF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775704" y="2898648"/>
            <a:ext cx="20848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5C61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80 – 90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8988552" y="30449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A72C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9372600" y="2898648"/>
            <a:ext cx="2194560" cy="566928"/>
          </a:xfrm>
          <a:prstGeom prst="roundRect">
            <a:avLst>
              <a:gd name="adj" fmla="val 8065"/>
            </a:avLst>
          </a:prstGeom>
          <a:solidFill>
            <a:srgbClr val="EEF0FA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9427464" y="2898648"/>
            <a:ext cx="20848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2F35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 – 60      14 대표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720840" y="3648456"/>
            <a:ext cx="2194560" cy="566928"/>
          </a:xfrm>
          <a:prstGeom prst="roundRect">
            <a:avLst>
              <a:gd name="adj" fmla="val 8065"/>
            </a:avLst>
          </a:prstGeom>
          <a:solidFill>
            <a:srgbClr val="E9EAEF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775704" y="3648456"/>
            <a:ext cx="20848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5C61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70 – 80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8988552" y="3794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A72C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9372600" y="3648456"/>
            <a:ext cx="2194560" cy="566928"/>
          </a:xfrm>
          <a:prstGeom prst="roundRect">
            <a:avLst>
              <a:gd name="adj" fmla="val 8065"/>
            </a:avLst>
          </a:prstGeom>
          <a:solidFill>
            <a:srgbClr val="EEF0FA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9427464" y="3648456"/>
            <a:ext cx="20848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2F35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 – 50      107 대표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720840" y="4398264"/>
            <a:ext cx="2194560" cy="566928"/>
          </a:xfrm>
          <a:prstGeom prst="roundRect">
            <a:avLst>
              <a:gd name="adj" fmla="val 8065"/>
            </a:avLst>
          </a:prstGeom>
          <a:solidFill>
            <a:srgbClr val="E9EAEF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6775704" y="4398264"/>
            <a:ext cx="20848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5C61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60 – 70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8988552" y="45445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A72C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9372600" y="4398264"/>
            <a:ext cx="2194560" cy="566928"/>
          </a:xfrm>
          <a:prstGeom prst="roundRect">
            <a:avLst>
              <a:gd name="adj" fmla="val 8065"/>
            </a:avLst>
          </a:prstGeom>
          <a:solidFill>
            <a:srgbClr val="EEF0FA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9427464" y="4398264"/>
            <a:ext cx="20848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2F35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 – 40      75 대표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720840" y="5148072"/>
            <a:ext cx="2194560" cy="566928"/>
          </a:xfrm>
          <a:prstGeom prst="roundRect">
            <a:avLst>
              <a:gd name="adj" fmla="val 8065"/>
            </a:avLst>
          </a:prstGeom>
          <a:solidFill>
            <a:srgbClr val="E9EAEF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6775704" y="5148072"/>
            <a:ext cx="20848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5C61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&lt; 60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8988552" y="52943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A72C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9372600" y="5148072"/>
            <a:ext cx="2194560" cy="566928"/>
          </a:xfrm>
          <a:prstGeom prst="roundRect">
            <a:avLst>
              <a:gd name="adj" fmla="val 8065"/>
            </a:avLst>
          </a:prstGeom>
          <a:solidFill>
            <a:srgbClr val="EEF0FA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9427464" y="5148072"/>
            <a:ext cx="20848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2F35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&lt; 30      10 대표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6720840" y="5943600"/>
            <a:ext cx="484632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5C61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10% 폭 · 클러스터 median fident 기준</a:t>
            </a:r>
            <a:endParaRPr lang="en-US" sz="1050" dirty="0"/>
          </a:p>
        </p:txBody>
      </p:sp>
      <p:sp>
        <p:nvSpPr>
          <p:cNvPr id="48" name="Text 45"/>
          <p:cNvSpPr txBox="1"/>
          <p:nvPr/>
        </p:nvSpPr>
        <p:spPr>
          <a:xfrm>
            <a:off x="11018520" y="638251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1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65760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C06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 ③  결과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21792"/>
            <a:ext cx="10972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1C1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212 대표가 족의 98.8% 를 대리한다</a:t>
            </a:r>
            <a:endParaRPr lang="en-US" sz="27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783080"/>
          <a:ext cx="690372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1234440"/>
                <a:gridCol w="868680"/>
                <a:gridCol w="868680"/>
                <a:gridCol w="868680"/>
                <a:gridCol w="9601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5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5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커버 서열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5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학습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5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평가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5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SF2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5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비방향족 41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59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1E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≥ 60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E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E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31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E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E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E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E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1E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50 – 60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E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E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E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E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E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E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1E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40 – 50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E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107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E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619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E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80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E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27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E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13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E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23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1E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 – 40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E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75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E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897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E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56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E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19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E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17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E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16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1E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&lt; 30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E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E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163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E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E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E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E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C1E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합계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F359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212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C1E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1,806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F359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157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F359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55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C1E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33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C1E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43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94360" y="4709160"/>
            <a:ext cx="6903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1C1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SF2 도 비방향족 41번도 50% 아래에서만 나타난다. </a:t>
            </a:r>
            <a:pPr indent="0" marL="0">
              <a:lnSpc>
                <a:spcPct val="118000"/>
              </a:lnSpc>
              <a:spcAft>
                <a:spcPts val="900"/>
              </a:spcAft>
              <a:buNone/>
            </a:pPr>
            <a:r>
              <a:rPr lang="en-US" sz="1150" dirty="0">
                <a:solidFill>
                  <a:srgbClr val="1C1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고유사도 구간은 개수뿐 아니라 정보량 자체가 낮으며, 그 영역은 이미 변이체 288개가 촘촘히 덮고 있다.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1C1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공유 클러스터 0 · 중복 서열 0. </a:t>
            </a:r>
            <a:pPr indent="0" marL="0">
              <a:lnSpc>
                <a:spcPct val="118000"/>
              </a:lnSpc>
              <a:spcAft>
                <a:spcPts val="900"/>
              </a:spcAft>
              <a:buNone/>
            </a:pPr>
            <a:r>
              <a:rPr lang="en-US" sz="1150" dirty="0">
                <a:solidFill>
                  <a:srgbClr val="1C1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대표가 클러스터당 1개이므로 누수가 구조적으로 불가능하다.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7818120" y="1783080"/>
            <a:ext cx="3749040" cy="1508760"/>
          </a:xfrm>
          <a:prstGeom prst="roundRect">
            <a:avLst>
              <a:gd name="adj" fmla="val 3636"/>
            </a:avLst>
          </a:prstGeom>
          <a:solidFill>
            <a:srgbClr val="F7F8FC"/>
          </a:solidFill>
          <a:ln w="12700">
            <a:solidFill>
              <a:srgbClr val="D6DAE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074152" y="1938528"/>
            <a:ext cx="3236976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5C61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족 서열 포괄률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8074152" y="2240280"/>
            <a:ext cx="3236976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2F35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98.8%</a:t>
            </a:r>
            <a:endParaRPr lang="en-US" sz="3800" dirty="0"/>
          </a:p>
        </p:txBody>
      </p:sp>
      <p:sp>
        <p:nvSpPr>
          <p:cNvPr id="9" name="Text 6"/>
          <p:cNvSpPr txBox="1"/>
          <p:nvPr/>
        </p:nvSpPr>
        <p:spPr>
          <a:xfrm>
            <a:off x="8074152" y="2880360"/>
            <a:ext cx="3236976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1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1,827 중 1,806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7818120" y="3456432"/>
            <a:ext cx="3749040" cy="1051560"/>
          </a:xfrm>
          <a:prstGeom prst="roundRect">
            <a:avLst>
              <a:gd name="adj" fmla="val 5217"/>
            </a:avLst>
          </a:prstGeom>
          <a:solidFill>
            <a:srgbClr val="EEF0FA"/>
          </a:solidFill>
          <a:ln w="12700">
            <a:solidFill>
              <a:srgbClr val="D6DAE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074152" y="3602736"/>
            <a:ext cx="3236976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5C61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 지표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8074152" y="3877056"/>
            <a:ext cx="3236976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F35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55개의 Spearman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7818120" y="4645152"/>
            <a:ext cx="3749040" cy="1527048"/>
          </a:xfrm>
          <a:prstGeom prst="roundRect">
            <a:avLst>
              <a:gd name="adj" fmla="val 3593"/>
            </a:avLst>
          </a:prstGeom>
          <a:solidFill>
            <a:srgbClr val="FBEEE2"/>
          </a:solidFill>
          <a:ln w="12700">
            <a:solidFill>
              <a:srgbClr val="E8C9A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074152" y="4809744"/>
            <a:ext cx="3236976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C06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구간별은 주 지표가 될 수 없다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8074152" y="5102352"/>
            <a:ext cx="3236976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1C1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≥ 60 의 평가가 2개, &lt; 30 이 3개다. 이 크기의 순위상관은 신뢰구간이 지나치게 넓다. 40–50(27) · 30–40(19) 만 개별 보고하고 양 끝은 합쳐서 기술한다.</a:t>
            </a:r>
            <a:endParaRPr lang="en-US" sz="1000" dirty="0"/>
          </a:p>
        </p:txBody>
      </p:sp>
      <p:sp>
        <p:nvSpPr>
          <p:cNvPr id="17" name="Text 13"/>
          <p:cNvSpPr txBox="1"/>
          <p:nvPr/>
        </p:nvSpPr>
        <p:spPr>
          <a:xfrm>
            <a:off x="11018520" y="638251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1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65760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C06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 ③  실험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21792"/>
            <a:ext cx="10972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1C1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학습셋 · 같은 평가셋 — 다른 것은 순서 · 방식 · 양뿐이다</a:t>
            </a:r>
            <a:endParaRPr lang="en-US" sz="27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783080"/>
          <a:ext cx="10972800" cy="914400"/>
        </p:xfrm>
        <a:graphic>
          <a:graphicData uri="http://schemas.openxmlformats.org/drawingml/2006/table">
            <a:tbl>
              <a:tblPr/>
              <a:tblGrid>
                <a:gridCol w="685800"/>
                <a:gridCol w="1920240"/>
                <a:gridCol w="1371600"/>
                <a:gridCol w="2468880"/>
                <a:gridCol w="3429000"/>
                <a:gridCol w="1097280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5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학습 방식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5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순서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5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양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5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답하는 것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5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반복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596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F359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E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순차 (이어 학습)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E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유사도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E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 → 14 → 94 → 150 → 157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1E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유사도 순차 학습의 효과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E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F359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E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한번에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E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E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157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1E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상한 기준선 · A 의 종착점 비교 대상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E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C069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E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순차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E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무작위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E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 와 동일 크기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1E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 와의 차이 = 순서의 기여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E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F359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D1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E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한번에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E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무작위 (층화)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E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 · 40 · … · 157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1E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 양의 포화점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E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F359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D2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E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한번에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E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E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157 + 109 = 266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1E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대표 1개로 충분했는가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E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94360" y="4434840"/>
            <a:ext cx="3520440" cy="1417320"/>
          </a:xfrm>
          <a:prstGeom prst="roundRect">
            <a:avLst>
              <a:gd name="adj" fmla="val 3871"/>
            </a:avLst>
          </a:prstGeom>
          <a:solidFill>
            <a:srgbClr val="FBEEE2"/>
          </a:solidFill>
          <a:ln w="12700">
            <a:solidFill>
              <a:srgbClr val="E8C9A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4599432"/>
            <a:ext cx="306324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C06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 가 반드시 필요한 이유</a:t>
            </a:r>
            <a:endParaRPr lang="en-US" sz="115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4919472"/>
            <a:ext cx="306324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1C1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 가 빠지면 A 와 B 의 차이가 순차성 때문인지 유사도 순서 때문인지 가릴 수 없다.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361688" y="4434840"/>
            <a:ext cx="3520440" cy="1417320"/>
          </a:xfrm>
          <a:prstGeom prst="roundRect">
            <a:avLst>
              <a:gd name="adj" fmla="val 3871"/>
            </a:avLst>
          </a:prstGeom>
          <a:solidFill>
            <a:srgbClr val="F7F8FC"/>
          </a:solidFill>
          <a:ln w="12700">
            <a:solidFill>
              <a:srgbClr val="D6DAEE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590288" y="4599432"/>
            <a:ext cx="306324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F35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는 '이어 학습' 이어야 성립한다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4590288" y="4919472"/>
            <a:ext cx="306324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1C1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누적 재학습이면 마지막 점이 B 와 같아져 대비가 사라진다. Ridge · SVR · RF 계열에는 이어 학습 개념이 없다.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8129016" y="4434840"/>
            <a:ext cx="3520440" cy="1417320"/>
          </a:xfrm>
          <a:prstGeom prst="roundRect">
            <a:avLst>
              <a:gd name="adj" fmla="val 3871"/>
            </a:avLst>
          </a:prstGeom>
          <a:solidFill>
            <a:srgbClr val="F7F8FC"/>
          </a:solidFill>
          <a:ln w="12700">
            <a:solidFill>
              <a:srgbClr val="D6DAE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357616" y="4599432"/>
            <a:ext cx="306324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F35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임베딩은 한 번만 계산한다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8357616" y="4919472"/>
            <a:ext cx="306324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1C1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실행은 72회지만 고유 서열은 321개. ESM 임베딩은 서열당 1회 캐시한다.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594360" y="6035040"/>
            <a:ext cx="109728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C06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미결 — SeekRank 회귀 헤드의 구조 확인 필요. 실험 A 의 가능 여부가 여기에 달려 있다.</a:t>
            </a:r>
            <a:endParaRPr lang="en-US" sz="1100" dirty="0"/>
          </a:p>
        </p:txBody>
      </p:sp>
      <p:sp>
        <p:nvSpPr>
          <p:cNvPr id="16" name="Text 12"/>
          <p:cNvSpPr txBox="1"/>
          <p:nvPr/>
        </p:nvSpPr>
        <p:spPr>
          <a:xfrm>
            <a:off x="11018520" y="638251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1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65760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C06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 ④  구조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21792"/>
            <a:ext cx="10972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1C1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321개 전량 이량체 조립 완료 — 아키텍처별 참조를 나눴다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783080"/>
            <a:ext cx="512064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C1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 출처</a:t>
            </a:r>
            <a:endParaRPr lang="en-US" sz="13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2130552"/>
          <a:ext cx="53949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868680"/>
                <a:gridCol w="315468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5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5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596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C1E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AFDB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C1E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298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C1E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내려받기 완료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C1E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ColabFold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C1E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C1E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A0AB* / A0AC* — AFDB 미등재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C1E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합계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59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321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C1E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core 212 + D2 확장 109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94360" y="3703320"/>
            <a:ext cx="5394960" cy="1097280"/>
          </a:xfrm>
          <a:prstGeom prst="roundRect">
            <a:avLst>
              <a:gd name="adj" fmla="val 5000"/>
            </a:avLst>
          </a:prstGeom>
          <a:solidFill>
            <a:srgbClr val="FBEEE2"/>
          </a:solidFill>
          <a:ln w="12700">
            <a:solidFill>
              <a:srgbClr val="E8C9A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50392" y="3858768"/>
            <a:ext cx="4882896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C06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예측 방법이 섞인다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850392" y="4160520"/>
            <a:ext cx="4882896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1C1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AlphaFold2 지만 MSA 파이프라인이 다르다. struct_source 컬럼으로 기록하고 도킹 후 점수와의 상관을 확인한다.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4956048"/>
            <a:ext cx="539496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C1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조립 품질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94360" y="5285232"/>
            <a:ext cx="1298448" cy="749808"/>
          </a:xfrm>
          <a:prstGeom prst="roundRect">
            <a:avLst>
              <a:gd name="adj" fmla="val 7317"/>
            </a:avLst>
          </a:prstGeom>
          <a:solidFill>
            <a:srgbClr val="F7F8FC"/>
          </a:solidFill>
          <a:ln w="12700">
            <a:solidFill>
              <a:srgbClr val="D6DAE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0080" y="5394960"/>
            <a:ext cx="1207008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F35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321 / 321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5705856"/>
            <a:ext cx="1207008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5C61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성공 (실패 0)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1965960" y="5285232"/>
            <a:ext cx="1298448" cy="749808"/>
          </a:xfrm>
          <a:prstGeom prst="roundRect">
            <a:avLst>
              <a:gd name="adj" fmla="val 7317"/>
            </a:avLst>
          </a:prstGeom>
          <a:solidFill>
            <a:srgbClr val="F7F8FC"/>
          </a:solidFill>
          <a:ln w="12700">
            <a:solidFill>
              <a:srgbClr val="D6DAE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2011680" y="5394960"/>
            <a:ext cx="1207008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C1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0.80 – 1.65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2011680" y="5705856"/>
            <a:ext cx="1207008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5C61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RMSD (구간별)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3337560" y="5285232"/>
            <a:ext cx="1298448" cy="749808"/>
          </a:xfrm>
          <a:prstGeom prst="roundRect">
            <a:avLst>
              <a:gd name="adj" fmla="val 7317"/>
            </a:avLst>
          </a:prstGeom>
          <a:solidFill>
            <a:srgbClr val="F7F8FC"/>
          </a:solidFill>
          <a:ln w="12700">
            <a:solidFill>
              <a:srgbClr val="D6DAE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383280" y="5394960"/>
            <a:ext cx="1207008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C1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 – 1.22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3383280" y="5705856"/>
            <a:ext cx="1207008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5C61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임계충돌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4709160" y="5285232"/>
            <a:ext cx="1298448" cy="749808"/>
          </a:xfrm>
          <a:prstGeom prst="roundRect">
            <a:avLst>
              <a:gd name="adj" fmla="val 7317"/>
            </a:avLst>
          </a:prstGeom>
          <a:solidFill>
            <a:srgbClr val="F7F8FC"/>
          </a:solidFill>
          <a:ln w="12700">
            <a:solidFill>
              <a:srgbClr val="D6DAEE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754880" y="5394960"/>
            <a:ext cx="1207008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C1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94.6 – 96.6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5705856"/>
            <a:ext cx="1207008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5C61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pLDDT</a:t>
            </a:r>
            <a:endParaRPr lang="en-US" sz="850" dirty="0"/>
          </a:p>
        </p:txBody>
      </p:sp>
      <p:sp>
        <p:nvSpPr>
          <p:cNvPr id="22" name="Text 19"/>
          <p:cNvSpPr txBox="1"/>
          <p:nvPr/>
        </p:nvSpPr>
        <p:spPr>
          <a:xfrm>
            <a:off x="6446520" y="1783080"/>
            <a:ext cx="512064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C1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참조 선택 — D-cluster 아키텍처 기준, 예외 없음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446520" y="2176272"/>
            <a:ext cx="2286000" cy="685800"/>
          </a:xfrm>
          <a:prstGeom prst="roundRect">
            <a:avLst>
              <a:gd name="adj" fmla="val 6667"/>
            </a:avLst>
          </a:prstGeom>
          <a:solidFill>
            <a:srgbClr val="EEF0FA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6501384" y="2176272"/>
            <a:ext cx="21762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2F35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SF4 · SF4v · SFx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8805672" y="2377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A72C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9189720" y="2176272"/>
            <a:ext cx="2377440" cy="685800"/>
          </a:xfrm>
          <a:prstGeom prst="roundRect">
            <a:avLst>
              <a:gd name="adj" fmla="val 6667"/>
            </a:avLst>
          </a:prstGeom>
          <a:solidFill>
            <a:srgbClr val="16183A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9244584" y="2176272"/>
            <a:ext cx="22677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ChCODH2  (1SU6)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6446520" y="3044952"/>
            <a:ext cx="2286000" cy="685800"/>
          </a:xfrm>
          <a:prstGeom prst="roundRect">
            <a:avLst>
              <a:gd name="adj" fmla="val 6667"/>
            </a:avLst>
          </a:prstGeom>
          <a:solidFill>
            <a:srgbClr val="EEF0FA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6501384" y="3044952"/>
            <a:ext cx="21762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2F35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SF2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8805672" y="3246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A72C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9189720" y="3044952"/>
            <a:ext cx="2377440" cy="685800"/>
          </a:xfrm>
          <a:prstGeom prst="roundRect">
            <a:avLst>
              <a:gd name="adj" fmla="val 6667"/>
            </a:avLst>
          </a:prstGeom>
          <a:solidFill>
            <a:srgbClr val="16183A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9244584" y="3044952"/>
            <a:ext cx="22677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DvCODH  (6OND)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6446520" y="3950208"/>
            <a:ext cx="5120640" cy="868680"/>
          </a:xfrm>
          <a:prstGeom prst="roundRect">
            <a:avLst>
              <a:gd name="adj" fmla="val 6316"/>
            </a:avLst>
          </a:prstGeom>
          <a:solidFill>
            <a:srgbClr val="F7F8FC"/>
          </a:solidFill>
          <a:ln w="12700">
            <a:solidFill>
              <a:srgbClr val="D6DAEE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702552" y="4160520"/>
            <a:ext cx="4608576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C1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모드 — global · local 둘 다 시도해 (임계충돌, RMSD) 최소를 채택했다.</a:t>
            </a:r>
            <a:endParaRPr lang="en-US" sz="1150" dirty="0"/>
          </a:p>
        </p:txBody>
      </p:sp>
      <p:sp>
        <p:nvSpPr>
          <p:cNvPr id="35" name="Shape 32"/>
          <p:cNvSpPr/>
          <p:nvPr/>
        </p:nvSpPr>
        <p:spPr>
          <a:xfrm>
            <a:off x="6446520" y="4956048"/>
            <a:ext cx="5120640" cy="1188720"/>
          </a:xfrm>
          <a:prstGeom prst="roundRect">
            <a:avLst>
              <a:gd name="adj" fmla="val 4615"/>
            </a:avLst>
          </a:prstGeom>
          <a:solidFill>
            <a:srgbClr val="EEF0FA"/>
          </a:solidFill>
          <a:ln w="12700">
            <a:solidFill>
              <a:srgbClr val="D6DAEE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6702552" y="5138928"/>
            <a:ext cx="4608576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F35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임계충돌은 구간과 무관하게 평평하다</a:t>
            </a:r>
            <a:endParaRPr lang="en-US" sz="1250" dirty="0"/>
          </a:p>
        </p:txBody>
      </p:sp>
      <p:sp>
        <p:nvSpPr>
          <p:cNvPr id="37" name="Text 34"/>
          <p:cNvSpPr txBox="1"/>
          <p:nvPr/>
        </p:nvSpPr>
        <p:spPr>
          <a:xfrm>
            <a:off x="6702552" y="5468112"/>
            <a:ext cx="4608576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C1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RMSD 는 유사도를 따라 오르지만 충돌은 그렇지 않다 — 조립의 물리적 타당성이 유사도에 끌려가지 않는다.</a:t>
            </a:r>
            <a:endParaRPr lang="en-US" sz="1100" dirty="0"/>
          </a:p>
        </p:txBody>
      </p:sp>
      <p:sp>
        <p:nvSpPr>
          <p:cNvPr id="39" name="Text 35"/>
          <p:cNvSpPr txBox="1"/>
          <p:nvPr/>
        </p:nvSpPr>
        <p:spPr>
          <a:xfrm>
            <a:off x="11018520" y="638251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1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65760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C06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 ④  검증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21792"/>
            <a:ext cx="10972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1C1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조립 절차는 도킹 점수를 왜곡하지 않는다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94360" y="1874520"/>
            <a:ext cx="5257800" cy="1920240"/>
          </a:xfrm>
          <a:prstGeom prst="roundRect">
            <a:avLst>
              <a:gd name="adj" fmla="val 2857"/>
            </a:avLst>
          </a:prstGeom>
          <a:solidFill>
            <a:srgbClr val="F7F8FC"/>
          </a:solidFill>
          <a:ln w="12700">
            <a:solidFill>
              <a:srgbClr val="D6DA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084832"/>
            <a:ext cx="470916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5C61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Wildtype 재도킹 — 파이프라인 일치 확인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395728"/>
            <a:ext cx="237744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2F35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−4.380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3337560" y="2697480"/>
            <a:ext cx="224028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F35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정본 대비  0.000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127248"/>
            <a:ext cx="237744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C61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kcal/mol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263640" y="1874520"/>
            <a:ext cx="5303520" cy="1920240"/>
          </a:xfrm>
          <a:prstGeom prst="roundRect">
            <a:avLst>
              <a:gd name="adj" fmla="val 2857"/>
            </a:avLst>
          </a:prstGeom>
          <a:solidFill>
            <a:srgbClr val="FBEEE2"/>
          </a:solidFill>
          <a:ln w="12700">
            <a:solidFill>
              <a:srgbClr val="E8C9A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37960" y="2084832"/>
            <a:ext cx="475488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5C61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조립한 ChCODH2 이량체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6537960" y="2395728"/>
            <a:ext cx="237744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C06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−4.30</a:t>
            </a:r>
            <a:endParaRPr lang="en-US" sz="3600" dirty="0"/>
          </a:p>
        </p:txBody>
      </p:sp>
      <p:sp>
        <p:nvSpPr>
          <p:cNvPr id="12" name="Text 10"/>
          <p:cNvSpPr txBox="1"/>
          <p:nvPr/>
        </p:nvSpPr>
        <p:spPr>
          <a:xfrm>
            <a:off x="9006840" y="2697480"/>
            <a:ext cx="2286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C06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차이  +0.080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537960" y="3127248"/>
            <a:ext cx="237744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C61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kcal/mol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4360" y="4023360"/>
            <a:ext cx="10972800" cy="1051560"/>
          </a:xfrm>
          <a:prstGeom prst="roundRect">
            <a:avLst>
              <a:gd name="adj" fmla="val 5217"/>
            </a:avLst>
          </a:prstGeom>
          <a:solidFill>
            <a:srgbClr val="EEF0FA"/>
          </a:solidFill>
          <a:ln w="12700">
            <a:solidFill>
              <a:srgbClr val="D6DAE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224528"/>
            <a:ext cx="1033272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2F35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조립 효과 0.080 은 결정구조 자신의 50런 범위 0.11 보다 작다.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914400" y="4590288"/>
            <a:ext cx="1033272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C1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즉, 조립에서 생긴 차이가 도킹 자체의 런 간 변동에 묻힌다.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594360" y="521208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1C1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재현 검증도 통과했다. </a:t>
            </a:r>
            <a:pPr indent="0" marL="0">
              <a:lnSpc>
                <a:spcPct val="118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1C1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D63A_A559W 를 CE2 중심 npts 80 으로 재도킹해 기존 결과와 정렬 에너지 전량 일치(atol = 1e-3)를 확인한 뒤 배치를 시작했다.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1C1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 점수는 Wildtype ad_med_ds = −4.38, IQR 0.09. </a:t>
            </a:r>
            <a:pPr indent="0" marL="0">
              <a:lnSpc>
                <a:spcPct val="118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1C1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이후 모든 상동체 점수는 이 값을 기준으로 읽는다.</a:t>
            </a:r>
            <a:endParaRPr lang="en-US" sz="1150" dirty="0"/>
          </a:p>
        </p:txBody>
      </p:sp>
      <p:sp>
        <p:nvSpPr>
          <p:cNvPr id="19" name="Text 16"/>
          <p:cNvSpPr txBox="1"/>
          <p:nvPr/>
        </p:nvSpPr>
        <p:spPr>
          <a:xfrm>
            <a:off x="11018520" y="638251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1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65760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C06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 ⑤  다음 단계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21792"/>
            <a:ext cx="10972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1C1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다음은 도킹 321개와 노이즈 바닥 측정이다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755648"/>
            <a:ext cx="566928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C1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노이즈 바닥이 필요한가 — 잡음원이 바뀌었다</a:t>
            </a:r>
            <a:endParaRPr lang="en-US" sz="13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2121408"/>
          <a:ext cx="566928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2194560"/>
                <a:gridCol w="237744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5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변이체 288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5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상동체 321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59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C1E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골격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C1E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1SU6 하나 공유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C1E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구조마다 별개 예측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C1E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조립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C1E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불필요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C1E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구조마다 별개 조립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C1E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잡음원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C1E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런 간만 (IQR 0.09)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069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런 간 + 구조 예측 + 조립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94360" y="3749040"/>
            <a:ext cx="5669280" cy="914400"/>
          </a:xfrm>
          <a:prstGeom prst="roundRect">
            <a:avLst>
              <a:gd name="adj" fmla="val 6000"/>
            </a:avLst>
          </a:prstGeom>
          <a:solidFill>
            <a:srgbClr val="FBEEE2"/>
          </a:solidFill>
          <a:ln w="12700">
            <a:solidFill>
              <a:srgbClr val="E8C9A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50392" y="3913632"/>
            <a:ext cx="5157216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C06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288 세트의 SNR 을 그대로 옮겨 쓸 수 없다.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850392" y="4224528"/>
            <a:ext cx="5157216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C1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자기 잡음보다 작은 차이는 주장할 수 없다.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4846320"/>
            <a:ext cx="566928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C1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어떻게 재는가 — 확장 109개는 학습 클러스터의 2번째 멤버로, 대표와 짝을 이룬다.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94360" y="5285232"/>
            <a:ext cx="5669280" cy="868680"/>
          </a:xfrm>
          <a:prstGeom prst="roundRect">
            <a:avLst>
              <a:gd name="adj" fmla="val 6316"/>
            </a:avLst>
          </a:prstGeom>
          <a:solidFill>
            <a:srgbClr val="EEF0FA"/>
          </a:solidFill>
          <a:ln w="12700">
            <a:solidFill>
              <a:srgbClr val="D6DAE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50392" y="5413248"/>
            <a:ext cx="5157216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F35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within(c) = | med(대표) − med(2번째 멤버) |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850392" y="5742432"/>
            <a:ext cx="5157216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F35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SNR = Var(클러스터 간) / mean(within²)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6720840" y="1755648"/>
            <a:ext cx="484632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C1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 기준은 미리 고정한다</a:t>
            </a:r>
            <a:endParaRPr lang="en-US" sz="1300" dirty="0"/>
          </a:p>
        </p:txBody>
      </p:sp>
      <p:graphicFrame>
        <p:nvGraphicFramePr>
          <p:cNvPr id="3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20840" y="2121408"/>
          <a:ext cx="484632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822960"/>
                <a:gridCol w="2560320"/>
              </a:tblGrid>
              <a:tr h="3337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within 중앙값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5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SNR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5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판정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596"/>
                    </a:solidFill>
                  </a:tcPr>
                </a:tc>
              </a:tr>
              <a:tr h="3337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C1E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~ 0.05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C1E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C1E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라벨 그대로 사용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37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C1E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~ 0.30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C1E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59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288 과 비슷. 진행 가능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37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C1E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~ 0.80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C1E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2.5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C1E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경계. 반복 조립 평균 필요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37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C1E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~ 1.50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C1E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69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라벨이 잡음에 묻힘. 재설계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11"/>
          <p:cNvSpPr txBox="1"/>
          <p:nvPr/>
        </p:nvSpPr>
        <p:spPr>
          <a:xfrm>
            <a:off x="6720840" y="3840480"/>
            <a:ext cx="484632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F35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D2 확장분을 함께 도킹하므로 추가 비용은 0 이다.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6720840" y="4297680"/>
            <a:ext cx="484632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C1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일정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6720840" y="4645152"/>
            <a:ext cx="237744" cy="237744"/>
          </a:xfrm>
          <a:prstGeom prst="ellipse">
            <a:avLst/>
          </a:prstGeom>
          <a:solidFill>
            <a:srgbClr val="C0692B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6720840" y="464515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9" name="Text 15"/>
          <p:cNvSpPr txBox="1"/>
          <p:nvPr/>
        </p:nvSpPr>
        <p:spPr>
          <a:xfrm>
            <a:off x="7068312" y="4663440"/>
            <a:ext cx="4498848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C1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도킹 321개  (core 212 + expansion 109 동시)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6720840" y="4974336"/>
            <a:ext cx="237744" cy="237744"/>
          </a:xfrm>
          <a:prstGeom prst="ellipse">
            <a:avLst/>
          </a:prstGeom>
          <a:solidFill>
            <a:srgbClr val="6A72CE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6720840" y="49743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22" name="Text 18"/>
          <p:cNvSpPr txBox="1"/>
          <p:nvPr/>
        </p:nvSpPr>
        <p:spPr>
          <a:xfrm>
            <a:off x="7068312" y="4992624"/>
            <a:ext cx="4498848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C1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노이즈 바닥 측정 → SNR 판정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6720840" y="5303520"/>
            <a:ext cx="237744" cy="237744"/>
          </a:xfrm>
          <a:prstGeom prst="ellipse">
            <a:avLst/>
          </a:prstGeom>
          <a:solidFill>
            <a:srgbClr val="6A72CE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6720840" y="530352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25" name="Text 21"/>
          <p:cNvSpPr txBox="1"/>
          <p:nvPr/>
        </p:nvSpPr>
        <p:spPr>
          <a:xfrm>
            <a:off x="7068312" y="5321808"/>
            <a:ext cx="4498848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C1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공변량 회귀  struct_source · mode · 임계충돌 · pLDDT</a:t>
            </a:r>
            <a:endParaRPr lang="en-US" sz="1050" dirty="0"/>
          </a:p>
        </p:txBody>
      </p:sp>
      <p:sp>
        <p:nvSpPr>
          <p:cNvPr id="26" name="Shape 22"/>
          <p:cNvSpPr/>
          <p:nvPr/>
        </p:nvSpPr>
        <p:spPr>
          <a:xfrm>
            <a:off x="6720840" y="5632704"/>
            <a:ext cx="237744" cy="237744"/>
          </a:xfrm>
          <a:prstGeom prst="ellipse">
            <a:avLst/>
          </a:prstGeom>
          <a:solidFill>
            <a:srgbClr val="6A72CE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6720840" y="563270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Text 24"/>
          <p:cNvSpPr txBox="1"/>
          <p:nvPr/>
        </p:nvSpPr>
        <p:spPr>
          <a:xfrm>
            <a:off x="7068312" y="5650992"/>
            <a:ext cx="4498848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C1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라벨 부착  FASTA 헤더 fident → med 점수</a:t>
            </a:r>
            <a:endParaRPr lang="en-US" sz="1050" dirty="0"/>
          </a:p>
        </p:txBody>
      </p:sp>
      <p:sp>
        <p:nvSpPr>
          <p:cNvPr id="29" name="Shape 25"/>
          <p:cNvSpPr/>
          <p:nvPr/>
        </p:nvSpPr>
        <p:spPr>
          <a:xfrm>
            <a:off x="6720840" y="5961888"/>
            <a:ext cx="237744" cy="237744"/>
          </a:xfrm>
          <a:prstGeom prst="ellipse">
            <a:avLst/>
          </a:prstGeom>
          <a:solidFill>
            <a:srgbClr val="6A72CE"/>
          </a:solidFill>
          <a:ln/>
        </p:spPr>
      </p:sp>
      <p:sp>
        <p:nvSpPr>
          <p:cNvPr id="30" name="Text 26"/>
          <p:cNvSpPr txBox="1"/>
          <p:nvPr/>
        </p:nvSpPr>
        <p:spPr>
          <a:xfrm>
            <a:off x="6720840" y="596188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200" dirty="0"/>
          </a:p>
        </p:txBody>
      </p:sp>
      <p:sp>
        <p:nvSpPr>
          <p:cNvPr id="31" name="Text 27"/>
          <p:cNvSpPr txBox="1"/>
          <p:nvPr/>
        </p:nvSpPr>
        <p:spPr>
          <a:xfrm>
            <a:off x="7068312" y="5980176"/>
            <a:ext cx="4498848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C1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 A / B / C / D1 / D2</a:t>
            </a:r>
            <a:endParaRPr lang="en-US" sz="1050" dirty="0"/>
          </a:p>
        </p:txBody>
      </p:sp>
      <p:sp>
        <p:nvSpPr>
          <p:cNvPr id="33" name="Text 28"/>
          <p:cNvSpPr txBox="1"/>
          <p:nvPr/>
        </p:nvSpPr>
        <p:spPr>
          <a:xfrm>
            <a:off x="11018520" y="638251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1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618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2788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20" kern="0" dirty="0">
                <a:solidFill>
                  <a:srgbClr val="C06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BACKUP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154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백업 슬라이드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393192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AE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B1 방향 의존성  ·  B2 주 지표 선정  ·  B3 단순 기술자 대비  ·  B4 고정 상수  ·  B5 한계  ·  B6 해석 범위(외부용)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1018520" y="638251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E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65760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C06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BACKUP  B1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21792"/>
            <a:ext cx="10972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1C1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반변 15 에서 순위는 회전에 무관하다</a:t>
            </a:r>
            <a:endParaRPr lang="en-US" sz="27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783080"/>
          <a:ext cx="667512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463040"/>
                <a:gridCol w="1463040"/>
                <a:gridCol w="1188720"/>
                <a:gridCol w="13716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반변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5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회전 대조군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5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시드 대조군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5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격차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5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판정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59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C1E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15.000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E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0.905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E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0.927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F359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−0.022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F359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방향 무관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1E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18.000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E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0.897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E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0.979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069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−0.082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069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방향 의존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94360" y="3127248"/>
            <a:ext cx="667512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5C61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med, 위치내 · 수용체를 그리드 중심 기준으로 회전(zyx 37/23/51°)시켜 재도킹</a:t>
            </a:r>
            <a:endParaRPr lang="en-US" sz="1050" dirty="0"/>
          </a:p>
        </p:txBody>
      </p:sp>
      <p:sp>
        <p:nvSpPr>
          <p:cNvPr id="6" name="Text 3"/>
          <p:cNvSpPr txBox="1"/>
          <p:nvPr/>
        </p:nvSpPr>
        <p:spPr>
          <a:xfrm>
            <a:off x="594360" y="3566160"/>
            <a:ext cx="6675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1C1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시드 대조군이 반드시 필요하다. </a:t>
            </a:r>
            <a:pPr indent="0" marL="0">
              <a:lnSpc>
                <a:spcPct val="11800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1C1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회전하면 탐색 경로 자체가 달라지므로, 동등한 조건에서 다른 탐색을 했을 때의 차이를 재는 자가 없으면 해석이 불가능하다.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C06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최대차 0.520 은 무시할 수 없다. </a:t>
            </a:r>
            <a:pPr indent="0" marL="0">
              <a:lnSpc>
                <a:spcPct val="11800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C06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288개 표준편차 0.298 대비 1.7σ. 평균차가 0.005 라 편향은 없고 소수가 크게 튄다 — 순위는 견디고 절대값은 못 견딘다.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543800" y="1783080"/>
            <a:ext cx="4023360" cy="4023360"/>
          </a:xfrm>
          <a:prstGeom prst="roundRect">
            <a:avLst>
              <a:gd name="adj" fmla="val 1364"/>
            </a:avLst>
          </a:prstGeom>
          <a:solidFill>
            <a:srgbClr val="F7F8FC"/>
          </a:solidFill>
          <a:ln w="12700">
            <a:solidFill>
              <a:srgbClr val="D6DAE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818120" y="1965960"/>
            <a:ext cx="347472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C06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역설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7818120" y="2267712"/>
            <a:ext cx="347472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C1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재현성이 높다고 옳은 것이 아니다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818120" y="2834640"/>
            <a:ext cx="347472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C1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시드 대조군에서 반변 18(0.979)이 반변 15(0.927)보다 재현성이 높다. r18 은 포즈의 79% 가 한 군집에 박혀 있어 시드를 바꿔도 중앙값이 안 움직이기 때문이다. r15 는 여러 군집이 거의 같은 에너지로 경쟁하니 조금씩 흔들린다.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818120" y="4480560"/>
            <a:ext cx="3474720" cy="1143000"/>
          </a:xfrm>
          <a:prstGeom prst="roundRect">
            <a:avLst>
              <a:gd name="adj" fmla="val 4800"/>
            </a:avLst>
          </a:prstGeom>
          <a:solidFill>
            <a:srgbClr val="FBEEE2"/>
          </a:solidFill>
          <a:ln w="12700">
            <a:solidFill>
              <a:srgbClr val="E8C9A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019288" y="4681728"/>
            <a:ext cx="3072384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C06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안정적으로 엉뚱한 것을 재는 것보다 조금 흔들리며 맞는 것을 재는 편이 낫다.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11018520" y="638251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1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65760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C06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BACKUP  B2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21792"/>
            <a:ext cx="10972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1C1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 지표를 med 로 정한 근거는 박스 섭동 안정성이다</a:t>
            </a:r>
            <a:endParaRPr lang="en-US" sz="27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874520"/>
          <a:ext cx="640080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384048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5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ρ 위치내 (반변 15 → 18, CE2 중심)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59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F359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med  (50런 중앙값)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F359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0.918  /  0.943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1E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best  (극단값 하나)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069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0.674  /  0.691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94360" y="3520440"/>
            <a:ext cx="6400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1C1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best 는 새 최소점이 생기면 즉시 갈아탄다. </a:t>
            </a:r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250" dirty="0">
                <a:solidFill>
                  <a:srgbClr val="1C1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med 는 50런 앙상블의 강건 통계라 지형이 조금 바뀌어도 순위를 유지한다.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1C1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 = 27 로 지표를 고르면 과적합이다. </a:t>
            </a:r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250" dirty="0">
                <a:solidFill>
                  <a:srgbClr val="1C1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실측 Km 상관으로 지표를 선택하는 대신 박스 섭동 안정성이라는 독립 기준으로 답했다.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2F35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med = −median(50런), IQR 병기. </a:t>
            </a:r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250" dirty="0">
                <a:solidFill>
                  <a:srgbClr val="2F35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보고에서 산포를 함께 적는다.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7360920" y="1874520"/>
            <a:ext cx="4206240" cy="2148840"/>
          </a:xfrm>
          <a:prstGeom prst="roundRect">
            <a:avLst>
              <a:gd name="adj" fmla="val 2553"/>
            </a:avLst>
          </a:prstGeom>
          <a:solidFill>
            <a:srgbClr val="F7F8FC"/>
          </a:solidFill>
          <a:ln w="12700">
            <a:solidFill>
              <a:srgbClr val="D6DAE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635240" y="2084832"/>
            <a:ext cx="36576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5C61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50런 에너지 범위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7635240" y="2395728"/>
            <a:ext cx="36576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2F35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0.22</a:t>
            </a:r>
            <a:endParaRPr lang="en-US" sz="4000" dirty="0"/>
          </a:p>
        </p:txBody>
      </p:sp>
      <p:sp>
        <p:nvSpPr>
          <p:cNvPr id="9" name="Text 6"/>
          <p:cNvSpPr txBox="1"/>
          <p:nvPr/>
        </p:nvSpPr>
        <p:spPr>
          <a:xfrm>
            <a:off x="7635240" y="3035808"/>
            <a:ext cx="36576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61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kcal/mol  (반변 15)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35240" y="3401568"/>
            <a:ext cx="36576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5C61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지형이 평평하다 — 극단값 하나를 믿을 근거가 없다.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7360920" y="4206240"/>
            <a:ext cx="4206240" cy="1508760"/>
          </a:xfrm>
          <a:prstGeom prst="roundRect">
            <a:avLst>
              <a:gd name="adj" fmla="val 3636"/>
            </a:avLst>
          </a:prstGeom>
          <a:solidFill>
            <a:srgbClr val="EEF0FA"/>
          </a:solidFill>
          <a:ln w="12700">
            <a:solidFill>
              <a:srgbClr val="D6DAE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635240" y="4389120"/>
            <a:ext cx="36576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F35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조건 (재현성 필수)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7635240" y="4709160"/>
            <a:ext cx="36576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C1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--nrun 50 --seed 1</a:t>
            </a: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C1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--heuristics 0 --autostop 0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7635240" y="5349240"/>
            <a:ext cx="36576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C61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뒤 둘이 빠지면 런 수가 가변이 되어 재현성이 붕괴한다.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11018520" y="638251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1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65760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C06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BACKUP  B3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21792"/>
            <a:ext cx="10972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1C1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도킹이 단순 기술자를 앞서지만 n = 21 에서 차이는 확정적이지 않다</a:t>
            </a:r>
            <a:endParaRPr lang="en-US" sz="27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783080"/>
          <a:ext cx="62179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828800"/>
                <a:gridCol w="1645920"/>
              </a:tblGrid>
              <a:tr h="3337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기술자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5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ρ (실측 Km)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5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상동체 적용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596"/>
                    </a:solidFill>
                  </a:tcPr>
                </a:tc>
              </a:tr>
              <a:tr h="3337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359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ad_med_lig  (도킹)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59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0.903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C1E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37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C1E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ad_best_ds  (도킹)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C1E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0.876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C1E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37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C1E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ad_med_ds  (도킹)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C1E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0.856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C1E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37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C069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dchg  (변이 전하 변화)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069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0.815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69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불가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37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C1E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cdock  (C-Docker)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C1E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0.719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C1E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37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C1E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chg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C1E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0.594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C1E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불가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37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C1E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ev_dist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C1E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0.465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C1E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37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C1E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dvol / vol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C1E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0.458 / 0.439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C1E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불가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086600" y="1783080"/>
            <a:ext cx="4480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1C1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dchg 는 상동체에 적용할 수 없다. </a:t>
            </a:r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200" dirty="0">
                <a:solidFill>
                  <a:srgbClr val="1C1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변이체에만 정의되는 기술자이므로 족 전체로 확장하려면 도킹이 필요하다.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C06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도킹이 전하 이상의 정보를 담는지는 미확인. </a:t>
            </a:r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200" dirty="0">
                <a:solidFill>
                  <a:srgbClr val="C06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dchg 를 통제한 뒤 도킹의 증분 설명력을 288 전수로 확인해야 한다 — 계산만 하면 되며 아직 수행하지 않았다.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7086600" y="4160520"/>
            <a:ext cx="4480560" cy="1691640"/>
          </a:xfrm>
          <a:prstGeom prst="roundRect">
            <a:avLst>
              <a:gd name="adj" fmla="val 3243"/>
            </a:avLst>
          </a:prstGeom>
          <a:solidFill>
            <a:srgbClr val="F7F8FC"/>
          </a:solidFill>
          <a:ln w="12700">
            <a:solidFill>
              <a:srgbClr val="D6DAE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60920" y="4343400"/>
            <a:ext cx="393192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F35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8X9F 기하 (참고값)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7360920" y="4663440"/>
            <a:ext cx="393192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C1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체인 A 의 EV 무게중심이 그리드 중심에서 12.65 Å, 체인 A-2 는 16.89 Å. 두 EV 사이 28.03 Å 로 그리드 중심이 두 자리 사이에 놓인다. 1SU6 protomer 1 에 중첩 시 CA RMSD 0.28 Å.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11018520" y="638251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1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65760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C06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BACKUP  B4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21792"/>
            <a:ext cx="10972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1C1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고정 상수 — 세션 간 인터페이스</a:t>
            </a:r>
            <a:endParaRPr lang="en-US" sz="27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783080"/>
          <a:ext cx="109728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931920"/>
                <a:gridCol w="530352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5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값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5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근거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59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C1E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클러스터 임계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C1E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0.70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C1E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스윕 0.30–0.90 에서 선택. 초기 분석 219개 재현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C1E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박스 중심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59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각 구조의 41번 CA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C1E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CE2 는 상동체 11.7%(Ile 등)에 없음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C1E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박스 크기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59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npts 80 × 0.375 = 반변 15.000 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C1E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반변 18 이상에서 위치내 상관 0.93 → 0.78 붕괴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C1E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리간드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C1E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ev_ds.pdbqt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C1E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원자 16 / 전하합 1.998 / TORSDOF 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C1E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실행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C1E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--nrun 50 --seed 1 --heuristics 0 --autostop 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C1E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뒤 둘이 빠지면 런 수 가변 → 재현성 붕괴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C1E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 지표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C1E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med (50런 중앙값)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C1E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박스 섭동에 best 보다 강건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C1E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 점수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C1E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Wildtype ad_med_ds = −4.38, IQR 0.09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C1E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engines_288_CA_r15.csv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C1E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C1E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20260916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C1E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선정 · 분할 · 실험셋 재현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94360" y="5440680"/>
            <a:ext cx="10972800" cy="960120"/>
          </a:xfrm>
          <a:prstGeom prst="roundRect">
            <a:avLst>
              <a:gd name="adj" fmla="val 5714"/>
            </a:avLst>
          </a:prstGeom>
          <a:solidFill>
            <a:srgbClr val="FBEEE2"/>
          </a:solidFill>
          <a:ln w="12700">
            <a:solidFill>
              <a:srgbClr val="E8C9A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86968" y="5596128"/>
            <a:ext cx="10387584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C06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리간드를 obabel / prepare_ligand4 로 재생성하면 전하합이 +2 → 0.000 이 되어 신호가 통째로 사라진다.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86968" y="5925312"/>
            <a:ext cx="10387584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C1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 숫자는 정상 범위라 알아채기 어렵다. GPF 생성기 사용도 금지 — parameter_file None 줄이 autogrid4 SIGSEGV 를 일으킨다.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11018520" y="638251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1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65760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C06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BACKUP  B5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21792"/>
            <a:ext cx="10972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1C1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명시할 한계 네 가지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10972800" cy="1280160"/>
          </a:xfrm>
          <a:prstGeom prst="roundRect">
            <a:avLst>
              <a:gd name="adj" fmla="val 4286"/>
            </a:avLst>
          </a:prstGeom>
          <a:solidFill>
            <a:srgbClr val="FBEEE2"/>
          </a:solidFill>
          <a:ln w="12700">
            <a:solidFill>
              <a:srgbClr val="E8C9A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0392" y="1892808"/>
            <a:ext cx="365760" cy="365760"/>
          </a:xfrm>
          <a:prstGeom prst="ellipse">
            <a:avLst/>
          </a:prstGeom>
          <a:solidFill>
            <a:srgbClr val="C0692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50392" y="18928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344168" y="1874520"/>
            <a:ext cx="987552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C06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Fe-S 클러스터 부재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344168" y="2194560"/>
            <a:ext cx="987552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C1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FES(2Fe-2S)가 41번 CA 로부터 5.13 Å, 즉 결합 부위 바로 옆에 있으나 receptor_types 에 금속이 없어 두 세트 모두에서 빠져 있다. 비교는 내부적으로 일관되지만 정전기 환경은 불완전하다. AlphaFold 가 보조인자를 예측할 수 없어 대안이 없으며, 이 상태로도 실측 Km 상관 0.88 이 나온다는 사실은 순위 예측에 이 클러스터가 필수가 아님을 시사한다.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4360" y="3108960"/>
            <a:ext cx="10972800" cy="868680"/>
          </a:xfrm>
          <a:prstGeom prst="roundRect">
            <a:avLst>
              <a:gd name="adj" fmla="val 6316"/>
            </a:avLst>
          </a:prstGeom>
          <a:solidFill>
            <a:srgbClr val="F7F8FC"/>
          </a:solidFill>
          <a:ln w="12700">
            <a:solidFill>
              <a:srgbClr val="D6DA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0392" y="3310128"/>
            <a:ext cx="365760" cy="365760"/>
          </a:xfrm>
          <a:prstGeom prst="ellipse">
            <a:avLst/>
          </a:prstGeom>
          <a:solidFill>
            <a:srgbClr val="6A72C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50392" y="33101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291840"/>
            <a:ext cx="987552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C1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고유사도 상동체의 부재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344168" y="3611880"/>
            <a:ext cx="987552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C1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90% 이상이 3~4개, 62.5 – 72.5% 는 공백이다. 모델은 처음부터 30 – 50% 영역에서 일해야 한다.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" y="4114800"/>
            <a:ext cx="10972800" cy="868680"/>
          </a:xfrm>
          <a:prstGeom prst="roundRect">
            <a:avLst>
              <a:gd name="adj" fmla="val 6316"/>
            </a:avLst>
          </a:prstGeom>
          <a:solidFill>
            <a:srgbClr val="F7F8FC"/>
          </a:solidFill>
          <a:ln w="12700">
            <a:solidFill>
              <a:srgbClr val="D6DA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50392" y="4315968"/>
            <a:ext cx="365760" cy="365760"/>
          </a:xfrm>
          <a:prstGeom prst="ellipse">
            <a:avLst/>
          </a:prstGeom>
          <a:solidFill>
            <a:srgbClr val="6A72C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50392" y="4315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344168" y="4297680"/>
            <a:ext cx="987552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C1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저유사도 구간의 구조 신뢰도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344168" y="4617720"/>
            <a:ext cx="987552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C1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&lt; 30 구간의 조립 RMSD 가 가장 부정확하고 클러스터도 10개뿐이라, 학습 곡선의 마지막 증분이 7개에 그친다.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94360" y="5120640"/>
            <a:ext cx="10972800" cy="868680"/>
          </a:xfrm>
          <a:prstGeom prst="roundRect">
            <a:avLst>
              <a:gd name="adj" fmla="val 6316"/>
            </a:avLst>
          </a:prstGeom>
          <a:solidFill>
            <a:srgbClr val="F7F8FC"/>
          </a:solidFill>
          <a:ln w="12700">
            <a:solidFill>
              <a:srgbClr val="D6DA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0392" y="5321808"/>
            <a:ext cx="365760" cy="365760"/>
          </a:xfrm>
          <a:prstGeom prst="ellipse">
            <a:avLst/>
          </a:prstGeom>
          <a:solidFill>
            <a:srgbClr val="6A72C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50392" y="53218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344168" y="5303520"/>
            <a:ext cx="987552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C1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 예측 방법의 혼재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344168" y="5623560"/>
            <a:ext cx="987552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C1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321개 중 23개(7%)가 ColabFold 다. struct_source 로 기록했으며 도킹 후 mode · 임계충돌 · pLDDT 와 함께 회귀로 확인한다.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11018520" y="638251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1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65760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C06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BACKUP  B6  ·  외부 발표 전환용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21792"/>
            <a:ext cx="10972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1C1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외부로 옮길 때는 도킹 점수의 해석 범위를 명시해야 한다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94360" y="1783080"/>
            <a:ext cx="5577840" cy="868680"/>
          </a:xfrm>
          <a:prstGeom prst="roundRect">
            <a:avLst>
              <a:gd name="adj" fmla="val 6316"/>
            </a:avLst>
          </a:prstGeom>
          <a:solidFill>
            <a:srgbClr val="EEF0FA"/>
          </a:solidFill>
          <a:ln w="12700">
            <a:solidFill>
              <a:srgbClr val="D6DA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50392" y="1920240"/>
            <a:ext cx="5065776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5C61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내부 발표 — 직접 표현 사용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50392" y="2212848"/>
            <a:ext cx="5065776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F35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“EV 결합부위에 도킹하여 결합친화도를 예측한다”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46520" y="1783080"/>
            <a:ext cx="5120640" cy="868680"/>
          </a:xfrm>
          <a:prstGeom prst="roundRect">
            <a:avLst>
              <a:gd name="adj" fmla="val 6316"/>
            </a:avLst>
          </a:prstGeom>
          <a:solidFill>
            <a:srgbClr val="FBEEE2"/>
          </a:solidFill>
          <a:ln w="12700">
            <a:solidFill>
              <a:srgbClr val="E8C9A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02552" y="1920240"/>
            <a:ext cx="4608576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5C61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원고 · 발표 — 조정 필요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702552" y="2212848"/>
            <a:ext cx="4608576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C06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“41번 주변 변이 영역을 훑는 상자에서 얻은 점수가 실측 Km 과 상관한다”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2926080"/>
            <a:ext cx="109728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C1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— 이것은 자리 특이적 결합친화도의 직접 측정이 아니다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3291840"/>
            <a:ext cx="10972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1C1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50런 에너지 범위가 반변 15 에서 0.22 kcal/mol 이다. </a:t>
            </a:r>
            <a:pPr indent="0" marL="0">
              <a:lnSpc>
                <a:spcPct val="118000"/>
              </a:lnSpc>
              <a:spcAft>
                <a:spcPts val="1100"/>
              </a:spcAft>
              <a:buNone/>
            </a:pPr>
            <a:r>
              <a:rPr lang="en-US" sz="1200" dirty="0">
                <a:solidFill>
                  <a:srgbClr val="1C1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에너지 지형이 평평하다.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1C1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박스를 키우면 항상 더 먼 곳에 더 좋은 자리가 나타난다. </a:t>
            </a:r>
            <a:pPr indent="0" marL="0">
              <a:lnSpc>
                <a:spcPct val="118000"/>
              </a:lnSpc>
              <a:spcAft>
                <a:spcPts val="1100"/>
              </a:spcAft>
              <a:buNone/>
            </a:pPr>
            <a:r>
              <a:rPr lang="en-US" sz="1200" dirty="0">
                <a:solidFill>
                  <a:srgbClr val="1C1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17.23 → 21.42 → 23.62 Å — 수렴하는 결합 자리가 없다.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1100"/>
              </a:spcAft>
              <a:buNone/>
            </a:pPr>
            <a:r>
              <a:rPr lang="en-US" sz="1200" b="1" dirty="0">
                <a:solidFill>
                  <a:srgbClr val="1C1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8X9F 결정 EV 무게중심이 그리드 중심에서 12.65 Å 떨어져 있다.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1C1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MDW 와 GLW 변이체 결정구조에서 EV 위치가 서로 크게 다르다. </a:t>
            </a:r>
            <a:pPr indent="0" marL="0">
              <a:lnSpc>
                <a:spcPct val="118000"/>
              </a:lnSpc>
              <a:spcAft>
                <a:spcPts val="1100"/>
              </a:spcAft>
              <a:buNone/>
            </a:pPr>
            <a:r>
              <a:rPr lang="en-US" sz="1200" dirty="0">
                <a:solidFill>
                  <a:srgbClr val="1C1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결정학적 EV 자리는 보존되지 않으므로 박스 설계의 기준이 될 수 없다.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4360" y="5440680"/>
            <a:ext cx="10972800" cy="868680"/>
          </a:xfrm>
          <a:prstGeom prst="roundRect">
            <a:avLst>
              <a:gd name="adj" fmla="val 6316"/>
            </a:avLst>
          </a:prstGeom>
          <a:solidFill>
            <a:srgbClr val="F7F8FC"/>
          </a:solidFill>
          <a:ln w="12700">
            <a:solidFill>
              <a:srgbClr val="D6DAE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86968" y="5669280"/>
            <a:ext cx="10387584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F35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논문 제목의 enhanced electron mediator affinity 는 목표 서술이며, Results 에서는 순위 예측(ranking)으로 일관되게 기술한다.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11018520" y="638251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1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도킹 기반 pLM 증류 — 진척 보고 2026-09-16</dc:title>
  <dc:subject>PptxGenJS Presentation</dc:subject>
  <dc:creator>CODH project</dc:creator>
  <cp:lastModifiedBy>CODH project</cp:lastModifiedBy>
  <cp:revision>1</cp:revision>
  <dcterms:created xsi:type="dcterms:W3CDTF">2026-09-16T16:29:13Z</dcterms:created>
  <dcterms:modified xsi:type="dcterms:W3CDTF">2026-09-16T16:29:13Z</dcterms:modified>
</cp:coreProperties>
</file>