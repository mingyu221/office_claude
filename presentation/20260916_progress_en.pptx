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design decisions were frozen today; the rest of the deck gives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alone should carry the meeting; everything after it is supporting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regimes are complementary: variants tie the score to experiment, homologs test generalization. Neither alone is sufficient.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Docking is the label generator; the pLM is the predictor that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above the docking row was frozen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loss in Km predictive power is far larger than the loss in rank correlation. That is the argument.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alone do not convey that this is an interface site, hence the schematic.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CE2 fails is the crux. Position 41 is retained on mechanistic grounds.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that the switch is free. med_ds even rose.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A is a physically motivated boundary, not a compromise. Do not change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principles govern the whole selection protocol.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principle 1 in action: cluster first, gate only at representative selection.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Explains why we deviate from the proposed boundaries while keeping the intent.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and zero leakage are the headline. The per-bin caveat is stated up front.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 purpose and A's warm-start requirement are the likely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is that SF2 homologs must not be assembled against 1SU6; 6OND is used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this check the homolog scores would not be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this number the claim of predicting homolog ranking cannot be defended to a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3A"/>
        </a:solidFill>
      </p:bgPr>
    </p:bg>
    <p:spTree>
      <p:nvGrpSpPr>
        <p:cNvPr id="1" name=""/>
        <p:cNvGrpSpPr/>
        <p:nvPr/>
      </p:nvGrpSpPr>
      <p:grpSpPr>
        <a:xfrm>
          <a:off x="0" y="0"/>
          <a:ext cx="0" cy="0"/>
          <a:chOff x="0" y="0"/>
          <a:chExt cx="0" cy="0"/>
        </a:xfrm>
      </p:grpSpPr>
      <p:sp>
        <p:nvSpPr>
          <p:cNvPr id="2" name="Text 0"/>
          <p:cNvSpPr txBox="1"/>
          <p:nvPr/>
        </p:nvSpPr>
        <p:spPr>
          <a:xfrm>
            <a:off x="594360" y="1417320"/>
            <a:ext cx="10972800" cy="274320"/>
          </a:xfrm>
          <a:prstGeom prst="rect">
            <a:avLst/>
          </a:prstGeom>
          <a:noFill/>
          <a:ln/>
        </p:spPr>
        <p:txBody>
          <a:bodyPr wrap="square" lIns="0" tIns="0" rIns="0" bIns="0" rtlCol="0" anchor="ctr"/>
          <a:lstStyle/>
          <a:p>
            <a:pPr indent="0" marL="0">
              <a:buNone/>
            </a:pPr>
            <a:r>
              <a:rPr lang="en-US" sz="1250" b="1" spc="170" kern="0" dirty="0">
                <a:solidFill>
                  <a:srgbClr val="C0692B"/>
                </a:solidFill>
                <a:latin typeface="Calibri" pitchFamily="34" charset="0"/>
                <a:ea typeface="Calibri" pitchFamily="34" charset="-122"/>
                <a:cs typeface="Calibri" pitchFamily="34" charset="-120"/>
              </a:rPr>
              <a:t>PROGRESS REPORT  ·  2026-09-16</a:t>
            </a:r>
            <a:endParaRPr lang="en-US" sz="1250" dirty="0"/>
          </a:p>
        </p:txBody>
      </p:sp>
      <p:sp>
        <p:nvSpPr>
          <p:cNvPr id="3" name="Text 1"/>
          <p:cNvSpPr txBox="1"/>
          <p:nvPr/>
        </p:nvSpPr>
        <p:spPr>
          <a:xfrm>
            <a:off x="594360" y="1874520"/>
            <a:ext cx="10424160" cy="1920240"/>
          </a:xfrm>
          <a:prstGeom prst="rect">
            <a:avLst/>
          </a:prstGeom>
          <a:noFill/>
          <a:ln/>
        </p:spPr>
        <p:txBody>
          <a:bodyPr wrap="square" lIns="0" tIns="0" rIns="0" bIns="0" rtlCol="0" anchor="ctr"/>
          <a:lstStyle/>
          <a:p>
            <a:pPr indent="0" marL="0">
              <a:lnSpc>
                <a:spcPct val="116000"/>
              </a:lnSpc>
              <a:buNone/>
            </a:pPr>
            <a:r>
              <a:rPr lang="en-US" sz="3200" b="1" dirty="0">
                <a:solidFill>
                  <a:srgbClr val="FFFFFF"/>
                </a:solidFill>
                <a:latin typeface="Calibri" pitchFamily="34" charset="0"/>
                <a:ea typeface="Calibri" pitchFamily="34" charset="-122"/>
                <a:cs typeface="Calibri" pitchFamily="34" charset="-120"/>
              </a:rPr>
              <a:t>Engineering CO dehydrogenases with</a:t>
            </a:r>
            <a:endParaRPr lang="en-US" sz="3200" dirty="0"/>
          </a:p>
          <a:p>
            <a:pPr indent="0" marL="0">
              <a:lnSpc>
                <a:spcPct val="116000"/>
              </a:lnSpc>
              <a:buNone/>
            </a:pPr>
            <a:r>
              <a:rPr lang="en-US" sz="3200" b="1" dirty="0">
                <a:solidFill>
                  <a:srgbClr val="FFFFFF"/>
                </a:solidFill>
                <a:latin typeface="Calibri" pitchFamily="34" charset="0"/>
                <a:ea typeface="Calibri" pitchFamily="34" charset="-122"/>
                <a:cs typeface="Calibri" pitchFamily="34" charset="-120"/>
              </a:rPr>
              <a:t>enhanced electron mediator affinity through</a:t>
            </a:r>
            <a:endParaRPr lang="en-US" sz="3200" dirty="0"/>
          </a:p>
          <a:p>
            <a:pPr indent="0" marL="0">
              <a:lnSpc>
                <a:spcPct val="116000"/>
              </a:lnSpc>
              <a:buNone/>
            </a:pPr>
            <a:r>
              <a:rPr lang="en-US" sz="3200" b="1" dirty="0">
                <a:solidFill>
                  <a:srgbClr val="FFFFFF"/>
                </a:solidFill>
                <a:latin typeface="Calibri" pitchFamily="34" charset="0"/>
                <a:ea typeface="Calibri" pitchFamily="34" charset="-122"/>
                <a:cs typeface="Calibri" pitchFamily="34" charset="-120"/>
              </a:rPr>
              <a:t>docking-distilled protein language models</a:t>
            </a:r>
            <a:endParaRPr lang="en-US" sz="3200" dirty="0"/>
          </a:p>
        </p:txBody>
      </p:sp>
      <p:sp>
        <p:nvSpPr>
          <p:cNvPr id="4" name="Text 2"/>
          <p:cNvSpPr txBox="1"/>
          <p:nvPr/>
        </p:nvSpPr>
        <p:spPr>
          <a:xfrm>
            <a:off x="594360" y="3950208"/>
            <a:ext cx="10424160" cy="365760"/>
          </a:xfrm>
          <a:prstGeom prst="rect">
            <a:avLst/>
          </a:prstGeom>
          <a:noFill/>
          <a:ln/>
        </p:spPr>
        <p:txBody>
          <a:bodyPr wrap="square" lIns="0" tIns="0" rIns="0" bIns="0" rtlCol="0" anchor="ctr"/>
          <a:lstStyle/>
          <a:p>
            <a:pPr indent="0" marL="0">
              <a:buNone/>
            </a:pPr>
            <a:r>
              <a:rPr lang="en-US" sz="1400" dirty="0">
                <a:solidFill>
                  <a:srgbClr val="A8AECF"/>
                </a:solidFill>
                <a:latin typeface="Calibri" pitchFamily="34" charset="0"/>
                <a:ea typeface="Calibri" pitchFamily="34" charset="-122"/>
                <a:cs typeface="Calibri" pitchFamily="34" charset="-120"/>
              </a:rPr>
              <a:t>Ranking the IPR010047 family by mediator affinity from sequence alone</a:t>
            </a:r>
            <a:endParaRPr lang="en-US" sz="1400" dirty="0"/>
          </a:p>
        </p:txBody>
      </p:sp>
      <p:sp>
        <p:nvSpPr>
          <p:cNvPr id="5" name="Shape 3"/>
          <p:cNvSpPr/>
          <p:nvPr/>
        </p:nvSpPr>
        <p:spPr>
          <a:xfrm>
            <a:off x="594360" y="4892040"/>
            <a:ext cx="2578608" cy="457200"/>
          </a:xfrm>
          <a:prstGeom prst="roundRect">
            <a:avLst>
              <a:gd name="adj" fmla="val 10000"/>
            </a:avLst>
          </a:prstGeom>
          <a:solidFill>
            <a:srgbClr val="242764"/>
          </a:solidFill>
          <a:ln/>
        </p:spPr>
      </p:sp>
      <p:sp>
        <p:nvSpPr>
          <p:cNvPr id="6" name="Text 4"/>
          <p:cNvSpPr txBox="1"/>
          <p:nvPr/>
        </p:nvSpPr>
        <p:spPr>
          <a:xfrm>
            <a:off x="649224" y="4892040"/>
            <a:ext cx="2468880" cy="457200"/>
          </a:xfrm>
          <a:prstGeom prst="rect">
            <a:avLst/>
          </a:prstGeom>
          <a:noFill/>
          <a:ln/>
        </p:spPr>
        <p:txBody>
          <a:bodyPr wrap="square" lIns="0" tIns="0" rIns="0" bIns="0" rtlCol="0" anchor="ctr"/>
          <a:lstStyle/>
          <a:p>
            <a:pPr algn="ctr" indent="0" marL="0">
              <a:lnSpc>
                <a:spcPct val="103000"/>
              </a:lnSpc>
              <a:buNone/>
            </a:pPr>
            <a:r>
              <a:rPr lang="en-US" sz="1150" b="1" dirty="0">
                <a:solidFill>
                  <a:srgbClr val="FFFFFF"/>
                </a:solidFill>
                <a:latin typeface="Calibri" pitchFamily="34" charset="0"/>
                <a:ea typeface="Calibri" pitchFamily="34" charset="-122"/>
                <a:cs typeface="Calibri" pitchFamily="34" charset="-120"/>
              </a:rPr>
              <a:t>①  Receptor = dimer</a:t>
            </a:r>
            <a:endParaRPr lang="en-US" sz="1150" dirty="0"/>
          </a:p>
        </p:txBody>
      </p:sp>
      <p:sp>
        <p:nvSpPr>
          <p:cNvPr id="7" name="Shape 5"/>
          <p:cNvSpPr/>
          <p:nvPr/>
        </p:nvSpPr>
        <p:spPr>
          <a:xfrm>
            <a:off x="3337560" y="4892040"/>
            <a:ext cx="2578608" cy="457200"/>
          </a:xfrm>
          <a:prstGeom prst="roundRect">
            <a:avLst>
              <a:gd name="adj" fmla="val 10000"/>
            </a:avLst>
          </a:prstGeom>
          <a:solidFill>
            <a:srgbClr val="242764"/>
          </a:solidFill>
          <a:ln/>
        </p:spPr>
      </p:sp>
      <p:sp>
        <p:nvSpPr>
          <p:cNvPr id="8" name="Text 6"/>
          <p:cNvSpPr txBox="1"/>
          <p:nvPr/>
        </p:nvSpPr>
        <p:spPr>
          <a:xfrm>
            <a:off x="3392424" y="4892040"/>
            <a:ext cx="2468880" cy="457200"/>
          </a:xfrm>
          <a:prstGeom prst="rect">
            <a:avLst/>
          </a:prstGeom>
          <a:noFill/>
          <a:ln/>
        </p:spPr>
        <p:txBody>
          <a:bodyPr wrap="square" lIns="0" tIns="0" rIns="0" bIns="0" rtlCol="0" anchor="ctr"/>
          <a:lstStyle/>
          <a:p>
            <a:pPr algn="ctr" indent="0" marL="0">
              <a:lnSpc>
                <a:spcPct val="103000"/>
              </a:lnSpc>
              <a:buNone/>
            </a:pPr>
            <a:r>
              <a:rPr lang="en-US" sz="1150" b="1" dirty="0">
                <a:solidFill>
                  <a:srgbClr val="FFFFFF"/>
                </a:solidFill>
                <a:latin typeface="Calibri" pitchFamily="34" charset="0"/>
                <a:ea typeface="Calibri" pitchFamily="34" charset="-122"/>
                <a:cs typeface="Calibri" pitchFamily="34" charset="-120"/>
              </a:rPr>
              <a:t>②  Center = residue-41 CA</a:t>
            </a:r>
            <a:endParaRPr lang="en-US" sz="1150" dirty="0"/>
          </a:p>
        </p:txBody>
      </p:sp>
      <p:sp>
        <p:nvSpPr>
          <p:cNvPr id="9" name="Shape 7"/>
          <p:cNvSpPr/>
          <p:nvPr/>
        </p:nvSpPr>
        <p:spPr>
          <a:xfrm>
            <a:off x="6080760" y="4892040"/>
            <a:ext cx="2578608" cy="457200"/>
          </a:xfrm>
          <a:prstGeom prst="roundRect">
            <a:avLst>
              <a:gd name="adj" fmla="val 10000"/>
            </a:avLst>
          </a:prstGeom>
          <a:solidFill>
            <a:srgbClr val="242764"/>
          </a:solidFill>
          <a:ln/>
        </p:spPr>
      </p:sp>
      <p:sp>
        <p:nvSpPr>
          <p:cNvPr id="10" name="Text 8"/>
          <p:cNvSpPr txBox="1"/>
          <p:nvPr/>
        </p:nvSpPr>
        <p:spPr>
          <a:xfrm>
            <a:off x="6135624" y="4892040"/>
            <a:ext cx="2468880" cy="457200"/>
          </a:xfrm>
          <a:prstGeom prst="rect">
            <a:avLst/>
          </a:prstGeom>
          <a:noFill/>
          <a:ln/>
        </p:spPr>
        <p:txBody>
          <a:bodyPr wrap="square" lIns="0" tIns="0" rIns="0" bIns="0" rtlCol="0" anchor="ctr"/>
          <a:lstStyle/>
          <a:p>
            <a:pPr algn="ctr" indent="0" marL="0">
              <a:lnSpc>
                <a:spcPct val="103000"/>
              </a:lnSpc>
              <a:buNone/>
            </a:pPr>
            <a:r>
              <a:rPr lang="en-US" sz="1150" b="1" dirty="0">
                <a:solidFill>
                  <a:srgbClr val="FFFFFF"/>
                </a:solidFill>
                <a:latin typeface="Calibri" pitchFamily="34" charset="0"/>
                <a:ea typeface="Calibri" pitchFamily="34" charset="-122"/>
                <a:cs typeface="Calibri" pitchFamily="34" charset="-120"/>
              </a:rPr>
              <a:t>③  157 train / 55 eval</a:t>
            </a:r>
            <a:endParaRPr lang="en-US" sz="1150" dirty="0"/>
          </a:p>
        </p:txBody>
      </p:sp>
      <p:sp>
        <p:nvSpPr>
          <p:cNvPr id="11" name="Shape 9"/>
          <p:cNvSpPr/>
          <p:nvPr/>
        </p:nvSpPr>
        <p:spPr>
          <a:xfrm>
            <a:off x="8823960" y="4892040"/>
            <a:ext cx="2578608" cy="457200"/>
          </a:xfrm>
          <a:prstGeom prst="roundRect">
            <a:avLst>
              <a:gd name="adj" fmla="val 10000"/>
            </a:avLst>
          </a:prstGeom>
          <a:solidFill>
            <a:srgbClr val="242764"/>
          </a:solidFill>
          <a:ln/>
        </p:spPr>
      </p:sp>
      <p:sp>
        <p:nvSpPr>
          <p:cNvPr id="12" name="Text 10"/>
          <p:cNvSpPr txBox="1"/>
          <p:nvPr/>
        </p:nvSpPr>
        <p:spPr>
          <a:xfrm>
            <a:off x="8878824" y="4892040"/>
            <a:ext cx="2468880" cy="457200"/>
          </a:xfrm>
          <a:prstGeom prst="rect">
            <a:avLst/>
          </a:prstGeom>
          <a:noFill/>
          <a:ln/>
        </p:spPr>
        <p:txBody>
          <a:bodyPr wrap="square" lIns="0" tIns="0" rIns="0" bIns="0" rtlCol="0" anchor="ctr"/>
          <a:lstStyle/>
          <a:p>
            <a:pPr algn="ctr" indent="0" marL="0">
              <a:lnSpc>
                <a:spcPct val="103000"/>
              </a:lnSpc>
              <a:buNone/>
            </a:pPr>
            <a:r>
              <a:rPr lang="en-US" sz="1150" b="1" dirty="0">
                <a:solidFill>
                  <a:srgbClr val="FFFFFF"/>
                </a:solidFill>
                <a:latin typeface="Calibri" pitchFamily="34" charset="0"/>
                <a:ea typeface="Calibri" pitchFamily="34" charset="-122"/>
                <a:cs typeface="Calibri" pitchFamily="34" charset="-120"/>
              </a:rPr>
              <a:t>④  321 dimers assembled</a:t>
            </a:r>
            <a:endParaRPr lang="en-US" sz="1150" dirty="0"/>
          </a:p>
        </p:txBody>
      </p:sp>
      <p:sp>
        <p:nvSpPr>
          <p:cNvPr id="14" name="Text 11"/>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A8AECF"/>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SUMMARY</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Four design decisions were frozen today</a:t>
            </a:r>
            <a:endParaRPr lang="en-US" sz="2600" dirty="0"/>
          </a:p>
        </p:txBody>
      </p:sp>
      <p:sp>
        <p:nvSpPr>
          <p:cNvPr id="4" name="Shape 2"/>
          <p:cNvSpPr/>
          <p:nvPr/>
        </p:nvSpPr>
        <p:spPr>
          <a:xfrm>
            <a:off x="594360" y="1645920"/>
            <a:ext cx="5349240" cy="1783080"/>
          </a:xfrm>
          <a:prstGeom prst="roundRect">
            <a:avLst>
              <a:gd name="adj" fmla="val 3077"/>
            </a:avLst>
          </a:prstGeom>
          <a:solidFill>
            <a:srgbClr val="F7F8FC"/>
          </a:solidFill>
          <a:ln w="12700">
            <a:solidFill>
              <a:srgbClr val="D6DAEE"/>
            </a:solidFill>
            <a:prstDash val="solid"/>
          </a:ln>
        </p:spPr>
      </p:sp>
      <p:sp>
        <p:nvSpPr>
          <p:cNvPr id="5" name="Shape 3"/>
          <p:cNvSpPr/>
          <p:nvPr/>
        </p:nvSpPr>
        <p:spPr>
          <a:xfrm>
            <a:off x="868680" y="1901952"/>
            <a:ext cx="402336" cy="402336"/>
          </a:xfrm>
          <a:prstGeom prst="ellipse">
            <a:avLst/>
          </a:prstGeom>
          <a:solidFill>
            <a:srgbClr val="2F3596"/>
          </a:solidFill>
          <a:ln/>
        </p:spPr>
      </p:sp>
      <p:sp>
        <p:nvSpPr>
          <p:cNvPr id="6" name="Text 4"/>
          <p:cNvSpPr txBox="1"/>
          <p:nvPr/>
        </p:nvSpPr>
        <p:spPr>
          <a:xfrm>
            <a:off x="868680" y="1901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①</a:t>
            </a:r>
            <a:endParaRPr lang="en-US" sz="1400" dirty="0"/>
          </a:p>
        </p:txBody>
      </p:sp>
      <p:sp>
        <p:nvSpPr>
          <p:cNvPr id="7" name="Text 5"/>
          <p:cNvSpPr txBox="1"/>
          <p:nvPr/>
        </p:nvSpPr>
        <p:spPr>
          <a:xfrm>
            <a:off x="1380744" y="1975104"/>
            <a:ext cx="4251960" cy="0"/>
          </a:xfrm>
          <a:prstGeom prst="rect">
            <a:avLst/>
          </a:prstGeom>
          <a:noFill/>
          <a:ln/>
        </p:spPr>
        <p:txBody>
          <a:bodyPr wrap="square" lIns="0" tIns="0" rIns="0" bIns="0" rtlCol="0" anchor="t"/>
          <a:lstStyle/>
          <a:p>
            <a:pPr algn="l" indent="0" marL="0">
              <a:lnSpc>
                <a:spcPct val="113000"/>
              </a:lnSpc>
              <a:buNone/>
            </a:pPr>
            <a:r>
              <a:rPr lang="en-US" sz="1250" b="1" dirty="0">
                <a:solidFill>
                  <a:srgbClr val="5C6180"/>
                </a:solidFill>
                <a:latin typeface="Calibri" pitchFamily="34" charset="0"/>
                <a:ea typeface="Calibri" pitchFamily="34" charset="-122"/>
                <a:cs typeface="Calibri" pitchFamily="34" charset="-120"/>
              </a:rPr>
              <a:t>Receptor</a:t>
            </a:r>
            <a:endParaRPr lang="en-US" sz="1250" dirty="0"/>
          </a:p>
        </p:txBody>
      </p:sp>
      <p:sp>
        <p:nvSpPr>
          <p:cNvPr id="8" name="Text 6"/>
          <p:cNvSpPr txBox="1"/>
          <p:nvPr/>
        </p:nvSpPr>
        <p:spPr>
          <a:xfrm>
            <a:off x="868680" y="2432304"/>
            <a:ext cx="4800600" cy="0"/>
          </a:xfrm>
          <a:prstGeom prst="rect">
            <a:avLst/>
          </a:prstGeom>
          <a:noFill/>
          <a:ln/>
        </p:spPr>
        <p:txBody>
          <a:bodyPr wrap="square" lIns="0" tIns="0" rIns="0" bIns="0" rtlCol="0" anchor="t"/>
          <a:lstStyle/>
          <a:p>
            <a:pPr algn="l" indent="0" marL="0">
              <a:lnSpc>
                <a:spcPct val="113000"/>
              </a:lnSpc>
              <a:buNone/>
            </a:pPr>
            <a:r>
              <a:rPr lang="en-US" sz="2100" b="1" dirty="0">
                <a:solidFill>
                  <a:srgbClr val="2F3596"/>
                </a:solidFill>
                <a:latin typeface="Calibri" pitchFamily="34" charset="0"/>
                <a:ea typeface="Calibri" pitchFamily="34" charset="-122"/>
                <a:cs typeface="Calibri" pitchFamily="34" charset="-120"/>
              </a:rPr>
              <a:t>Dimer</a:t>
            </a:r>
            <a:endParaRPr lang="en-US" sz="2100" dirty="0"/>
          </a:p>
        </p:txBody>
      </p:sp>
      <p:sp>
        <p:nvSpPr>
          <p:cNvPr id="9" name="Text 7"/>
          <p:cNvSpPr txBox="1"/>
          <p:nvPr/>
        </p:nvSpPr>
        <p:spPr>
          <a:xfrm>
            <a:off x="868680" y="2889504"/>
            <a:ext cx="4800600" cy="0"/>
          </a:xfrm>
          <a:prstGeom prst="rect">
            <a:avLst/>
          </a:prstGeom>
          <a:noFill/>
          <a:ln/>
        </p:spPr>
        <p:txBody>
          <a:bodyPr wrap="square" lIns="0" tIns="0" rIns="0" bIns="0" rtlCol="0" anchor="t"/>
          <a:lstStyle/>
          <a:p>
            <a:pPr algn="l" indent="0" marL="0">
              <a:lnSpc>
                <a:spcPct val="113000"/>
              </a:lnSpc>
              <a:buNone/>
            </a:pPr>
            <a:r>
              <a:rPr lang="en-US" sz="1200" dirty="0">
                <a:solidFill>
                  <a:srgbClr val="1C1E33"/>
                </a:solidFill>
                <a:latin typeface="Calibri" pitchFamily="34" charset="0"/>
                <a:ea typeface="Calibri" pitchFamily="34" charset="-122"/>
                <a:cs typeface="Calibri" pitchFamily="34" charset="-120"/>
              </a:rPr>
              <a:t>Monomer rejected — correlation with measured Km collapses from 0.88 to 0.55.</a:t>
            </a:r>
            <a:endParaRPr lang="en-US" sz="1200" dirty="0"/>
          </a:p>
        </p:txBody>
      </p:sp>
      <p:sp>
        <p:nvSpPr>
          <p:cNvPr id="10" name="Shape 8"/>
          <p:cNvSpPr/>
          <p:nvPr/>
        </p:nvSpPr>
        <p:spPr>
          <a:xfrm>
            <a:off x="6217920" y="1645920"/>
            <a:ext cx="5349240" cy="1783080"/>
          </a:xfrm>
          <a:prstGeom prst="roundRect">
            <a:avLst>
              <a:gd name="adj" fmla="val 3077"/>
            </a:avLst>
          </a:prstGeom>
          <a:solidFill>
            <a:srgbClr val="F7F8FC"/>
          </a:solidFill>
          <a:ln w="12700">
            <a:solidFill>
              <a:srgbClr val="D6DAEE"/>
            </a:solidFill>
            <a:prstDash val="solid"/>
          </a:ln>
        </p:spPr>
      </p:sp>
      <p:sp>
        <p:nvSpPr>
          <p:cNvPr id="11" name="Shape 9"/>
          <p:cNvSpPr/>
          <p:nvPr/>
        </p:nvSpPr>
        <p:spPr>
          <a:xfrm>
            <a:off x="6492240" y="1901952"/>
            <a:ext cx="402336" cy="402336"/>
          </a:xfrm>
          <a:prstGeom prst="ellipse">
            <a:avLst/>
          </a:prstGeom>
          <a:solidFill>
            <a:srgbClr val="2F3596"/>
          </a:solidFill>
          <a:ln/>
        </p:spPr>
      </p:sp>
      <p:sp>
        <p:nvSpPr>
          <p:cNvPr id="12" name="Text 10"/>
          <p:cNvSpPr txBox="1"/>
          <p:nvPr/>
        </p:nvSpPr>
        <p:spPr>
          <a:xfrm>
            <a:off x="6492240" y="19019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②</a:t>
            </a:r>
            <a:endParaRPr lang="en-US" sz="1400" dirty="0"/>
          </a:p>
        </p:txBody>
      </p:sp>
      <p:sp>
        <p:nvSpPr>
          <p:cNvPr id="13" name="Text 11"/>
          <p:cNvSpPr txBox="1"/>
          <p:nvPr/>
        </p:nvSpPr>
        <p:spPr>
          <a:xfrm>
            <a:off x="7004304" y="1975104"/>
            <a:ext cx="4251960" cy="0"/>
          </a:xfrm>
          <a:prstGeom prst="rect">
            <a:avLst/>
          </a:prstGeom>
          <a:noFill/>
          <a:ln/>
        </p:spPr>
        <p:txBody>
          <a:bodyPr wrap="square" lIns="0" tIns="0" rIns="0" bIns="0" rtlCol="0" anchor="t"/>
          <a:lstStyle/>
          <a:p>
            <a:pPr algn="l" indent="0" marL="0">
              <a:lnSpc>
                <a:spcPct val="113000"/>
              </a:lnSpc>
              <a:buNone/>
            </a:pPr>
            <a:r>
              <a:rPr lang="en-US" sz="1250" b="1" dirty="0">
                <a:solidFill>
                  <a:srgbClr val="5C6180"/>
                </a:solidFill>
                <a:latin typeface="Calibri" pitchFamily="34" charset="0"/>
                <a:ea typeface="Calibri" pitchFamily="34" charset="-122"/>
                <a:cs typeface="Calibri" pitchFamily="34" charset="-120"/>
              </a:rPr>
              <a:t>Grid center</a:t>
            </a:r>
            <a:endParaRPr lang="en-US" sz="1250" dirty="0"/>
          </a:p>
        </p:txBody>
      </p:sp>
      <p:sp>
        <p:nvSpPr>
          <p:cNvPr id="14" name="Text 12"/>
          <p:cNvSpPr txBox="1"/>
          <p:nvPr/>
        </p:nvSpPr>
        <p:spPr>
          <a:xfrm>
            <a:off x="6492240" y="2432304"/>
            <a:ext cx="4800600" cy="0"/>
          </a:xfrm>
          <a:prstGeom prst="rect">
            <a:avLst/>
          </a:prstGeom>
          <a:noFill/>
          <a:ln/>
        </p:spPr>
        <p:txBody>
          <a:bodyPr wrap="square" lIns="0" tIns="0" rIns="0" bIns="0" rtlCol="0" anchor="t"/>
          <a:lstStyle/>
          <a:p>
            <a:pPr algn="l" indent="0" marL="0">
              <a:lnSpc>
                <a:spcPct val="113000"/>
              </a:lnSpc>
              <a:buNone/>
            </a:pPr>
            <a:r>
              <a:rPr lang="en-US" sz="2100" b="1" dirty="0">
                <a:solidFill>
                  <a:srgbClr val="2F3596"/>
                </a:solidFill>
                <a:latin typeface="Calibri" pitchFamily="34" charset="0"/>
                <a:ea typeface="Calibri" pitchFamily="34" charset="-122"/>
                <a:cs typeface="Calibri" pitchFamily="34" charset="-120"/>
              </a:rPr>
              <a:t>F41 CE2 → residue-41 CA</a:t>
            </a:r>
            <a:endParaRPr lang="en-US" sz="2100" dirty="0"/>
          </a:p>
        </p:txBody>
      </p:sp>
      <p:sp>
        <p:nvSpPr>
          <p:cNvPr id="15" name="Text 13"/>
          <p:cNvSpPr txBox="1"/>
          <p:nvPr/>
        </p:nvSpPr>
        <p:spPr>
          <a:xfrm>
            <a:off x="6492240" y="2889504"/>
            <a:ext cx="4800600" cy="0"/>
          </a:xfrm>
          <a:prstGeom prst="rect">
            <a:avLst/>
          </a:prstGeom>
          <a:noFill/>
          <a:ln/>
        </p:spPr>
        <p:txBody>
          <a:bodyPr wrap="square" lIns="0" tIns="0" rIns="0" bIns="0" rtlCol="0" anchor="t"/>
          <a:lstStyle/>
          <a:p>
            <a:pPr algn="l" indent="0" marL="0">
              <a:lnSpc>
                <a:spcPct val="113000"/>
              </a:lnSpc>
              <a:buNone/>
            </a:pPr>
            <a:r>
              <a:rPr lang="en-US" sz="1200" dirty="0">
                <a:solidFill>
                  <a:srgbClr val="1C1E33"/>
                </a:solidFill>
                <a:latin typeface="Calibri" pitchFamily="34" charset="0"/>
                <a:ea typeface="Calibri" pitchFamily="34" charset="-122"/>
                <a:cs typeface="Calibri" pitchFamily="34" charset="-120"/>
              </a:rPr>
              <a:t>Equivalent (ρ 0.968), and applicable sequences rise from 1,613 to 1,750.</a:t>
            </a:r>
            <a:endParaRPr lang="en-US" sz="1200" dirty="0"/>
          </a:p>
        </p:txBody>
      </p:sp>
      <p:sp>
        <p:nvSpPr>
          <p:cNvPr id="16" name="Shape 14"/>
          <p:cNvSpPr/>
          <p:nvPr/>
        </p:nvSpPr>
        <p:spPr>
          <a:xfrm>
            <a:off x="594360" y="3685032"/>
            <a:ext cx="5349240" cy="1783080"/>
          </a:xfrm>
          <a:prstGeom prst="roundRect">
            <a:avLst>
              <a:gd name="adj" fmla="val 3077"/>
            </a:avLst>
          </a:prstGeom>
          <a:solidFill>
            <a:srgbClr val="F7F8FC"/>
          </a:solidFill>
          <a:ln w="12700">
            <a:solidFill>
              <a:srgbClr val="D6DAEE"/>
            </a:solidFill>
            <a:prstDash val="solid"/>
          </a:ln>
        </p:spPr>
      </p:sp>
      <p:sp>
        <p:nvSpPr>
          <p:cNvPr id="17" name="Shape 15"/>
          <p:cNvSpPr/>
          <p:nvPr/>
        </p:nvSpPr>
        <p:spPr>
          <a:xfrm>
            <a:off x="868680" y="3941064"/>
            <a:ext cx="402336" cy="402336"/>
          </a:xfrm>
          <a:prstGeom prst="ellipse">
            <a:avLst/>
          </a:prstGeom>
          <a:solidFill>
            <a:srgbClr val="2F3596"/>
          </a:solidFill>
          <a:ln/>
        </p:spPr>
      </p:sp>
      <p:sp>
        <p:nvSpPr>
          <p:cNvPr id="18" name="Text 16"/>
          <p:cNvSpPr txBox="1"/>
          <p:nvPr/>
        </p:nvSpPr>
        <p:spPr>
          <a:xfrm>
            <a:off x="868680" y="39410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③</a:t>
            </a:r>
            <a:endParaRPr lang="en-US" sz="1400" dirty="0"/>
          </a:p>
        </p:txBody>
      </p:sp>
      <p:sp>
        <p:nvSpPr>
          <p:cNvPr id="19" name="Text 17"/>
          <p:cNvSpPr txBox="1"/>
          <p:nvPr/>
        </p:nvSpPr>
        <p:spPr>
          <a:xfrm>
            <a:off x="1380744" y="4014216"/>
            <a:ext cx="4251960" cy="0"/>
          </a:xfrm>
          <a:prstGeom prst="rect">
            <a:avLst/>
          </a:prstGeom>
          <a:noFill/>
          <a:ln/>
        </p:spPr>
        <p:txBody>
          <a:bodyPr wrap="square" lIns="0" tIns="0" rIns="0" bIns="0" rtlCol="0" anchor="t"/>
          <a:lstStyle/>
          <a:p>
            <a:pPr algn="l" indent="0" marL="0">
              <a:lnSpc>
                <a:spcPct val="113000"/>
              </a:lnSpc>
              <a:buNone/>
            </a:pPr>
            <a:r>
              <a:rPr lang="en-US" sz="1250" b="1" dirty="0">
                <a:solidFill>
                  <a:srgbClr val="5C6180"/>
                </a:solidFill>
                <a:latin typeface="Calibri" pitchFamily="34" charset="0"/>
                <a:ea typeface="Calibri" pitchFamily="34" charset="-122"/>
                <a:cs typeface="Calibri" pitchFamily="34" charset="-120"/>
              </a:rPr>
              <a:t>Dataset</a:t>
            </a:r>
            <a:endParaRPr lang="en-US" sz="1250" dirty="0"/>
          </a:p>
        </p:txBody>
      </p:sp>
      <p:sp>
        <p:nvSpPr>
          <p:cNvPr id="20" name="Text 18"/>
          <p:cNvSpPr txBox="1"/>
          <p:nvPr/>
        </p:nvSpPr>
        <p:spPr>
          <a:xfrm>
            <a:off x="868680" y="4471416"/>
            <a:ext cx="4800600" cy="0"/>
          </a:xfrm>
          <a:prstGeom prst="rect">
            <a:avLst/>
          </a:prstGeom>
          <a:noFill/>
          <a:ln/>
        </p:spPr>
        <p:txBody>
          <a:bodyPr wrap="square" lIns="0" tIns="0" rIns="0" bIns="0" rtlCol="0" anchor="t"/>
          <a:lstStyle/>
          <a:p>
            <a:pPr algn="l" indent="0" marL="0">
              <a:lnSpc>
                <a:spcPct val="113000"/>
              </a:lnSpc>
              <a:buNone/>
            </a:pPr>
            <a:r>
              <a:rPr lang="en-US" sz="2100" b="1" dirty="0">
                <a:solidFill>
                  <a:srgbClr val="2F3596"/>
                </a:solidFill>
                <a:latin typeface="Calibri" pitchFamily="34" charset="0"/>
                <a:ea typeface="Calibri" pitchFamily="34" charset="-122"/>
                <a:cs typeface="Calibri" pitchFamily="34" charset="-120"/>
              </a:rPr>
              <a:t>157 train / 55 eval</a:t>
            </a:r>
            <a:endParaRPr lang="en-US" sz="2100" dirty="0"/>
          </a:p>
        </p:txBody>
      </p:sp>
      <p:sp>
        <p:nvSpPr>
          <p:cNvPr id="21" name="Text 19"/>
          <p:cNvSpPr txBox="1"/>
          <p:nvPr/>
        </p:nvSpPr>
        <p:spPr>
          <a:xfrm>
            <a:off x="868680" y="4928616"/>
            <a:ext cx="4800600" cy="0"/>
          </a:xfrm>
          <a:prstGeom prst="rect">
            <a:avLst/>
          </a:prstGeom>
          <a:noFill/>
          <a:ln/>
        </p:spPr>
        <p:txBody>
          <a:bodyPr wrap="square" lIns="0" tIns="0" rIns="0" bIns="0" rtlCol="0" anchor="t"/>
          <a:lstStyle/>
          <a:p>
            <a:pPr algn="l" indent="0" marL="0">
              <a:lnSpc>
                <a:spcPct val="113000"/>
              </a:lnSpc>
              <a:buNone/>
            </a:pPr>
            <a:r>
              <a:rPr lang="en-US" sz="1200" dirty="0">
                <a:solidFill>
                  <a:srgbClr val="1C1E33"/>
                </a:solidFill>
                <a:latin typeface="Calibri" pitchFamily="34" charset="0"/>
                <a:ea typeface="Calibri" pitchFamily="34" charset="-122"/>
                <a:cs typeface="Calibri" pitchFamily="34" charset="-120"/>
              </a:rPr>
              <a:t>212 representatives split by cluster. Zero leakage, frozen before any label exists.</a:t>
            </a:r>
            <a:endParaRPr lang="en-US" sz="1200" dirty="0"/>
          </a:p>
        </p:txBody>
      </p:sp>
      <p:sp>
        <p:nvSpPr>
          <p:cNvPr id="22" name="Shape 20"/>
          <p:cNvSpPr/>
          <p:nvPr/>
        </p:nvSpPr>
        <p:spPr>
          <a:xfrm>
            <a:off x="6217920" y="3685032"/>
            <a:ext cx="5349240" cy="1783080"/>
          </a:xfrm>
          <a:prstGeom prst="roundRect">
            <a:avLst>
              <a:gd name="adj" fmla="val 3077"/>
            </a:avLst>
          </a:prstGeom>
          <a:solidFill>
            <a:srgbClr val="F7F8FC"/>
          </a:solidFill>
          <a:ln w="12700">
            <a:solidFill>
              <a:srgbClr val="D6DAEE"/>
            </a:solidFill>
            <a:prstDash val="solid"/>
          </a:ln>
        </p:spPr>
      </p:sp>
      <p:sp>
        <p:nvSpPr>
          <p:cNvPr id="23" name="Shape 21"/>
          <p:cNvSpPr/>
          <p:nvPr/>
        </p:nvSpPr>
        <p:spPr>
          <a:xfrm>
            <a:off x="6492240" y="3941064"/>
            <a:ext cx="402336" cy="402336"/>
          </a:xfrm>
          <a:prstGeom prst="ellipse">
            <a:avLst/>
          </a:prstGeom>
          <a:solidFill>
            <a:srgbClr val="2F3596"/>
          </a:solidFill>
          <a:ln/>
        </p:spPr>
      </p:sp>
      <p:sp>
        <p:nvSpPr>
          <p:cNvPr id="24" name="Text 22"/>
          <p:cNvSpPr txBox="1"/>
          <p:nvPr/>
        </p:nvSpPr>
        <p:spPr>
          <a:xfrm>
            <a:off x="6492240" y="394106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④</a:t>
            </a:r>
            <a:endParaRPr lang="en-US" sz="1400" dirty="0"/>
          </a:p>
        </p:txBody>
      </p:sp>
      <p:sp>
        <p:nvSpPr>
          <p:cNvPr id="25" name="Text 23"/>
          <p:cNvSpPr txBox="1"/>
          <p:nvPr/>
        </p:nvSpPr>
        <p:spPr>
          <a:xfrm>
            <a:off x="7004304" y="4014216"/>
            <a:ext cx="4251960" cy="0"/>
          </a:xfrm>
          <a:prstGeom prst="rect">
            <a:avLst/>
          </a:prstGeom>
          <a:noFill/>
          <a:ln/>
        </p:spPr>
        <p:txBody>
          <a:bodyPr wrap="square" lIns="0" tIns="0" rIns="0" bIns="0" rtlCol="0" anchor="t"/>
          <a:lstStyle/>
          <a:p>
            <a:pPr algn="l" indent="0" marL="0">
              <a:lnSpc>
                <a:spcPct val="113000"/>
              </a:lnSpc>
              <a:buNone/>
            </a:pPr>
            <a:r>
              <a:rPr lang="en-US" sz="1250" b="1" dirty="0">
                <a:solidFill>
                  <a:srgbClr val="5C6180"/>
                </a:solidFill>
                <a:latin typeface="Calibri" pitchFamily="34" charset="0"/>
                <a:ea typeface="Calibri" pitchFamily="34" charset="-122"/>
                <a:cs typeface="Calibri" pitchFamily="34" charset="-120"/>
              </a:rPr>
              <a:t>Structures</a:t>
            </a:r>
            <a:endParaRPr lang="en-US" sz="1250" dirty="0"/>
          </a:p>
        </p:txBody>
      </p:sp>
      <p:sp>
        <p:nvSpPr>
          <p:cNvPr id="26" name="Text 24"/>
          <p:cNvSpPr txBox="1"/>
          <p:nvPr/>
        </p:nvSpPr>
        <p:spPr>
          <a:xfrm>
            <a:off x="6492240" y="4471416"/>
            <a:ext cx="4800600" cy="0"/>
          </a:xfrm>
          <a:prstGeom prst="rect">
            <a:avLst/>
          </a:prstGeom>
          <a:noFill/>
          <a:ln/>
        </p:spPr>
        <p:txBody>
          <a:bodyPr wrap="square" lIns="0" tIns="0" rIns="0" bIns="0" rtlCol="0" anchor="t"/>
          <a:lstStyle/>
          <a:p>
            <a:pPr algn="l" indent="0" marL="0">
              <a:lnSpc>
                <a:spcPct val="113000"/>
              </a:lnSpc>
              <a:buNone/>
            </a:pPr>
            <a:r>
              <a:rPr lang="en-US" sz="2100" b="1" dirty="0">
                <a:solidFill>
                  <a:srgbClr val="2F3596"/>
                </a:solidFill>
                <a:latin typeface="Calibri" pitchFamily="34" charset="0"/>
                <a:ea typeface="Calibri" pitchFamily="34" charset="-122"/>
                <a:cs typeface="Calibri" pitchFamily="34" charset="-120"/>
              </a:rPr>
              <a:t>321 dimers assembled</a:t>
            </a:r>
            <a:endParaRPr lang="en-US" sz="2100" dirty="0"/>
          </a:p>
        </p:txBody>
      </p:sp>
      <p:sp>
        <p:nvSpPr>
          <p:cNvPr id="27" name="Text 25"/>
          <p:cNvSpPr txBox="1"/>
          <p:nvPr/>
        </p:nvSpPr>
        <p:spPr>
          <a:xfrm>
            <a:off x="6492240" y="4928616"/>
            <a:ext cx="4800600" cy="0"/>
          </a:xfrm>
          <a:prstGeom prst="rect">
            <a:avLst/>
          </a:prstGeom>
          <a:noFill/>
          <a:ln/>
        </p:spPr>
        <p:txBody>
          <a:bodyPr wrap="square" lIns="0" tIns="0" rIns="0" bIns="0" rtlCol="0" anchor="t"/>
          <a:lstStyle/>
          <a:p>
            <a:pPr algn="l" indent="0" marL="0">
              <a:lnSpc>
                <a:spcPct val="113000"/>
              </a:lnSpc>
              <a:buNone/>
            </a:pPr>
            <a:r>
              <a:rPr lang="en-US" sz="1200" dirty="0">
                <a:solidFill>
                  <a:srgbClr val="1C1E33"/>
                </a:solidFill>
                <a:latin typeface="Calibri" pitchFamily="34" charset="0"/>
                <a:ea typeface="Calibri" pitchFamily="34" charset="-122"/>
                <a:cs typeface="Calibri" pitchFamily="34" charset="-120"/>
              </a:rPr>
              <a:t>Assembly bias 0.080 kcal/mol, below the measurement IQR of 0.09.</a:t>
            </a:r>
            <a:endParaRPr lang="en-US" sz="1200" dirty="0"/>
          </a:p>
        </p:txBody>
      </p:sp>
      <p:sp>
        <p:nvSpPr>
          <p:cNvPr id="28" name="Text 26"/>
          <p:cNvSpPr txBox="1"/>
          <p:nvPr/>
        </p:nvSpPr>
        <p:spPr>
          <a:xfrm>
            <a:off x="594360" y="5806440"/>
            <a:ext cx="10972800" cy="0"/>
          </a:xfrm>
          <a:prstGeom prst="rect">
            <a:avLst/>
          </a:prstGeom>
          <a:noFill/>
          <a:ln/>
        </p:spPr>
        <p:txBody>
          <a:bodyPr wrap="square" lIns="0" tIns="0" rIns="0" bIns="0" rtlCol="0" anchor="t"/>
          <a:lstStyle/>
          <a:p>
            <a:pPr algn="l" indent="0" marL="0">
              <a:lnSpc>
                <a:spcPct val="113000"/>
              </a:lnSpc>
              <a:buNone/>
            </a:pPr>
            <a:r>
              <a:rPr lang="en-US" sz="1250" b="1" dirty="0">
                <a:solidFill>
                  <a:srgbClr val="C0692B"/>
                </a:solidFill>
                <a:latin typeface="Calibri" pitchFamily="34" charset="0"/>
                <a:ea typeface="Calibri" pitchFamily="34" charset="-122"/>
                <a:cs typeface="Calibri" pitchFamily="34" charset="-120"/>
              </a:rPr>
              <a:t>IN PROGRESS   Dock 321 structures  →  measure the noise floor (SNR)  →  attach labels  →  train A / B / C / D1 / D2</a:t>
            </a:r>
            <a:endParaRPr lang="en-US" sz="1250" dirty="0"/>
          </a:p>
        </p:txBody>
      </p:sp>
      <p:sp>
        <p:nvSpPr>
          <p:cNvPr id="30" name="Text 27"/>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OBJECTIVE  &amp;  SCOPE</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Rank the CODH family by mediator affinity from sequence alone</a:t>
            </a:r>
            <a:endParaRPr lang="en-US" sz="2600" dirty="0"/>
          </a:p>
        </p:txBody>
      </p:sp>
      <p:sp>
        <p:nvSpPr>
          <p:cNvPr id="4" name="Shape 2"/>
          <p:cNvSpPr/>
          <p:nvPr/>
        </p:nvSpPr>
        <p:spPr>
          <a:xfrm>
            <a:off x="594360" y="1627632"/>
            <a:ext cx="10972800" cy="822960"/>
          </a:xfrm>
          <a:prstGeom prst="roundRect">
            <a:avLst>
              <a:gd name="adj" fmla="val 6667"/>
            </a:avLst>
          </a:prstGeom>
          <a:solidFill>
            <a:srgbClr val="EEF0FA"/>
          </a:solidFill>
          <a:ln w="12700">
            <a:solidFill>
              <a:srgbClr val="D6DAEE"/>
            </a:solidFill>
            <a:prstDash val="solid"/>
          </a:ln>
        </p:spPr>
      </p:sp>
      <p:sp>
        <p:nvSpPr>
          <p:cNvPr id="5" name="Text 3"/>
          <p:cNvSpPr txBox="1"/>
          <p:nvPr/>
        </p:nvSpPr>
        <p:spPr>
          <a:xfrm>
            <a:off x="886968" y="1810512"/>
            <a:ext cx="10387584" cy="0"/>
          </a:xfrm>
          <a:prstGeom prst="rect">
            <a:avLst/>
          </a:prstGeom>
          <a:noFill/>
          <a:ln/>
        </p:spPr>
        <p:txBody>
          <a:bodyPr wrap="square" lIns="0" tIns="0" rIns="0" bIns="0" rtlCol="0" anchor="t"/>
          <a:lstStyle/>
          <a:p>
            <a:pPr algn="l" indent="0" marL="0">
              <a:lnSpc>
                <a:spcPct val="118000"/>
              </a:lnSpc>
              <a:buNone/>
            </a:pPr>
            <a:r>
              <a:rPr lang="en-US" sz="1450" b="1" dirty="0">
                <a:solidFill>
                  <a:srgbClr val="2F3596"/>
                </a:solidFill>
                <a:latin typeface="Calibri" pitchFamily="34" charset="0"/>
                <a:ea typeface="Calibri" pitchFamily="34" charset="-122"/>
                <a:cs typeface="Calibri" pitchFamily="34" charset="-120"/>
              </a:rPr>
              <a:t>Identify CO dehydrogenase sequences with enhanced electron-mediator (EV) affinity by ranking candidates with a protein language model distilled from docking scores.</a:t>
            </a:r>
            <a:endParaRPr lang="en-US" sz="1450" dirty="0"/>
          </a:p>
        </p:txBody>
      </p:sp>
      <p:sp>
        <p:nvSpPr>
          <p:cNvPr id="6" name="Shape 4"/>
          <p:cNvSpPr/>
          <p:nvPr/>
        </p:nvSpPr>
        <p:spPr>
          <a:xfrm>
            <a:off x="594360" y="2578608"/>
            <a:ext cx="3520440" cy="1536192"/>
          </a:xfrm>
          <a:prstGeom prst="roundRect">
            <a:avLst>
              <a:gd name="adj" fmla="val 3571"/>
            </a:avLst>
          </a:prstGeom>
          <a:solidFill>
            <a:srgbClr val="FBEEE2"/>
          </a:solidFill>
          <a:ln w="12700">
            <a:solidFill>
              <a:srgbClr val="E8C9A8"/>
            </a:solidFill>
            <a:prstDash val="solid"/>
          </a:ln>
        </p:spPr>
      </p:sp>
      <p:sp>
        <p:nvSpPr>
          <p:cNvPr id="7" name="Text 5"/>
          <p:cNvSpPr txBox="1"/>
          <p:nvPr/>
        </p:nvSpPr>
        <p:spPr>
          <a:xfrm>
            <a:off x="832104" y="2743200"/>
            <a:ext cx="3044952" cy="0"/>
          </a:xfrm>
          <a:prstGeom prst="rect">
            <a:avLst/>
          </a:prstGeom>
          <a:noFill/>
          <a:ln/>
        </p:spPr>
        <p:txBody>
          <a:bodyPr wrap="square" lIns="0" tIns="0" rIns="0" bIns="0" rtlCol="0" anchor="t"/>
          <a:lstStyle/>
          <a:p>
            <a:pPr algn="l" indent="0" marL="0">
              <a:lnSpc>
                <a:spcPct val="113000"/>
              </a:lnSpc>
              <a:buNone/>
            </a:pPr>
            <a:r>
              <a:rPr lang="en-US" sz="1300" b="1" dirty="0">
                <a:solidFill>
                  <a:srgbClr val="C0692B"/>
                </a:solidFill>
                <a:latin typeface="Calibri" pitchFamily="34" charset="0"/>
                <a:ea typeface="Calibri" pitchFamily="34" charset="-122"/>
                <a:cs typeface="Calibri" pitchFamily="34" charset="-120"/>
              </a:rPr>
              <a:t>Why it is hard</a:t>
            </a:r>
            <a:endParaRPr lang="en-US" sz="1300" dirty="0"/>
          </a:p>
        </p:txBody>
      </p:sp>
      <p:sp>
        <p:nvSpPr>
          <p:cNvPr id="8" name="Text 6"/>
          <p:cNvSpPr txBox="1"/>
          <p:nvPr/>
        </p:nvSpPr>
        <p:spPr>
          <a:xfrm>
            <a:off x="832104" y="3054096"/>
            <a:ext cx="3044952" cy="0"/>
          </a:xfrm>
          <a:prstGeom prst="rect">
            <a:avLst/>
          </a:prstGeom>
          <a:noFill/>
          <a:ln/>
        </p:spPr>
        <p:txBody>
          <a:bodyPr wrap="square" lIns="0" tIns="0" rIns="0" bIns="0" rtlCol="0" anchor="t"/>
          <a:lstStyle/>
          <a:p>
            <a:pPr algn="l" indent="0" marL="0">
              <a:lnSpc>
                <a:spcPct val="118000"/>
              </a:lnSpc>
              <a:buNone/>
            </a:pPr>
            <a:r>
              <a:rPr lang="en-US" sz="1100" dirty="0">
                <a:solidFill>
                  <a:srgbClr val="1C1E33"/>
                </a:solidFill>
                <a:latin typeface="Calibri" pitchFamily="34" charset="0"/>
                <a:ea typeface="Calibri" pitchFamily="34" charset="-122"/>
                <a:cs typeface="Calibri" pitchFamily="34" charset="-120"/>
              </a:rPr>
              <a:t>Only 21 Km values have been measured — too few to supervise a sequence model directly. The family also has almost no close relatives above 90% identity.</a:t>
            </a:r>
            <a:endParaRPr lang="en-US" sz="1100" dirty="0"/>
          </a:p>
        </p:txBody>
      </p:sp>
      <p:sp>
        <p:nvSpPr>
          <p:cNvPr id="9" name="Shape 7"/>
          <p:cNvSpPr/>
          <p:nvPr/>
        </p:nvSpPr>
        <p:spPr>
          <a:xfrm>
            <a:off x="4361688" y="2578608"/>
            <a:ext cx="3520440" cy="1536192"/>
          </a:xfrm>
          <a:prstGeom prst="roundRect">
            <a:avLst>
              <a:gd name="adj" fmla="val 3571"/>
            </a:avLst>
          </a:prstGeom>
          <a:solidFill>
            <a:srgbClr val="F7F8FC"/>
          </a:solidFill>
          <a:ln w="12700">
            <a:solidFill>
              <a:srgbClr val="D6DAEE"/>
            </a:solidFill>
            <a:prstDash val="solid"/>
          </a:ln>
        </p:spPr>
      </p:sp>
      <p:sp>
        <p:nvSpPr>
          <p:cNvPr id="10" name="Text 8"/>
          <p:cNvSpPr txBox="1"/>
          <p:nvPr/>
        </p:nvSpPr>
        <p:spPr>
          <a:xfrm>
            <a:off x="4599432" y="2743200"/>
            <a:ext cx="3044952" cy="0"/>
          </a:xfrm>
          <a:prstGeom prst="rect">
            <a:avLst/>
          </a:prstGeom>
          <a:noFill/>
          <a:ln/>
        </p:spPr>
        <p:txBody>
          <a:bodyPr wrap="square" lIns="0" tIns="0" rIns="0" bIns="0" rtlCol="0" anchor="t"/>
          <a:lstStyle/>
          <a:p>
            <a:pPr algn="l" indent="0" marL="0">
              <a:lnSpc>
                <a:spcPct val="113000"/>
              </a:lnSpc>
              <a:buNone/>
            </a:pPr>
            <a:r>
              <a:rPr lang="en-US" sz="1300" b="1" dirty="0">
                <a:solidFill>
                  <a:srgbClr val="2F3596"/>
                </a:solidFill>
                <a:latin typeface="Calibri" pitchFamily="34" charset="0"/>
                <a:ea typeface="Calibri" pitchFamily="34" charset="-122"/>
                <a:cs typeface="Calibri" pitchFamily="34" charset="-120"/>
              </a:rPr>
              <a:t>Approach</a:t>
            </a:r>
            <a:endParaRPr lang="en-US" sz="1300" dirty="0"/>
          </a:p>
        </p:txBody>
      </p:sp>
      <p:sp>
        <p:nvSpPr>
          <p:cNvPr id="11" name="Text 9"/>
          <p:cNvSpPr txBox="1"/>
          <p:nvPr/>
        </p:nvSpPr>
        <p:spPr>
          <a:xfrm>
            <a:off x="4599432" y="3054096"/>
            <a:ext cx="3044952" cy="0"/>
          </a:xfrm>
          <a:prstGeom prst="rect">
            <a:avLst/>
          </a:prstGeom>
          <a:noFill/>
          <a:ln/>
        </p:spPr>
        <p:txBody>
          <a:bodyPr wrap="square" lIns="0" tIns="0" rIns="0" bIns="0" rtlCol="0" anchor="t"/>
          <a:lstStyle/>
          <a:p>
            <a:pPr algn="l" indent="0" marL="0">
              <a:lnSpc>
                <a:spcPct val="118000"/>
              </a:lnSpc>
              <a:buNone/>
            </a:pPr>
            <a:r>
              <a:rPr lang="en-US" sz="1100" dirty="0">
                <a:solidFill>
                  <a:srgbClr val="1C1E33"/>
                </a:solidFill>
                <a:latin typeface="Calibri" pitchFamily="34" charset="0"/>
                <a:ea typeface="Calibri" pitchFamily="34" charset="-122"/>
                <a:cs typeface="Calibri" pitchFamily="34" charset="-120"/>
              </a:rPr>
              <a:t>Docking generates labels at scale: 288 variants and 321 homologs. A regression head distills them into ESM embeddings, so inference needs no structure and extends to all 1,827 sequences.</a:t>
            </a:r>
            <a:endParaRPr lang="en-US" sz="1100" dirty="0"/>
          </a:p>
        </p:txBody>
      </p:sp>
      <p:sp>
        <p:nvSpPr>
          <p:cNvPr id="12" name="Shape 10"/>
          <p:cNvSpPr/>
          <p:nvPr/>
        </p:nvSpPr>
        <p:spPr>
          <a:xfrm>
            <a:off x="8129016" y="2578608"/>
            <a:ext cx="3520440" cy="1536192"/>
          </a:xfrm>
          <a:prstGeom prst="roundRect">
            <a:avLst>
              <a:gd name="adj" fmla="val 3571"/>
            </a:avLst>
          </a:prstGeom>
          <a:solidFill>
            <a:srgbClr val="F7F8FC"/>
          </a:solidFill>
          <a:ln w="12700">
            <a:solidFill>
              <a:srgbClr val="D6DAEE"/>
            </a:solidFill>
            <a:prstDash val="solid"/>
          </a:ln>
        </p:spPr>
      </p:sp>
      <p:sp>
        <p:nvSpPr>
          <p:cNvPr id="13" name="Text 11"/>
          <p:cNvSpPr txBox="1"/>
          <p:nvPr/>
        </p:nvSpPr>
        <p:spPr>
          <a:xfrm>
            <a:off x="8366760" y="2743200"/>
            <a:ext cx="3044952" cy="0"/>
          </a:xfrm>
          <a:prstGeom prst="rect">
            <a:avLst/>
          </a:prstGeom>
          <a:noFill/>
          <a:ln/>
        </p:spPr>
        <p:txBody>
          <a:bodyPr wrap="square" lIns="0" tIns="0" rIns="0" bIns="0" rtlCol="0" anchor="t"/>
          <a:lstStyle/>
          <a:p>
            <a:pPr algn="l" indent="0" marL="0">
              <a:lnSpc>
                <a:spcPct val="113000"/>
              </a:lnSpc>
              <a:buNone/>
            </a:pPr>
            <a:r>
              <a:rPr lang="en-US" sz="1300" b="1" dirty="0">
                <a:solidFill>
                  <a:srgbClr val="2F3596"/>
                </a:solidFill>
                <a:latin typeface="Calibri" pitchFamily="34" charset="0"/>
                <a:ea typeface="Calibri" pitchFamily="34" charset="-122"/>
                <a:cs typeface="Calibri" pitchFamily="34" charset="-120"/>
              </a:rPr>
              <a:t>Success criterion</a:t>
            </a:r>
            <a:endParaRPr lang="en-US" sz="1300" dirty="0"/>
          </a:p>
        </p:txBody>
      </p:sp>
      <p:sp>
        <p:nvSpPr>
          <p:cNvPr id="14" name="Text 12"/>
          <p:cNvSpPr txBox="1"/>
          <p:nvPr/>
        </p:nvSpPr>
        <p:spPr>
          <a:xfrm>
            <a:off x="8366760" y="3054096"/>
            <a:ext cx="3044952" cy="0"/>
          </a:xfrm>
          <a:prstGeom prst="rect">
            <a:avLst/>
          </a:prstGeom>
          <a:noFill/>
          <a:ln/>
        </p:spPr>
        <p:txBody>
          <a:bodyPr wrap="square" lIns="0" tIns="0" rIns="0" bIns="0" rtlCol="0" anchor="t"/>
          <a:lstStyle/>
          <a:p>
            <a:pPr algn="l" indent="0" marL="0">
              <a:lnSpc>
                <a:spcPct val="118000"/>
              </a:lnSpc>
              <a:buNone/>
            </a:pPr>
            <a:r>
              <a:rPr lang="en-US" sz="1100" dirty="0">
                <a:solidFill>
                  <a:srgbClr val="1C1E33"/>
                </a:solidFill>
                <a:latin typeface="Calibri" pitchFamily="34" charset="0"/>
                <a:ea typeface="Calibri" pitchFamily="34" charset="-122"/>
                <a:cs typeface="Calibri" pitchFamily="34" charset="-120"/>
              </a:rPr>
              <a:t>Spearman ρ on the frozen 55-sequence evaluation set, required to exceed the docking noise floor measured from the 109 within-cluster pairs.</a:t>
            </a:r>
            <a:endParaRPr lang="en-US" sz="1100" dirty="0"/>
          </a:p>
        </p:txBody>
      </p:sp>
      <p:sp>
        <p:nvSpPr>
          <p:cNvPr id="15" name="Text 13"/>
          <p:cNvSpPr txBox="1"/>
          <p:nvPr/>
        </p:nvSpPr>
        <p:spPr>
          <a:xfrm>
            <a:off x="594360" y="4242816"/>
            <a:ext cx="10972800" cy="0"/>
          </a:xfrm>
          <a:prstGeom prst="rect">
            <a:avLst/>
          </a:prstGeom>
          <a:noFill/>
          <a:ln/>
        </p:spPr>
        <p:txBody>
          <a:bodyPr wrap="square" lIns="0" tIns="0" rIns="0" bIns="0" rtlCol="0" anchor="t"/>
          <a:lstStyle/>
          <a:p>
            <a:pPr algn="l" indent="0" marL="0">
              <a:lnSpc>
                <a:spcPct val="113000"/>
              </a:lnSpc>
              <a:buNone/>
            </a:pPr>
            <a:r>
              <a:rPr lang="en-US" sz="1400" b="1" dirty="0">
                <a:solidFill>
                  <a:srgbClr val="1C1E33"/>
                </a:solidFill>
                <a:latin typeface="Calibri" pitchFamily="34" charset="0"/>
                <a:ea typeface="Calibri" pitchFamily="34" charset="-122"/>
                <a:cs typeface="Calibri" pitchFamily="34" charset="-120"/>
              </a:rPr>
              <a:t>Scope strategy — two regimes, each answering what the other cannot</a:t>
            </a:r>
            <a:endParaRPr lang="en-US" sz="1400" dirty="0"/>
          </a:p>
        </p:txBody>
      </p:sp>
      <p:sp>
        <p:nvSpPr>
          <p:cNvPr id="16" name="Shape 14"/>
          <p:cNvSpPr/>
          <p:nvPr/>
        </p:nvSpPr>
        <p:spPr>
          <a:xfrm>
            <a:off x="594360" y="4553712"/>
            <a:ext cx="5349240" cy="1207008"/>
          </a:xfrm>
          <a:prstGeom prst="roundRect">
            <a:avLst>
              <a:gd name="adj" fmla="val 4545"/>
            </a:avLst>
          </a:prstGeom>
          <a:solidFill>
            <a:srgbClr val="F7F8FC"/>
          </a:solidFill>
          <a:ln w="12700">
            <a:solidFill>
              <a:srgbClr val="D6DAEE"/>
            </a:solidFill>
            <a:prstDash val="solid"/>
          </a:ln>
        </p:spPr>
      </p:sp>
      <p:sp>
        <p:nvSpPr>
          <p:cNvPr id="17" name="Text 15"/>
          <p:cNvSpPr txBox="1"/>
          <p:nvPr/>
        </p:nvSpPr>
        <p:spPr>
          <a:xfrm>
            <a:off x="850392" y="4700016"/>
            <a:ext cx="2926080" cy="0"/>
          </a:xfrm>
          <a:prstGeom prst="rect">
            <a:avLst/>
          </a:prstGeom>
          <a:noFill/>
          <a:ln/>
        </p:spPr>
        <p:txBody>
          <a:bodyPr wrap="square" lIns="0" tIns="0" rIns="0" bIns="0" rtlCol="0" anchor="t"/>
          <a:lstStyle/>
          <a:p>
            <a:pPr algn="l" indent="0" marL="0">
              <a:lnSpc>
                <a:spcPct val="113000"/>
              </a:lnSpc>
              <a:buNone/>
            </a:pPr>
            <a:r>
              <a:rPr lang="en-US" sz="1350" b="1" dirty="0">
                <a:solidFill>
                  <a:srgbClr val="2F3596"/>
                </a:solidFill>
                <a:latin typeface="Calibri" pitchFamily="34" charset="0"/>
                <a:ea typeface="Calibri" pitchFamily="34" charset="-122"/>
                <a:cs typeface="Calibri" pitchFamily="34" charset="-120"/>
              </a:rPr>
              <a:t>Variant regime</a:t>
            </a:r>
            <a:endParaRPr lang="en-US" sz="1350" dirty="0"/>
          </a:p>
        </p:txBody>
      </p:sp>
      <p:sp>
        <p:nvSpPr>
          <p:cNvPr id="18" name="Text 16"/>
          <p:cNvSpPr txBox="1"/>
          <p:nvPr/>
        </p:nvSpPr>
        <p:spPr>
          <a:xfrm>
            <a:off x="3703320" y="4736592"/>
            <a:ext cx="2011680" cy="0"/>
          </a:xfrm>
          <a:prstGeom prst="rect">
            <a:avLst/>
          </a:prstGeom>
          <a:noFill/>
          <a:ln/>
        </p:spPr>
        <p:txBody>
          <a:bodyPr wrap="square" lIns="0" tIns="0" rIns="0" bIns="0" rtlCol="0" anchor="t"/>
          <a:lstStyle/>
          <a:p>
            <a:pPr algn="r" indent="0" marL="0">
              <a:lnSpc>
                <a:spcPct val="113000"/>
              </a:lnSpc>
              <a:buNone/>
            </a:pPr>
            <a:r>
              <a:rPr lang="en-US" sz="1100" b="1" dirty="0">
                <a:solidFill>
                  <a:srgbClr val="C0692B"/>
                </a:solidFill>
                <a:latin typeface="Calibri" pitchFamily="34" charset="0"/>
                <a:ea typeface="Calibri" pitchFamily="34" charset="-122"/>
                <a:cs typeface="Calibri" pitchFamily="34" charset="-120"/>
              </a:rPr>
              <a:t>local  ·  dense</a:t>
            </a:r>
            <a:endParaRPr lang="en-US" sz="1100" dirty="0"/>
          </a:p>
        </p:txBody>
      </p:sp>
      <p:sp>
        <p:nvSpPr>
          <p:cNvPr id="19" name="Text 17"/>
          <p:cNvSpPr txBox="1"/>
          <p:nvPr/>
        </p:nvSpPr>
        <p:spPr>
          <a:xfrm>
            <a:off x="850392" y="5029200"/>
            <a:ext cx="4846320" cy="0"/>
          </a:xfrm>
          <a:prstGeom prst="rect">
            <a:avLst/>
          </a:prstGeom>
          <a:noFill/>
          <a:ln/>
        </p:spPr>
        <p:txBody>
          <a:bodyPr wrap="square" lIns="0" tIns="0" rIns="0" bIns="0" rtlCol="0" anchor="t"/>
          <a:lstStyle/>
          <a:p>
            <a:pPr algn="l" indent="0" marL="0">
              <a:lnSpc>
                <a:spcPct val="118000"/>
              </a:lnSpc>
              <a:buNone/>
            </a:pPr>
            <a:r>
              <a:rPr lang="en-US" sz="1100" dirty="0">
                <a:solidFill>
                  <a:srgbClr val="1C1E33"/>
                </a:solidFill>
                <a:latin typeface="Calibri" pitchFamily="34" charset="0"/>
                <a:ea typeface="Calibri" pitchFamily="34" charset="-122"/>
                <a:cs typeface="Calibri" pitchFamily="34" charset="-120"/>
              </a:rPr>
              <a:t>288 variants on a single 1SU6 backbone, 15 positions × 19 substitutions. Side chains only, no backbone relaxation. This regime anchors the docking score to measured Km (ρ = 0.90).</a:t>
            </a:r>
            <a:endParaRPr lang="en-US" sz="1100" dirty="0"/>
          </a:p>
        </p:txBody>
      </p:sp>
      <p:sp>
        <p:nvSpPr>
          <p:cNvPr id="20" name="Shape 18"/>
          <p:cNvSpPr/>
          <p:nvPr/>
        </p:nvSpPr>
        <p:spPr>
          <a:xfrm>
            <a:off x="6217920" y="4553712"/>
            <a:ext cx="5349240" cy="1207008"/>
          </a:xfrm>
          <a:prstGeom prst="roundRect">
            <a:avLst>
              <a:gd name="adj" fmla="val 4545"/>
            </a:avLst>
          </a:prstGeom>
          <a:solidFill>
            <a:srgbClr val="F7F8FC"/>
          </a:solidFill>
          <a:ln w="12700">
            <a:solidFill>
              <a:srgbClr val="D6DAEE"/>
            </a:solidFill>
            <a:prstDash val="solid"/>
          </a:ln>
        </p:spPr>
      </p:sp>
      <p:sp>
        <p:nvSpPr>
          <p:cNvPr id="21" name="Text 19"/>
          <p:cNvSpPr txBox="1"/>
          <p:nvPr/>
        </p:nvSpPr>
        <p:spPr>
          <a:xfrm>
            <a:off x="6473952" y="4700016"/>
            <a:ext cx="2926080" cy="0"/>
          </a:xfrm>
          <a:prstGeom prst="rect">
            <a:avLst/>
          </a:prstGeom>
          <a:noFill/>
          <a:ln/>
        </p:spPr>
        <p:txBody>
          <a:bodyPr wrap="square" lIns="0" tIns="0" rIns="0" bIns="0" rtlCol="0" anchor="t"/>
          <a:lstStyle/>
          <a:p>
            <a:pPr algn="l" indent="0" marL="0">
              <a:lnSpc>
                <a:spcPct val="113000"/>
              </a:lnSpc>
              <a:buNone/>
            </a:pPr>
            <a:r>
              <a:rPr lang="en-US" sz="1350" b="1" dirty="0">
                <a:solidFill>
                  <a:srgbClr val="2F3596"/>
                </a:solidFill>
                <a:latin typeface="Calibri" pitchFamily="34" charset="0"/>
                <a:ea typeface="Calibri" pitchFamily="34" charset="-122"/>
                <a:cs typeface="Calibri" pitchFamily="34" charset="-120"/>
              </a:rPr>
              <a:t>Homolog regime</a:t>
            </a:r>
            <a:endParaRPr lang="en-US" sz="1350" dirty="0"/>
          </a:p>
        </p:txBody>
      </p:sp>
      <p:sp>
        <p:nvSpPr>
          <p:cNvPr id="22" name="Text 20"/>
          <p:cNvSpPr txBox="1"/>
          <p:nvPr/>
        </p:nvSpPr>
        <p:spPr>
          <a:xfrm>
            <a:off x="9326880" y="4736592"/>
            <a:ext cx="2011680" cy="0"/>
          </a:xfrm>
          <a:prstGeom prst="rect">
            <a:avLst/>
          </a:prstGeom>
          <a:noFill/>
          <a:ln/>
        </p:spPr>
        <p:txBody>
          <a:bodyPr wrap="square" lIns="0" tIns="0" rIns="0" bIns="0" rtlCol="0" anchor="t"/>
          <a:lstStyle/>
          <a:p>
            <a:pPr algn="r" indent="0" marL="0">
              <a:lnSpc>
                <a:spcPct val="113000"/>
              </a:lnSpc>
              <a:buNone/>
            </a:pPr>
            <a:r>
              <a:rPr lang="en-US" sz="1100" b="1" dirty="0">
                <a:solidFill>
                  <a:srgbClr val="C0692B"/>
                </a:solidFill>
                <a:latin typeface="Calibri" pitchFamily="34" charset="0"/>
                <a:ea typeface="Calibri" pitchFamily="34" charset="-122"/>
                <a:cs typeface="Calibri" pitchFamily="34" charset="-120"/>
              </a:rPr>
              <a:t>global  ·  sparse</a:t>
            </a:r>
            <a:endParaRPr lang="en-US" sz="1100" dirty="0"/>
          </a:p>
        </p:txBody>
      </p:sp>
      <p:sp>
        <p:nvSpPr>
          <p:cNvPr id="23" name="Text 21"/>
          <p:cNvSpPr txBox="1"/>
          <p:nvPr/>
        </p:nvSpPr>
        <p:spPr>
          <a:xfrm>
            <a:off x="6473952" y="5029200"/>
            <a:ext cx="4846320" cy="0"/>
          </a:xfrm>
          <a:prstGeom prst="rect">
            <a:avLst/>
          </a:prstGeom>
          <a:noFill/>
          <a:ln/>
        </p:spPr>
        <p:txBody>
          <a:bodyPr wrap="square" lIns="0" tIns="0" rIns="0" bIns="0" rtlCol="0" anchor="t"/>
          <a:lstStyle/>
          <a:p>
            <a:pPr algn="l" indent="0" marL="0">
              <a:lnSpc>
                <a:spcPct val="118000"/>
              </a:lnSpc>
              <a:buNone/>
            </a:pPr>
            <a:r>
              <a:rPr lang="en-US" sz="1100" dirty="0">
                <a:solidFill>
                  <a:srgbClr val="1C1E33"/>
                </a:solidFill>
                <a:latin typeface="Calibri" pitchFamily="34" charset="0"/>
                <a:ea typeface="Calibri" pitchFamily="34" charset="-122"/>
                <a:cs typeface="Calibri" pitchFamily="34" charset="-120"/>
              </a:rPr>
              <a:t>212 cluster representatives spanning 28.5–74.8% identity, each with its own predicted and assembled structure. This regime tests whether the score survives a change of backbone.</a:t>
            </a:r>
            <a:endParaRPr lang="en-US" sz="1100" dirty="0"/>
          </a:p>
        </p:txBody>
      </p:sp>
      <p:sp>
        <p:nvSpPr>
          <p:cNvPr id="24" name="Text 22"/>
          <p:cNvSpPr txBox="1"/>
          <p:nvPr/>
        </p:nvSpPr>
        <p:spPr>
          <a:xfrm>
            <a:off x="594360" y="5925312"/>
            <a:ext cx="10972800" cy="0"/>
          </a:xfrm>
          <a:prstGeom prst="rect">
            <a:avLst/>
          </a:prstGeom>
          <a:noFill/>
          <a:ln/>
        </p:spPr>
        <p:txBody>
          <a:bodyPr wrap="square" lIns="0" tIns="0" rIns="0" bIns="0" rtlCol="0" anchor="t"/>
          <a:lstStyle/>
          <a:p>
            <a:pPr algn="l" indent="0" marL="0">
              <a:lnSpc>
                <a:spcPct val="113000"/>
              </a:lnSpc>
              <a:buNone/>
            </a:pPr>
            <a:r>
              <a:rPr lang="en-US" sz="1050" b="1" dirty="0">
                <a:solidFill>
                  <a:srgbClr val="5C6180"/>
                </a:solidFill>
                <a:latin typeface="Calibri" pitchFamily="34" charset="0"/>
                <a:ea typeface="Calibri" pitchFamily="34" charset="-122"/>
                <a:cs typeface="Calibri" pitchFamily="34" charset="-120"/>
              </a:rPr>
              <a:t>OUT OF SCOPE   absolute binding affinity  ·  Fe-S cofactor electrostatics  ·  experimental validation beyond the 21 existing Km values</a:t>
            </a:r>
            <a:endParaRPr lang="en-US" sz="1050" dirty="0"/>
          </a:p>
        </p:txBody>
      </p:sp>
      <p:sp>
        <p:nvSpPr>
          <p:cNvPr id="26" name="Text 23"/>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STRATEGY</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The bottleneck is labels, not models</a:t>
            </a:r>
            <a:endParaRPr lang="en-US" sz="2600" dirty="0"/>
          </a:p>
        </p:txBody>
      </p:sp>
      <p:sp>
        <p:nvSpPr>
          <p:cNvPr id="4" name="Text 2"/>
          <p:cNvSpPr txBox="1"/>
          <p:nvPr/>
        </p:nvSpPr>
        <p:spPr>
          <a:xfrm>
            <a:off x="594360" y="1783080"/>
            <a:ext cx="5760720" cy="2377440"/>
          </a:xfrm>
          <a:prstGeom prst="rect">
            <a:avLst/>
          </a:prstGeom>
          <a:noFill/>
          <a:ln/>
        </p:spPr>
        <p:txBody>
          <a:bodyPr wrap="square" lIns="0" tIns="0" rIns="0" bIns="0" rtlCol="0" anchor="t"/>
          <a:lstStyle/>
          <a:p>
            <a:pPr indent="0" marL="0">
              <a:lnSpc>
                <a:spcPct val="116000"/>
              </a:lnSpc>
              <a:buNone/>
            </a:pPr>
            <a:r>
              <a:rPr lang="en-US" sz="1400" b="1" dirty="0">
                <a:solidFill>
                  <a:srgbClr val="1C1E33"/>
                </a:solidFill>
                <a:latin typeface="Calibri" pitchFamily="34" charset="0"/>
                <a:ea typeface="Calibri" pitchFamily="34" charset="-122"/>
                <a:cs typeface="Calibri" pitchFamily="34" charset="-120"/>
              </a:rPr>
              <a:t>Only 21 Km values exist. </a:t>
            </a:r>
            <a:pPr indent="0" marL="0">
              <a:lnSpc>
                <a:spcPct val="116000"/>
              </a:lnSpc>
              <a:spcAft>
                <a:spcPts val="1400"/>
              </a:spcAft>
              <a:buNone/>
            </a:pPr>
            <a:r>
              <a:rPr lang="en-US" sz="1400" dirty="0">
                <a:solidFill>
                  <a:srgbClr val="1C1E33"/>
                </a:solidFill>
                <a:latin typeface="Calibri" pitchFamily="34" charset="0"/>
                <a:ea typeface="Calibri" pitchFamily="34" charset="-122"/>
                <a:cs typeface="Calibri" pitchFamily="34" charset="-120"/>
              </a:rPr>
              <a:t>That is too few to supervise a protein language model directly.</a:t>
            </a:r>
            <a:endParaRPr lang="en-US" sz="1400" dirty="0"/>
          </a:p>
          <a:p>
            <a:pPr indent="0" marL="0">
              <a:lnSpc>
                <a:spcPct val="116000"/>
              </a:lnSpc>
              <a:buNone/>
            </a:pPr>
            <a:r>
              <a:rPr lang="en-US" sz="1400" b="1" dirty="0">
                <a:solidFill>
                  <a:srgbClr val="1C1E33"/>
                </a:solidFill>
                <a:latin typeface="Calibri" pitchFamily="34" charset="0"/>
                <a:ea typeface="Calibri" pitchFamily="34" charset="-122"/>
                <a:cs typeface="Calibri" pitchFamily="34" charset="-120"/>
              </a:rPr>
              <a:t>Docking scores serve as surrogate labels. </a:t>
            </a:r>
            <a:pPr indent="0" marL="0">
              <a:lnSpc>
                <a:spcPct val="116000"/>
              </a:lnSpc>
              <a:spcAft>
                <a:spcPts val="1400"/>
              </a:spcAft>
              <a:buNone/>
            </a:pPr>
            <a:r>
              <a:rPr lang="en-US" sz="1400" dirty="0">
                <a:solidFill>
                  <a:srgbClr val="1C1E33"/>
                </a:solidFill>
                <a:latin typeface="Calibri" pitchFamily="34" charset="0"/>
                <a:ea typeface="Calibri" pitchFamily="34" charset="-122"/>
                <a:cs typeface="Calibri" pitchFamily="34" charset="-120"/>
              </a:rPr>
              <a:t>Across 288 variants they correlate with measured Km at ρ = 0.89.</a:t>
            </a:r>
            <a:endParaRPr lang="en-US" sz="1400" dirty="0"/>
          </a:p>
          <a:p>
            <a:pPr indent="0" marL="0">
              <a:lnSpc>
                <a:spcPct val="116000"/>
              </a:lnSpc>
              <a:buNone/>
            </a:pPr>
            <a:r>
              <a:rPr lang="en-US" sz="1400" b="1" dirty="0">
                <a:solidFill>
                  <a:srgbClr val="1C1E33"/>
                </a:solidFill>
                <a:latin typeface="Calibri" pitchFamily="34" charset="0"/>
                <a:ea typeface="Calibri" pitchFamily="34" charset="-122"/>
                <a:cs typeface="Calibri" pitchFamily="34" charset="-120"/>
              </a:rPr>
              <a:t>Strategy — a docking-distilled pLM. </a:t>
            </a:r>
            <a:pPr indent="0" marL="0">
              <a:lnSpc>
                <a:spcPct val="116000"/>
              </a:lnSpc>
              <a:spcAft>
                <a:spcPts val="1400"/>
              </a:spcAft>
              <a:buNone/>
            </a:pPr>
            <a:r>
              <a:rPr lang="en-US" sz="1400" dirty="0">
                <a:solidFill>
                  <a:srgbClr val="1C1E33"/>
                </a:solidFill>
                <a:latin typeface="Calibri" pitchFamily="34" charset="0"/>
                <a:ea typeface="Calibri" pitchFamily="34" charset="-122"/>
                <a:cs typeface="Calibri" pitchFamily="34" charset="-120"/>
              </a:rPr>
              <a:t>Dock into the EV binding site to generate binding-affinity predictions at scale, distill them into a sequence model, and at inference time predict without any structure.</a:t>
            </a:r>
            <a:endParaRPr lang="en-US" sz="1400" dirty="0"/>
          </a:p>
        </p:txBody>
      </p:sp>
      <p:sp>
        <p:nvSpPr>
          <p:cNvPr id="5" name="Shape 3"/>
          <p:cNvSpPr/>
          <p:nvPr/>
        </p:nvSpPr>
        <p:spPr>
          <a:xfrm>
            <a:off x="594360" y="4370832"/>
            <a:ext cx="5760720" cy="1371600"/>
          </a:xfrm>
          <a:prstGeom prst="roundRect">
            <a:avLst>
              <a:gd name="adj" fmla="val 4000"/>
            </a:avLst>
          </a:prstGeom>
          <a:solidFill>
            <a:srgbClr val="F7F8FC"/>
          </a:solidFill>
          <a:ln w="12700">
            <a:solidFill>
              <a:srgbClr val="D6DAEE"/>
            </a:solidFill>
            <a:prstDash val="solid"/>
          </a:ln>
        </p:spPr>
      </p:sp>
      <p:sp>
        <p:nvSpPr>
          <p:cNvPr id="6" name="Text 4"/>
          <p:cNvSpPr txBox="1"/>
          <p:nvPr/>
        </p:nvSpPr>
        <p:spPr>
          <a:xfrm>
            <a:off x="868680" y="4553712"/>
            <a:ext cx="5212080" cy="0"/>
          </a:xfrm>
          <a:prstGeom prst="rect">
            <a:avLst/>
          </a:prstGeom>
          <a:noFill/>
          <a:ln/>
        </p:spPr>
        <p:txBody>
          <a:bodyPr wrap="square" lIns="0" tIns="0" rIns="0" bIns="0" rtlCol="0" anchor="t"/>
          <a:lstStyle/>
          <a:p>
            <a:pPr algn="l" indent="0" marL="0">
              <a:lnSpc>
                <a:spcPct val="113000"/>
              </a:lnSpc>
              <a:buNone/>
            </a:pPr>
            <a:r>
              <a:rPr lang="en-US" sz="1250" b="1" dirty="0">
                <a:solidFill>
                  <a:srgbClr val="C0692B"/>
                </a:solidFill>
                <a:latin typeface="Calibri" pitchFamily="34" charset="0"/>
                <a:ea typeface="Calibri" pitchFamily="34" charset="-122"/>
                <a:cs typeface="Calibri" pitchFamily="34" charset="-120"/>
              </a:rPr>
              <a:t>Why distill at all</a:t>
            </a:r>
            <a:endParaRPr lang="en-US" sz="1250" dirty="0"/>
          </a:p>
        </p:txBody>
      </p:sp>
      <p:sp>
        <p:nvSpPr>
          <p:cNvPr id="7" name="Text 5"/>
          <p:cNvSpPr txBox="1"/>
          <p:nvPr/>
        </p:nvSpPr>
        <p:spPr>
          <a:xfrm>
            <a:off x="868680" y="4864608"/>
            <a:ext cx="5212080" cy="0"/>
          </a:xfrm>
          <a:prstGeom prst="rect">
            <a:avLst/>
          </a:prstGeom>
          <a:noFill/>
          <a:ln/>
        </p:spPr>
        <p:txBody>
          <a:bodyPr wrap="square" lIns="0" tIns="0" rIns="0" bIns="0" rtlCol="0" anchor="t"/>
          <a:lstStyle/>
          <a:p>
            <a:pPr algn="l" indent="0" marL="0">
              <a:lnSpc>
                <a:spcPct val="118000"/>
              </a:lnSpc>
              <a:buNone/>
            </a:pPr>
            <a:r>
              <a:rPr lang="en-US" sz="1200" dirty="0">
                <a:solidFill>
                  <a:srgbClr val="1C1E33"/>
                </a:solidFill>
                <a:latin typeface="Calibri" pitchFamily="34" charset="0"/>
                <a:ea typeface="Calibri" pitchFamily="34" charset="-122"/>
                <a:cs typeface="Calibri" pitchFamily="34" charset="-120"/>
              </a:rPr>
              <a:t>Docking needs a structure and costs minutes per sequence. A distilled model ranks from sequence alone in milliseconds, which is what makes the full 1,827-sequence family reachable.</a:t>
            </a:r>
            <a:endParaRPr lang="en-US" sz="1200" dirty="0"/>
          </a:p>
        </p:txBody>
      </p:sp>
      <p:sp>
        <p:nvSpPr>
          <p:cNvPr id="8" name="Shape 6"/>
          <p:cNvSpPr/>
          <p:nvPr/>
        </p:nvSpPr>
        <p:spPr>
          <a:xfrm>
            <a:off x="6903720" y="1783080"/>
            <a:ext cx="4663440" cy="749808"/>
          </a:xfrm>
          <a:prstGeom prst="roundRect">
            <a:avLst>
              <a:gd name="adj" fmla="val 7317"/>
            </a:avLst>
          </a:prstGeom>
          <a:solidFill>
            <a:srgbClr val="FBEEE2"/>
          </a:solidFill>
          <a:ln w="12700">
            <a:solidFill>
              <a:srgbClr val="E8C9A8"/>
            </a:solidFill>
            <a:prstDash val="solid"/>
          </a:ln>
        </p:spPr>
      </p:sp>
      <p:sp>
        <p:nvSpPr>
          <p:cNvPr id="9" name="Text 7"/>
          <p:cNvSpPr txBox="1"/>
          <p:nvPr/>
        </p:nvSpPr>
        <p:spPr>
          <a:xfrm>
            <a:off x="7132320" y="1892808"/>
            <a:ext cx="4206240" cy="0"/>
          </a:xfrm>
          <a:prstGeom prst="rect">
            <a:avLst/>
          </a:prstGeom>
          <a:noFill/>
          <a:ln/>
        </p:spPr>
        <p:txBody>
          <a:bodyPr wrap="square" lIns="0" tIns="0" rIns="0" bIns="0" rtlCol="0" anchor="t"/>
          <a:lstStyle/>
          <a:p>
            <a:pPr algn="l" indent="0" marL="0">
              <a:lnSpc>
                <a:spcPct val="113000"/>
              </a:lnSpc>
              <a:buNone/>
            </a:pPr>
            <a:r>
              <a:rPr lang="en-US" sz="1300" b="1" dirty="0">
                <a:solidFill>
                  <a:srgbClr val="C0692B"/>
                </a:solidFill>
                <a:latin typeface="Calibri" pitchFamily="34" charset="0"/>
                <a:ea typeface="Calibri" pitchFamily="34" charset="-122"/>
                <a:cs typeface="Calibri" pitchFamily="34" charset="-120"/>
              </a:rPr>
              <a:t>Measured Km</a:t>
            </a:r>
            <a:endParaRPr lang="en-US" sz="1300" dirty="0"/>
          </a:p>
        </p:txBody>
      </p:sp>
      <p:sp>
        <p:nvSpPr>
          <p:cNvPr id="10" name="Text 8"/>
          <p:cNvSpPr txBox="1"/>
          <p:nvPr/>
        </p:nvSpPr>
        <p:spPr>
          <a:xfrm>
            <a:off x="7132320" y="2194560"/>
            <a:ext cx="4206240" cy="0"/>
          </a:xfrm>
          <a:prstGeom prst="rect">
            <a:avLst/>
          </a:prstGeom>
          <a:noFill/>
          <a:ln/>
        </p:spPr>
        <p:txBody>
          <a:bodyPr wrap="square" lIns="0" tIns="0" rIns="0" bIns="0" rtlCol="0" anchor="t"/>
          <a:lstStyle/>
          <a:p>
            <a:pPr algn="l" indent="0" marL="0">
              <a:lnSpc>
                <a:spcPct val="113000"/>
              </a:lnSpc>
              <a:buNone/>
            </a:pPr>
            <a:r>
              <a:rPr lang="en-US" sz="1100" dirty="0">
                <a:solidFill>
                  <a:srgbClr val="5C6180"/>
                </a:solidFill>
                <a:latin typeface="Calibri" pitchFamily="34" charset="0"/>
                <a:ea typeface="Calibri" pitchFamily="34" charset="-122"/>
                <a:cs typeface="Calibri" pitchFamily="34" charset="-120"/>
              </a:rPr>
              <a:t>21 values</a:t>
            </a:r>
            <a:endParaRPr lang="en-US" sz="1100" dirty="0"/>
          </a:p>
        </p:txBody>
      </p:sp>
      <p:sp>
        <p:nvSpPr>
          <p:cNvPr id="11" name="Shape 9"/>
          <p:cNvSpPr/>
          <p:nvPr/>
        </p:nvSpPr>
        <p:spPr>
          <a:xfrm>
            <a:off x="9134856" y="2578608"/>
            <a:ext cx="201168" cy="201168"/>
          </a:xfrm>
          <a:prstGeom prst="downArrow">
            <a:avLst/>
          </a:prstGeom>
          <a:solidFill>
            <a:srgbClr val="6A72CE"/>
          </a:solidFill>
          <a:ln/>
        </p:spPr>
      </p:sp>
      <p:sp>
        <p:nvSpPr>
          <p:cNvPr id="12" name="Shape 10"/>
          <p:cNvSpPr/>
          <p:nvPr/>
        </p:nvSpPr>
        <p:spPr>
          <a:xfrm>
            <a:off x="6903720" y="2816352"/>
            <a:ext cx="4663440" cy="749808"/>
          </a:xfrm>
          <a:prstGeom prst="roundRect">
            <a:avLst>
              <a:gd name="adj" fmla="val 7317"/>
            </a:avLst>
          </a:prstGeom>
          <a:solidFill>
            <a:srgbClr val="EEF0FA"/>
          </a:solidFill>
          <a:ln w="12700">
            <a:solidFill>
              <a:srgbClr val="D6DAEE"/>
            </a:solidFill>
            <a:prstDash val="solid"/>
          </a:ln>
        </p:spPr>
      </p:sp>
      <p:sp>
        <p:nvSpPr>
          <p:cNvPr id="13" name="Text 11"/>
          <p:cNvSpPr txBox="1"/>
          <p:nvPr/>
        </p:nvSpPr>
        <p:spPr>
          <a:xfrm>
            <a:off x="7132320" y="2926080"/>
            <a:ext cx="4206240" cy="0"/>
          </a:xfrm>
          <a:prstGeom prst="rect">
            <a:avLst/>
          </a:prstGeom>
          <a:noFill/>
          <a:ln/>
        </p:spPr>
        <p:txBody>
          <a:bodyPr wrap="square" lIns="0" tIns="0" rIns="0" bIns="0" rtlCol="0" anchor="t"/>
          <a:lstStyle/>
          <a:p>
            <a:pPr algn="l" indent="0" marL="0">
              <a:lnSpc>
                <a:spcPct val="113000"/>
              </a:lnSpc>
              <a:buNone/>
            </a:pPr>
            <a:r>
              <a:rPr lang="en-US" sz="1300" b="1" dirty="0">
                <a:solidFill>
                  <a:srgbClr val="2F3596"/>
                </a:solidFill>
                <a:latin typeface="Calibri" pitchFamily="34" charset="0"/>
                <a:ea typeface="Calibri" pitchFamily="34" charset="-122"/>
                <a:cs typeface="Calibri" pitchFamily="34" charset="-120"/>
              </a:rPr>
              <a:t>Docking score generation</a:t>
            </a:r>
            <a:endParaRPr lang="en-US" sz="1300" dirty="0"/>
          </a:p>
        </p:txBody>
      </p:sp>
      <p:sp>
        <p:nvSpPr>
          <p:cNvPr id="14" name="Text 12"/>
          <p:cNvSpPr txBox="1"/>
          <p:nvPr/>
        </p:nvSpPr>
        <p:spPr>
          <a:xfrm>
            <a:off x="7132320" y="3227832"/>
            <a:ext cx="4206240" cy="0"/>
          </a:xfrm>
          <a:prstGeom prst="rect">
            <a:avLst/>
          </a:prstGeom>
          <a:noFill/>
          <a:ln/>
        </p:spPr>
        <p:txBody>
          <a:bodyPr wrap="square" lIns="0" tIns="0" rIns="0" bIns="0" rtlCol="0" anchor="t"/>
          <a:lstStyle/>
          <a:p>
            <a:pPr algn="l" indent="0" marL="0">
              <a:lnSpc>
                <a:spcPct val="113000"/>
              </a:lnSpc>
              <a:buNone/>
            </a:pPr>
            <a:r>
              <a:rPr lang="en-US" sz="1100" dirty="0">
                <a:solidFill>
                  <a:srgbClr val="5C6180"/>
                </a:solidFill>
                <a:latin typeface="Calibri" pitchFamily="34" charset="0"/>
                <a:ea typeface="Calibri" pitchFamily="34" charset="-122"/>
                <a:cs typeface="Calibri" pitchFamily="34" charset="-120"/>
              </a:rPr>
              <a:t>288 variants + 321 homologs</a:t>
            </a:r>
            <a:endParaRPr lang="en-US" sz="1100" dirty="0"/>
          </a:p>
        </p:txBody>
      </p:sp>
      <p:sp>
        <p:nvSpPr>
          <p:cNvPr id="15" name="Shape 13"/>
          <p:cNvSpPr/>
          <p:nvPr/>
        </p:nvSpPr>
        <p:spPr>
          <a:xfrm>
            <a:off x="9134856" y="3611880"/>
            <a:ext cx="201168" cy="201168"/>
          </a:xfrm>
          <a:prstGeom prst="downArrow">
            <a:avLst/>
          </a:prstGeom>
          <a:solidFill>
            <a:srgbClr val="6A72CE"/>
          </a:solidFill>
          <a:ln/>
        </p:spPr>
      </p:sp>
      <p:sp>
        <p:nvSpPr>
          <p:cNvPr id="16" name="Shape 14"/>
          <p:cNvSpPr/>
          <p:nvPr/>
        </p:nvSpPr>
        <p:spPr>
          <a:xfrm>
            <a:off x="6903720" y="3849624"/>
            <a:ext cx="4663440" cy="749808"/>
          </a:xfrm>
          <a:prstGeom prst="roundRect">
            <a:avLst>
              <a:gd name="adj" fmla="val 7317"/>
            </a:avLst>
          </a:prstGeom>
          <a:solidFill>
            <a:srgbClr val="EEF0FA"/>
          </a:solidFill>
          <a:ln w="12700">
            <a:solidFill>
              <a:srgbClr val="D6DAEE"/>
            </a:solidFill>
            <a:prstDash val="solid"/>
          </a:ln>
        </p:spPr>
      </p:sp>
      <p:sp>
        <p:nvSpPr>
          <p:cNvPr id="17" name="Text 15"/>
          <p:cNvSpPr txBox="1"/>
          <p:nvPr/>
        </p:nvSpPr>
        <p:spPr>
          <a:xfrm>
            <a:off x="7132320" y="3959352"/>
            <a:ext cx="4206240" cy="0"/>
          </a:xfrm>
          <a:prstGeom prst="rect">
            <a:avLst/>
          </a:prstGeom>
          <a:noFill/>
          <a:ln/>
        </p:spPr>
        <p:txBody>
          <a:bodyPr wrap="square" lIns="0" tIns="0" rIns="0" bIns="0" rtlCol="0" anchor="t"/>
          <a:lstStyle/>
          <a:p>
            <a:pPr algn="l" indent="0" marL="0">
              <a:lnSpc>
                <a:spcPct val="113000"/>
              </a:lnSpc>
              <a:buNone/>
            </a:pPr>
            <a:r>
              <a:rPr lang="en-US" sz="1300" b="1" dirty="0">
                <a:solidFill>
                  <a:srgbClr val="2F3596"/>
                </a:solidFill>
                <a:latin typeface="Calibri" pitchFamily="34" charset="0"/>
                <a:ea typeface="Calibri" pitchFamily="34" charset="-122"/>
                <a:cs typeface="Calibri" pitchFamily="34" charset="-120"/>
              </a:rPr>
              <a:t>ESM embedding + regression head</a:t>
            </a:r>
            <a:endParaRPr lang="en-US" sz="1300" dirty="0"/>
          </a:p>
        </p:txBody>
      </p:sp>
      <p:sp>
        <p:nvSpPr>
          <p:cNvPr id="18" name="Text 16"/>
          <p:cNvSpPr txBox="1"/>
          <p:nvPr/>
        </p:nvSpPr>
        <p:spPr>
          <a:xfrm>
            <a:off x="7132320" y="4261104"/>
            <a:ext cx="4206240" cy="0"/>
          </a:xfrm>
          <a:prstGeom prst="rect">
            <a:avLst/>
          </a:prstGeom>
          <a:noFill/>
          <a:ln/>
        </p:spPr>
        <p:txBody>
          <a:bodyPr wrap="square" lIns="0" tIns="0" rIns="0" bIns="0" rtlCol="0" anchor="t"/>
          <a:lstStyle/>
          <a:p>
            <a:pPr algn="l" indent="0" marL="0">
              <a:lnSpc>
                <a:spcPct val="113000"/>
              </a:lnSpc>
              <a:buNone/>
            </a:pPr>
            <a:r>
              <a:rPr lang="en-US" sz="1100" dirty="0">
                <a:solidFill>
                  <a:srgbClr val="5C6180"/>
                </a:solidFill>
                <a:latin typeface="Calibri" pitchFamily="34" charset="0"/>
                <a:ea typeface="Calibri" pitchFamily="34" charset="-122"/>
                <a:cs typeface="Calibri" pitchFamily="34" charset="-120"/>
              </a:rPr>
              <a:t>SeekRank</a:t>
            </a:r>
            <a:endParaRPr lang="en-US" sz="1100" dirty="0"/>
          </a:p>
        </p:txBody>
      </p:sp>
      <p:sp>
        <p:nvSpPr>
          <p:cNvPr id="19" name="Shape 17"/>
          <p:cNvSpPr/>
          <p:nvPr/>
        </p:nvSpPr>
        <p:spPr>
          <a:xfrm>
            <a:off x="9134856" y="4645152"/>
            <a:ext cx="201168" cy="201168"/>
          </a:xfrm>
          <a:prstGeom prst="downArrow">
            <a:avLst/>
          </a:prstGeom>
          <a:solidFill>
            <a:srgbClr val="6A72CE"/>
          </a:solidFill>
          <a:ln/>
        </p:spPr>
      </p:sp>
      <p:sp>
        <p:nvSpPr>
          <p:cNvPr id="20" name="Shape 18"/>
          <p:cNvSpPr/>
          <p:nvPr/>
        </p:nvSpPr>
        <p:spPr>
          <a:xfrm>
            <a:off x="6903720" y="4882896"/>
            <a:ext cx="4663440" cy="749808"/>
          </a:xfrm>
          <a:prstGeom prst="roundRect">
            <a:avLst>
              <a:gd name="adj" fmla="val 7317"/>
            </a:avLst>
          </a:prstGeom>
          <a:solidFill>
            <a:srgbClr val="EEF0FA"/>
          </a:solidFill>
          <a:ln w="12700">
            <a:solidFill>
              <a:srgbClr val="D6DAEE"/>
            </a:solidFill>
            <a:prstDash val="solid"/>
          </a:ln>
        </p:spPr>
      </p:sp>
      <p:sp>
        <p:nvSpPr>
          <p:cNvPr id="21" name="Text 19"/>
          <p:cNvSpPr txBox="1"/>
          <p:nvPr/>
        </p:nvSpPr>
        <p:spPr>
          <a:xfrm>
            <a:off x="7132320" y="4992624"/>
            <a:ext cx="4206240" cy="0"/>
          </a:xfrm>
          <a:prstGeom prst="rect">
            <a:avLst/>
          </a:prstGeom>
          <a:noFill/>
          <a:ln/>
        </p:spPr>
        <p:txBody>
          <a:bodyPr wrap="square" lIns="0" tIns="0" rIns="0" bIns="0" rtlCol="0" anchor="t"/>
          <a:lstStyle/>
          <a:p>
            <a:pPr algn="l" indent="0" marL="0">
              <a:lnSpc>
                <a:spcPct val="113000"/>
              </a:lnSpc>
              <a:buNone/>
            </a:pPr>
            <a:r>
              <a:rPr lang="en-US" sz="1300" b="1" dirty="0">
                <a:solidFill>
                  <a:srgbClr val="6A72CE"/>
                </a:solidFill>
                <a:latin typeface="Calibri" pitchFamily="34" charset="0"/>
                <a:ea typeface="Calibri" pitchFamily="34" charset="-122"/>
                <a:cs typeface="Calibri" pitchFamily="34" charset="-120"/>
              </a:rPr>
              <a:t>Sequence-only ranking</a:t>
            </a:r>
            <a:endParaRPr lang="en-US" sz="1300" dirty="0"/>
          </a:p>
        </p:txBody>
      </p:sp>
      <p:sp>
        <p:nvSpPr>
          <p:cNvPr id="22" name="Text 20"/>
          <p:cNvSpPr txBox="1"/>
          <p:nvPr/>
        </p:nvSpPr>
        <p:spPr>
          <a:xfrm>
            <a:off x="7132320" y="5294376"/>
            <a:ext cx="4206240" cy="0"/>
          </a:xfrm>
          <a:prstGeom prst="rect">
            <a:avLst/>
          </a:prstGeom>
          <a:noFill/>
          <a:ln/>
        </p:spPr>
        <p:txBody>
          <a:bodyPr wrap="square" lIns="0" tIns="0" rIns="0" bIns="0" rtlCol="0" anchor="t"/>
          <a:lstStyle/>
          <a:p>
            <a:pPr algn="l" indent="0" marL="0">
              <a:lnSpc>
                <a:spcPct val="113000"/>
              </a:lnSpc>
              <a:buNone/>
            </a:pPr>
            <a:r>
              <a:rPr lang="en-US" sz="1100" dirty="0">
                <a:solidFill>
                  <a:srgbClr val="5C6180"/>
                </a:solidFill>
                <a:latin typeface="Calibri" pitchFamily="34" charset="0"/>
                <a:ea typeface="Calibri" pitchFamily="34" charset="-122"/>
                <a:cs typeface="Calibri" pitchFamily="34" charset="-120"/>
              </a:rPr>
              <a:t>extends to all 1,827</a:t>
            </a:r>
            <a:endParaRPr lang="en-US" sz="1100" dirty="0"/>
          </a:p>
        </p:txBody>
      </p:sp>
      <p:sp>
        <p:nvSpPr>
          <p:cNvPr id="24" name="Text 21"/>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Pipeline</a:t>
            </a:r>
            <a:endParaRPr lang="en-US" sz="2600" dirty="0"/>
          </a:p>
        </p:txBody>
      </p:sp>
      <p:sp>
        <p:nvSpPr>
          <p:cNvPr id="4" name="Shape 2"/>
          <p:cNvSpPr/>
          <p:nvPr/>
        </p:nvSpPr>
        <p:spPr>
          <a:xfrm>
            <a:off x="594360" y="1691640"/>
            <a:ext cx="1298448" cy="868680"/>
          </a:xfrm>
          <a:prstGeom prst="roundRect">
            <a:avLst>
              <a:gd name="adj" fmla="val 5263"/>
            </a:avLst>
          </a:prstGeom>
          <a:solidFill>
            <a:srgbClr val="16183A"/>
          </a:solidFill>
          <a:ln/>
        </p:spPr>
      </p:sp>
      <p:sp>
        <p:nvSpPr>
          <p:cNvPr id="5" name="Text 3"/>
          <p:cNvSpPr txBox="1"/>
          <p:nvPr/>
        </p:nvSpPr>
        <p:spPr>
          <a:xfrm>
            <a:off x="649224" y="1691640"/>
            <a:ext cx="1188720" cy="868680"/>
          </a:xfrm>
          <a:prstGeom prst="rect">
            <a:avLst/>
          </a:prstGeom>
          <a:noFill/>
          <a:ln/>
        </p:spPr>
        <p:txBody>
          <a:bodyPr wrap="square" lIns="0" tIns="0" rIns="0" bIns="0" rtlCol="0" anchor="ctr"/>
          <a:lstStyle/>
          <a:p>
            <a:pPr algn="ctr" indent="0" marL="0">
              <a:lnSpc>
                <a:spcPct val="103000"/>
              </a:lnSpc>
              <a:buNone/>
            </a:pPr>
            <a:r>
              <a:rPr lang="en-US" sz="1250" b="1" dirty="0">
                <a:solidFill>
                  <a:srgbClr val="FFFFFF"/>
                </a:solidFill>
                <a:latin typeface="Calibri" pitchFamily="34" charset="0"/>
                <a:ea typeface="Calibri" pitchFamily="34" charset="-122"/>
                <a:cs typeface="Calibri" pitchFamily="34" charset="-120"/>
              </a:rPr>
              <a:t>Sequences</a:t>
            </a:r>
            <a:endParaRPr lang="en-US" sz="1250" dirty="0"/>
          </a:p>
        </p:txBody>
      </p:sp>
      <p:sp>
        <p:nvSpPr>
          <p:cNvPr id="6" name="Shape 4"/>
          <p:cNvSpPr/>
          <p:nvPr/>
        </p:nvSpPr>
        <p:spPr>
          <a:xfrm>
            <a:off x="2148840" y="1691640"/>
            <a:ext cx="1649578" cy="868680"/>
          </a:xfrm>
          <a:prstGeom prst="roundRect">
            <a:avLst>
              <a:gd name="adj" fmla="val 5263"/>
            </a:avLst>
          </a:prstGeom>
          <a:solidFill>
            <a:srgbClr val="EEF0FA"/>
          </a:solidFill>
          <a:ln/>
        </p:spPr>
      </p:sp>
      <p:sp>
        <p:nvSpPr>
          <p:cNvPr id="7" name="Text 5"/>
          <p:cNvSpPr txBox="1"/>
          <p:nvPr/>
        </p:nvSpPr>
        <p:spPr>
          <a:xfrm>
            <a:off x="2203704" y="1691640"/>
            <a:ext cx="1539850" cy="868680"/>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IPR010047</a:t>
            </a:r>
            <a:endParaRPr lang="en-US" sz="1100" dirty="0"/>
          </a:p>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1,827</a:t>
            </a:r>
            <a:endParaRPr lang="en-US" sz="1100" dirty="0"/>
          </a:p>
        </p:txBody>
      </p:sp>
      <p:sp>
        <p:nvSpPr>
          <p:cNvPr id="8" name="Text 6"/>
          <p:cNvSpPr txBox="1"/>
          <p:nvPr/>
        </p:nvSpPr>
        <p:spPr>
          <a:xfrm>
            <a:off x="3807562" y="1993392"/>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9" name="Shape 7"/>
          <p:cNvSpPr/>
          <p:nvPr/>
        </p:nvSpPr>
        <p:spPr>
          <a:xfrm>
            <a:off x="4091026" y="1691640"/>
            <a:ext cx="1649578" cy="868680"/>
          </a:xfrm>
          <a:prstGeom prst="roundRect">
            <a:avLst>
              <a:gd name="adj" fmla="val 5263"/>
            </a:avLst>
          </a:prstGeom>
          <a:solidFill>
            <a:srgbClr val="EEF0FA"/>
          </a:solidFill>
          <a:ln/>
        </p:spPr>
      </p:sp>
      <p:sp>
        <p:nvSpPr>
          <p:cNvPr id="10" name="Text 8"/>
          <p:cNvSpPr txBox="1"/>
          <p:nvPr/>
        </p:nvSpPr>
        <p:spPr>
          <a:xfrm>
            <a:off x="4145890" y="1691640"/>
            <a:ext cx="1539850" cy="868680"/>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70% clustering</a:t>
            </a:r>
            <a:endParaRPr lang="en-US" sz="1100" dirty="0"/>
          </a:p>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219</a:t>
            </a:r>
            <a:endParaRPr lang="en-US" sz="1100" dirty="0"/>
          </a:p>
        </p:txBody>
      </p:sp>
      <p:sp>
        <p:nvSpPr>
          <p:cNvPr id="11" name="Text 9"/>
          <p:cNvSpPr txBox="1"/>
          <p:nvPr/>
        </p:nvSpPr>
        <p:spPr>
          <a:xfrm>
            <a:off x="5749747" y="1993392"/>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12" name="Shape 10"/>
          <p:cNvSpPr/>
          <p:nvPr/>
        </p:nvSpPr>
        <p:spPr>
          <a:xfrm>
            <a:off x="6033211" y="1691640"/>
            <a:ext cx="1649578" cy="868680"/>
          </a:xfrm>
          <a:prstGeom prst="roundRect">
            <a:avLst>
              <a:gd name="adj" fmla="val 5263"/>
            </a:avLst>
          </a:prstGeom>
          <a:solidFill>
            <a:srgbClr val="EEF0FA"/>
          </a:solidFill>
          <a:ln/>
        </p:spPr>
      </p:sp>
      <p:sp>
        <p:nvSpPr>
          <p:cNvPr id="13" name="Text 11"/>
          <p:cNvSpPr txBox="1"/>
          <p:nvPr/>
        </p:nvSpPr>
        <p:spPr>
          <a:xfrm>
            <a:off x="6088075" y="1691640"/>
            <a:ext cx="1539850" cy="868680"/>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dockability gate</a:t>
            </a:r>
            <a:endParaRPr lang="en-US" sz="1100" dirty="0"/>
          </a:p>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1,722</a:t>
            </a:r>
            <a:endParaRPr lang="en-US" sz="1100" dirty="0"/>
          </a:p>
        </p:txBody>
      </p:sp>
      <p:sp>
        <p:nvSpPr>
          <p:cNvPr id="14" name="Text 12"/>
          <p:cNvSpPr txBox="1"/>
          <p:nvPr/>
        </p:nvSpPr>
        <p:spPr>
          <a:xfrm>
            <a:off x="7691933" y="1993392"/>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15" name="Shape 13"/>
          <p:cNvSpPr/>
          <p:nvPr/>
        </p:nvSpPr>
        <p:spPr>
          <a:xfrm>
            <a:off x="7975397" y="1691640"/>
            <a:ext cx="1649578" cy="868680"/>
          </a:xfrm>
          <a:prstGeom prst="roundRect">
            <a:avLst>
              <a:gd name="adj" fmla="val 5263"/>
            </a:avLst>
          </a:prstGeom>
          <a:solidFill>
            <a:srgbClr val="EEF0FA"/>
          </a:solidFill>
          <a:ln/>
        </p:spPr>
      </p:sp>
      <p:sp>
        <p:nvSpPr>
          <p:cNvPr id="16" name="Text 14"/>
          <p:cNvSpPr txBox="1"/>
          <p:nvPr/>
        </p:nvSpPr>
        <p:spPr>
          <a:xfrm>
            <a:off x="8030261" y="1691640"/>
            <a:ext cx="1539850" cy="868680"/>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medoid representatives</a:t>
            </a:r>
            <a:endParaRPr lang="en-US" sz="1100" dirty="0"/>
          </a:p>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212</a:t>
            </a:r>
            <a:endParaRPr lang="en-US" sz="1100" dirty="0"/>
          </a:p>
        </p:txBody>
      </p:sp>
      <p:sp>
        <p:nvSpPr>
          <p:cNvPr id="17" name="Text 15"/>
          <p:cNvSpPr txBox="1"/>
          <p:nvPr/>
        </p:nvSpPr>
        <p:spPr>
          <a:xfrm>
            <a:off x="9634118" y="1993392"/>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18" name="Shape 16"/>
          <p:cNvSpPr/>
          <p:nvPr/>
        </p:nvSpPr>
        <p:spPr>
          <a:xfrm>
            <a:off x="9917582" y="1691640"/>
            <a:ext cx="1649578" cy="868680"/>
          </a:xfrm>
          <a:prstGeom prst="roundRect">
            <a:avLst>
              <a:gd name="adj" fmla="val 5263"/>
            </a:avLst>
          </a:prstGeom>
          <a:solidFill>
            <a:srgbClr val="EEF0FA"/>
          </a:solidFill>
          <a:ln/>
        </p:spPr>
      </p:sp>
      <p:sp>
        <p:nvSpPr>
          <p:cNvPr id="19" name="Text 17"/>
          <p:cNvSpPr txBox="1"/>
          <p:nvPr/>
        </p:nvSpPr>
        <p:spPr>
          <a:xfrm>
            <a:off x="9972446" y="1691640"/>
            <a:ext cx="1539850" cy="868680"/>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157 train / 55 eval</a:t>
            </a:r>
            <a:endParaRPr lang="en-US" sz="1100" dirty="0"/>
          </a:p>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+ 109 D2 expansion</a:t>
            </a:r>
            <a:endParaRPr lang="en-US" sz="1100" dirty="0"/>
          </a:p>
        </p:txBody>
      </p:sp>
      <p:sp>
        <p:nvSpPr>
          <p:cNvPr id="20" name="Shape 18"/>
          <p:cNvSpPr/>
          <p:nvPr/>
        </p:nvSpPr>
        <p:spPr>
          <a:xfrm>
            <a:off x="594360" y="2770632"/>
            <a:ext cx="1298448" cy="868680"/>
          </a:xfrm>
          <a:prstGeom prst="roundRect">
            <a:avLst>
              <a:gd name="adj" fmla="val 5263"/>
            </a:avLst>
          </a:prstGeom>
          <a:solidFill>
            <a:srgbClr val="16183A"/>
          </a:solidFill>
          <a:ln/>
        </p:spPr>
      </p:sp>
      <p:sp>
        <p:nvSpPr>
          <p:cNvPr id="21" name="Text 19"/>
          <p:cNvSpPr txBox="1"/>
          <p:nvPr/>
        </p:nvSpPr>
        <p:spPr>
          <a:xfrm>
            <a:off x="649224" y="2770632"/>
            <a:ext cx="1188720" cy="868680"/>
          </a:xfrm>
          <a:prstGeom prst="rect">
            <a:avLst/>
          </a:prstGeom>
          <a:noFill/>
          <a:ln/>
        </p:spPr>
        <p:txBody>
          <a:bodyPr wrap="square" lIns="0" tIns="0" rIns="0" bIns="0" rtlCol="0" anchor="ctr"/>
          <a:lstStyle/>
          <a:p>
            <a:pPr algn="ctr" indent="0" marL="0">
              <a:lnSpc>
                <a:spcPct val="103000"/>
              </a:lnSpc>
              <a:buNone/>
            </a:pPr>
            <a:r>
              <a:rPr lang="en-US" sz="1250" b="1" dirty="0">
                <a:solidFill>
                  <a:srgbClr val="FFFFFF"/>
                </a:solidFill>
                <a:latin typeface="Calibri" pitchFamily="34" charset="0"/>
                <a:ea typeface="Calibri" pitchFamily="34" charset="-122"/>
                <a:cs typeface="Calibri" pitchFamily="34" charset="-120"/>
              </a:rPr>
              <a:t>Structures</a:t>
            </a:r>
            <a:endParaRPr lang="en-US" sz="1250" dirty="0"/>
          </a:p>
        </p:txBody>
      </p:sp>
      <p:sp>
        <p:nvSpPr>
          <p:cNvPr id="22" name="Shape 20"/>
          <p:cNvSpPr/>
          <p:nvPr/>
        </p:nvSpPr>
        <p:spPr>
          <a:xfrm>
            <a:off x="2148840" y="2770632"/>
            <a:ext cx="2135124" cy="868680"/>
          </a:xfrm>
          <a:prstGeom prst="roundRect">
            <a:avLst>
              <a:gd name="adj" fmla="val 5263"/>
            </a:avLst>
          </a:prstGeom>
          <a:solidFill>
            <a:srgbClr val="EEF0FA"/>
          </a:solidFill>
          <a:ln/>
        </p:spPr>
      </p:sp>
      <p:sp>
        <p:nvSpPr>
          <p:cNvPr id="23" name="Text 21"/>
          <p:cNvSpPr txBox="1"/>
          <p:nvPr/>
        </p:nvSpPr>
        <p:spPr>
          <a:xfrm>
            <a:off x="2203704" y="2770632"/>
            <a:ext cx="2025396" cy="868680"/>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AFDB</a:t>
            </a:r>
            <a:endParaRPr lang="en-US" sz="1100" dirty="0"/>
          </a:p>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298</a:t>
            </a:r>
            <a:endParaRPr lang="en-US" sz="1100" dirty="0"/>
          </a:p>
        </p:txBody>
      </p:sp>
      <p:sp>
        <p:nvSpPr>
          <p:cNvPr id="24" name="Text 22"/>
          <p:cNvSpPr txBox="1"/>
          <p:nvPr/>
        </p:nvSpPr>
        <p:spPr>
          <a:xfrm>
            <a:off x="4293108" y="3072384"/>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25" name="Shape 23"/>
          <p:cNvSpPr/>
          <p:nvPr/>
        </p:nvSpPr>
        <p:spPr>
          <a:xfrm>
            <a:off x="4576572" y="2770632"/>
            <a:ext cx="2135124" cy="868680"/>
          </a:xfrm>
          <a:prstGeom prst="roundRect">
            <a:avLst>
              <a:gd name="adj" fmla="val 5263"/>
            </a:avLst>
          </a:prstGeom>
          <a:solidFill>
            <a:srgbClr val="EEF0FA"/>
          </a:solidFill>
          <a:ln/>
        </p:spPr>
      </p:sp>
      <p:sp>
        <p:nvSpPr>
          <p:cNvPr id="26" name="Text 24"/>
          <p:cNvSpPr txBox="1"/>
          <p:nvPr/>
        </p:nvSpPr>
        <p:spPr>
          <a:xfrm>
            <a:off x="4631436" y="2770632"/>
            <a:ext cx="2025396" cy="868680"/>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ColabFold</a:t>
            </a:r>
            <a:endParaRPr lang="en-US" sz="1100" dirty="0"/>
          </a:p>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23</a:t>
            </a:r>
            <a:endParaRPr lang="en-US" sz="1100" dirty="0"/>
          </a:p>
        </p:txBody>
      </p:sp>
      <p:sp>
        <p:nvSpPr>
          <p:cNvPr id="27" name="Text 25"/>
          <p:cNvSpPr txBox="1"/>
          <p:nvPr/>
        </p:nvSpPr>
        <p:spPr>
          <a:xfrm>
            <a:off x="6720840" y="3072384"/>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28" name="Shape 26"/>
          <p:cNvSpPr/>
          <p:nvPr/>
        </p:nvSpPr>
        <p:spPr>
          <a:xfrm>
            <a:off x="7004304" y="2770632"/>
            <a:ext cx="2135124" cy="868680"/>
          </a:xfrm>
          <a:prstGeom prst="roundRect">
            <a:avLst>
              <a:gd name="adj" fmla="val 5263"/>
            </a:avLst>
          </a:prstGeom>
          <a:solidFill>
            <a:srgbClr val="EEF0FA"/>
          </a:solidFill>
          <a:ln/>
        </p:spPr>
      </p:sp>
      <p:sp>
        <p:nvSpPr>
          <p:cNvPr id="29" name="Text 27"/>
          <p:cNvSpPr txBox="1"/>
          <p:nvPr/>
        </p:nvSpPr>
        <p:spPr>
          <a:xfrm>
            <a:off x="7059168" y="2770632"/>
            <a:ext cx="2025396" cy="868680"/>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architecture-matched</a:t>
            </a:r>
            <a:endParaRPr lang="en-US" sz="1100" dirty="0"/>
          </a:p>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SF4→1SU6 · SF2→6OND</a:t>
            </a:r>
            <a:endParaRPr lang="en-US" sz="1100" dirty="0"/>
          </a:p>
        </p:txBody>
      </p:sp>
      <p:sp>
        <p:nvSpPr>
          <p:cNvPr id="30" name="Text 28"/>
          <p:cNvSpPr txBox="1"/>
          <p:nvPr/>
        </p:nvSpPr>
        <p:spPr>
          <a:xfrm>
            <a:off x="9148572" y="3072384"/>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31" name="Shape 29"/>
          <p:cNvSpPr/>
          <p:nvPr/>
        </p:nvSpPr>
        <p:spPr>
          <a:xfrm>
            <a:off x="9432036" y="2770632"/>
            <a:ext cx="2135124" cy="868680"/>
          </a:xfrm>
          <a:prstGeom prst="roundRect">
            <a:avLst>
              <a:gd name="adj" fmla="val 5263"/>
            </a:avLst>
          </a:prstGeom>
          <a:solidFill>
            <a:srgbClr val="EEF0FA"/>
          </a:solidFill>
          <a:ln/>
        </p:spPr>
      </p:sp>
      <p:sp>
        <p:nvSpPr>
          <p:cNvPr id="32" name="Text 30"/>
          <p:cNvSpPr txBox="1"/>
          <p:nvPr/>
        </p:nvSpPr>
        <p:spPr>
          <a:xfrm>
            <a:off x="9486900" y="2770632"/>
            <a:ext cx="2025396" cy="868680"/>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dimer assembly</a:t>
            </a:r>
            <a:endParaRPr lang="en-US" sz="1100" dirty="0"/>
          </a:p>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321 / 321</a:t>
            </a:r>
            <a:endParaRPr lang="en-US" sz="1100" dirty="0"/>
          </a:p>
        </p:txBody>
      </p:sp>
      <p:sp>
        <p:nvSpPr>
          <p:cNvPr id="33" name="Shape 31"/>
          <p:cNvSpPr/>
          <p:nvPr/>
        </p:nvSpPr>
        <p:spPr>
          <a:xfrm>
            <a:off x="594360" y="3849624"/>
            <a:ext cx="1298448" cy="868680"/>
          </a:xfrm>
          <a:prstGeom prst="roundRect">
            <a:avLst>
              <a:gd name="adj" fmla="val 5263"/>
            </a:avLst>
          </a:prstGeom>
          <a:solidFill>
            <a:srgbClr val="16183A"/>
          </a:solidFill>
          <a:ln/>
        </p:spPr>
      </p:sp>
      <p:sp>
        <p:nvSpPr>
          <p:cNvPr id="34" name="Text 32"/>
          <p:cNvSpPr txBox="1"/>
          <p:nvPr/>
        </p:nvSpPr>
        <p:spPr>
          <a:xfrm>
            <a:off x="649224" y="3849624"/>
            <a:ext cx="1188720" cy="868680"/>
          </a:xfrm>
          <a:prstGeom prst="rect">
            <a:avLst/>
          </a:prstGeom>
          <a:noFill/>
          <a:ln/>
        </p:spPr>
        <p:txBody>
          <a:bodyPr wrap="square" lIns="0" tIns="0" rIns="0" bIns="0" rtlCol="0" anchor="ctr"/>
          <a:lstStyle/>
          <a:p>
            <a:pPr algn="ctr" indent="0" marL="0">
              <a:lnSpc>
                <a:spcPct val="103000"/>
              </a:lnSpc>
              <a:buNone/>
            </a:pPr>
            <a:r>
              <a:rPr lang="en-US" sz="1250" b="1" dirty="0">
                <a:solidFill>
                  <a:srgbClr val="FFFFFF"/>
                </a:solidFill>
                <a:latin typeface="Calibri" pitchFamily="34" charset="0"/>
                <a:ea typeface="Calibri" pitchFamily="34" charset="-122"/>
                <a:cs typeface="Calibri" pitchFamily="34" charset="-120"/>
              </a:rPr>
              <a:t>Docking</a:t>
            </a:r>
            <a:endParaRPr lang="en-US" sz="1250" dirty="0"/>
          </a:p>
        </p:txBody>
      </p:sp>
      <p:sp>
        <p:nvSpPr>
          <p:cNvPr id="35" name="Shape 33"/>
          <p:cNvSpPr/>
          <p:nvPr/>
        </p:nvSpPr>
        <p:spPr>
          <a:xfrm>
            <a:off x="2148840" y="3849624"/>
            <a:ext cx="9418320" cy="868680"/>
          </a:xfrm>
          <a:prstGeom prst="roundRect">
            <a:avLst>
              <a:gd name="adj" fmla="val 5263"/>
            </a:avLst>
          </a:prstGeom>
          <a:solidFill>
            <a:srgbClr val="EEF0FA"/>
          </a:solidFill>
          <a:ln/>
        </p:spPr>
      </p:sp>
      <p:sp>
        <p:nvSpPr>
          <p:cNvPr id="36" name="Text 34"/>
          <p:cNvSpPr txBox="1"/>
          <p:nvPr/>
        </p:nvSpPr>
        <p:spPr>
          <a:xfrm>
            <a:off x="2203704" y="3849624"/>
            <a:ext cx="9308592" cy="868680"/>
          </a:xfrm>
          <a:prstGeom prst="rect">
            <a:avLst/>
          </a:prstGeom>
          <a:noFill/>
          <a:ln/>
        </p:spPr>
        <p:txBody>
          <a:bodyPr wrap="square" lIns="0" tIns="0" rIns="0" bIns="0" rtlCol="0" anchor="ctr"/>
          <a:lstStyle/>
          <a:p>
            <a:pPr algn="ctr" indent="0" marL="0">
              <a:lnSpc>
                <a:spcPct val="103000"/>
              </a:lnSpc>
              <a:buNone/>
            </a:pPr>
            <a:r>
              <a:rPr lang="en-US" sz="1150" b="1" dirty="0">
                <a:solidFill>
                  <a:srgbClr val="2F3596"/>
                </a:solidFill>
                <a:latin typeface="Calibri" pitchFamily="34" charset="0"/>
                <a:ea typeface="Calibri" pitchFamily="34" charset="-122"/>
                <a:cs typeface="Calibri" pitchFamily="34" charset="-120"/>
              </a:rPr>
              <a:t>residue-41 CA of each structure  ·  15.000 Å half-width (npts 80 × 0.375)  ·  AutoDock-GPU, 50 runs  ·  primary metric med</a:t>
            </a:r>
            <a:endParaRPr lang="en-US" sz="1150" dirty="0"/>
          </a:p>
        </p:txBody>
      </p:sp>
      <p:sp>
        <p:nvSpPr>
          <p:cNvPr id="37" name="Shape 35"/>
          <p:cNvSpPr/>
          <p:nvPr/>
        </p:nvSpPr>
        <p:spPr>
          <a:xfrm>
            <a:off x="594360" y="4928616"/>
            <a:ext cx="1298448" cy="868680"/>
          </a:xfrm>
          <a:prstGeom prst="roundRect">
            <a:avLst>
              <a:gd name="adj" fmla="val 5263"/>
            </a:avLst>
          </a:prstGeom>
          <a:solidFill>
            <a:srgbClr val="16183A"/>
          </a:solidFill>
          <a:ln/>
        </p:spPr>
      </p:sp>
      <p:sp>
        <p:nvSpPr>
          <p:cNvPr id="38" name="Text 36"/>
          <p:cNvSpPr txBox="1"/>
          <p:nvPr/>
        </p:nvSpPr>
        <p:spPr>
          <a:xfrm>
            <a:off x="649224" y="4928616"/>
            <a:ext cx="1188720" cy="868680"/>
          </a:xfrm>
          <a:prstGeom prst="rect">
            <a:avLst/>
          </a:prstGeom>
          <a:noFill/>
          <a:ln/>
        </p:spPr>
        <p:txBody>
          <a:bodyPr wrap="square" lIns="0" tIns="0" rIns="0" bIns="0" rtlCol="0" anchor="ctr"/>
          <a:lstStyle/>
          <a:p>
            <a:pPr algn="ctr" indent="0" marL="0">
              <a:lnSpc>
                <a:spcPct val="103000"/>
              </a:lnSpc>
              <a:buNone/>
            </a:pPr>
            <a:r>
              <a:rPr lang="en-US" sz="1250" b="1" dirty="0">
                <a:solidFill>
                  <a:srgbClr val="FFFFFF"/>
                </a:solidFill>
                <a:latin typeface="Calibri" pitchFamily="34" charset="0"/>
                <a:ea typeface="Calibri" pitchFamily="34" charset="-122"/>
                <a:cs typeface="Calibri" pitchFamily="34" charset="-120"/>
              </a:rPr>
              <a:t>Training</a:t>
            </a:r>
            <a:endParaRPr lang="en-US" sz="1250" dirty="0"/>
          </a:p>
        </p:txBody>
      </p:sp>
      <p:sp>
        <p:nvSpPr>
          <p:cNvPr id="39" name="Shape 37"/>
          <p:cNvSpPr/>
          <p:nvPr/>
        </p:nvSpPr>
        <p:spPr>
          <a:xfrm>
            <a:off x="2148840" y="4928616"/>
            <a:ext cx="9418320" cy="868680"/>
          </a:xfrm>
          <a:prstGeom prst="roundRect">
            <a:avLst>
              <a:gd name="adj" fmla="val 5263"/>
            </a:avLst>
          </a:prstGeom>
          <a:solidFill>
            <a:srgbClr val="EEF0FA"/>
          </a:solidFill>
          <a:ln/>
        </p:spPr>
      </p:sp>
      <p:sp>
        <p:nvSpPr>
          <p:cNvPr id="40" name="Text 38"/>
          <p:cNvSpPr txBox="1"/>
          <p:nvPr/>
        </p:nvSpPr>
        <p:spPr>
          <a:xfrm>
            <a:off x="2203704" y="4928616"/>
            <a:ext cx="9308592" cy="868680"/>
          </a:xfrm>
          <a:prstGeom prst="rect">
            <a:avLst/>
          </a:prstGeom>
          <a:noFill/>
          <a:ln/>
        </p:spPr>
        <p:txBody>
          <a:bodyPr wrap="square" lIns="0" tIns="0" rIns="0" bIns="0" rtlCol="0" anchor="ctr"/>
          <a:lstStyle/>
          <a:p>
            <a:pPr algn="ctr" indent="0" marL="0">
              <a:lnSpc>
                <a:spcPct val="103000"/>
              </a:lnSpc>
              <a:buNone/>
            </a:pPr>
            <a:r>
              <a:rPr lang="en-US" sz="1150" b="1" dirty="0">
                <a:solidFill>
                  <a:srgbClr val="2F3596"/>
                </a:solidFill>
                <a:latin typeface="Calibri" pitchFamily="34" charset="0"/>
                <a:ea typeface="Calibri" pitchFamily="34" charset="-122"/>
                <a:cs typeface="Calibri" pitchFamily="34" charset="-120"/>
              </a:rPr>
              <a:t>SeekRank regression head  ·  experiments A sequential-by-identity / B all-at-once / C random order / D1 data volume / D2 within-cluster</a:t>
            </a:r>
            <a:endParaRPr lang="en-US" sz="1150" dirty="0"/>
          </a:p>
        </p:txBody>
      </p:sp>
      <p:sp>
        <p:nvSpPr>
          <p:cNvPr id="41" name="Text 39"/>
          <p:cNvSpPr txBox="1"/>
          <p:nvPr/>
        </p:nvSpPr>
        <p:spPr>
          <a:xfrm>
            <a:off x="594360" y="5989320"/>
            <a:ext cx="10972800" cy="0"/>
          </a:xfrm>
          <a:prstGeom prst="rect">
            <a:avLst/>
          </a:prstGeom>
          <a:noFill/>
          <a:ln/>
        </p:spPr>
        <p:txBody>
          <a:bodyPr wrap="square" lIns="0" tIns="0" rIns="0" bIns="0" rtlCol="0" anchor="t"/>
          <a:lstStyle/>
          <a:p>
            <a:pPr algn="l" indent="0" marL="0">
              <a:lnSpc>
                <a:spcPct val="113000"/>
              </a:lnSpc>
              <a:buNone/>
            </a:pPr>
            <a:r>
              <a:rPr lang="en-US" sz="1150" i="1" dirty="0">
                <a:solidFill>
                  <a:srgbClr val="5C6180"/>
                </a:solidFill>
                <a:latin typeface="Calibri" pitchFamily="34" charset="0"/>
                <a:ea typeface="Calibri" pitchFamily="34" charset="-122"/>
                <a:cs typeface="Calibri" pitchFamily="34" charset="-120"/>
              </a:rPr>
              <a:t>Sequence selection, structure retrieval and dimer assembly are settled. Docking is the next step.</a:t>
            </a:r>
            <a:endParaRPr lang="en-US" sz="1150" dirty="0"/>
          </a:p>
        </p:txBody>
      </p:sp>
      <p:sp>
        <p:nvSpPr>
          <p:cNvPr id="43" name="Text 40"/>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①  RECEPTOR</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The receptor must be a dimer — the monomer loses predictive power</a:t>
            </a:r>
            <a:endParaRPr lang="en-US" sz="2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6035040" cy="914400"/>
        </p:xfrm>
        <a:graphic>
          <a:graphicData uri="http://schemas.openxmlformats.org/drawingml/2006/table">
            <a:tbl>
              <a:tblPr/>
              <a:tblGrid>
                <a:gridCol w="2651760"/>
                <a:gridCol w="1097280"/>
                <a:gridCol w="1143000"/>
                <a:gridCol w="114300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 (n = 21)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Dimer</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Monomer</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Δ</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84048">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ρ with measured Km, med_lig</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b="1" dirty="0">
                          <a:solidFill>
                            <a:srgbClr val="2F3596"/>
                          </a:solidFill>
                          <a:latin typeface="Calibri" pitchFamily="34" charset="0"/>
                          <a:ea typeface="Calibri" pitchFamily="34" charset="-122"/>
                          <a:cs typeface="Calibri" pitchFamily="34" charset="-120"/>
                        </a:rPr>
                        <a:t>0.903</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b="1" dirty="0">
                          <a:solidFill>
                            <a:srgbClr val="C0692B"/>
                          </a:solidFill>
                          <a:latin typeface="Calibri" pitchFamily="34" charset="0"/>
                          <a:ea typeface="Calibri" pitchFamily="34" charset="-122"/>
                          <a:cs typeface="Calibri" pitchFamily="34" charset="-120"/>
                        </a:rPr>
                        <a:t>0.531</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−0.372</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ρ with measured Km, med_ds</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0.856</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0.512</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−0.344</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ρ with measured Km, best_ds</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0.876</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0.558</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−0.319</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ρ with dimer ranking, n = 288</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0.702</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5" name="Text 2"/>
          <p:cNvSpPr txBox="1"/>
          <p:nvPr/>
        </p:nvSpPr>
        <p:spPr>
          <a:xfrm>
            <a:off x="594360" y="3794760"/>
            <a:ext cx="6035040" cy="0"/>
          </a:xfrm>
          <a:prstGeom prst="rect">
            <a:avLst/>
          </a:prstGeom>
          <a:noFill/>
          <a:ln/>
        </p:spPr>
        <p:txBody>
          <a:bodyPr wrap="square" lIns="0" tIns="0" rIns="0" bIns="0" rtlCol="0" anchor="t"/>
          <a:lstStyle/>
          <a:p>
            <a:pPr algn="l" indent="0" marL="0">
              <a:lnSpc>
                <a:spcPct val="113000"/>
              </a:lnSpc>
              <a:buNone/>
            </a:pPr>
            <a:r>
              <a:rPr lang="en-US" sz="1100" i="1" dirty="0">
                <a:solidFill>
                  <a:srgbClr val="5C6180"/>
                </a:solidFill>
                <a:latin typeface="Calibri" pitchFamily="34" charset="0"/>
                <a:ea typeface="Calibri" pitchFamily="34" charset="-122"/>
                <a:cs typeface="Calibri" pitchFamily="34" charset="-120"/>
              </a:rPr>
              <a:t>288 truncated-monomer controls · identical center, half-width, nrun and seed</a:t>
            </a:r>
            <a:endParaRPr lang="en-US" sz="1100" dirty="0"/>
          </a:p>
        </p:txBody>
      </p:sp>
      <p:sp>
        <p:nvSpPr>
          <p:cNvPr id="6" name="Text 3"/>
          <p:cNvSpPr txBox="1"/>
          <p:nvPr/>
        </p:nvSpPr>
        <p:spPr>
          <a:xfrm>
            <a:off x="594360" y="4187952"/>
            <a:ext cx="6035040" cy="2103120"/>
          </a:xfrm>
          <a:prstGeom prst="rect">
            <a:avLst/>
          </a:prstGeom>
          <a:noFill/>
          <a:ln/>
        </p:spPr>
        <p:txBody>
          <a:bodyPr wrap="square" lIns="0" tIns="0" rIns="0" bIns="0" rtlCol="0" anchor="t"/>
          <a:lstStyle/>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This is not a convergence failure. </a:t>
            </a:r>
            <a:pPr indent="0" marL="0">
              <a:lnSpc>
                <a:spcPct val="116000"/>
              </a:lnSpc>
              <a:spcAft>
                <a:spcPts val="1000"/>
              </a:spcAft>
              <a:buNone/>
            </a:pPr>
            <a:r>
              <a:rPr lang="en-US" sz="1200" dirty="0">
                <a:solidFill>
                  <a:srgbClr val="1C1E33"/>
                </a:solidFill>
                <a:latin typeface="Calibri" pitchFamily="34" charset="0"/>
                <a:ea typeface="Calibri" pitchFamily="34" charset="-122"/>
                <a:cs typeface="Calibri" pitchFamily="34" charset="-120"/>
              </a:rPr>
              <a:t>Ligand-swap correlation in the monomer runs is 0.995, higher than the dimer's. The pocket simply became simpler; the search converged normally.</a:t>
            </a:r>
            <a:endParaRPr lang="en-US" sz="1200" dirty="0"/>
          </a:p>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It is the consequence of changing the structure. </a:t>
            </a:r>
            <a:pPr indent="0" marL="0">
              <a:lnSpc>
                <a:spcPct val="116000"/>
              </a:lnSpc>
              <a:spcAft>
                <a:spcPts val="1000"/>
              </a:spcAft>
              <a:buNone/>
            </a:pPr>
            <a:r>
              <a:rPr lang="en-US" sz="1200" dirty="0">
                <a:solidFill>
                  <a:srgbClr val="1C1E33"/>
                </a:solidFill>
                <a:latin typeface="Calibri" pitchFamily="34" charset="0"/>
                <a:ea typeface="Calibri" pitchFamily="34" charset="-122"/>
                <a:cs typeface="Calibri" pitchFamily="34" charset="-120"/>
              </a:rPr>
              <a:t>The SU2 contribution that was removed was not random noise but signal that matched experiment.</a:t>
            </a:r>
            <a:endParaRPr lang="en-US" sz="1200" dirty="0"/>
          </a:p>
          <a:p>
            <a:pPr indent="0" marL="0">
              <a:lnSpc>
                <a:spcPct val="116000"/>
              </a:lnSpc>
              <a:buNone/>
            </a:pPr>
            <a:r>
              <a:rPr lang="en-US" sz="1200" b="1" dirty="0">
                <a:solidFill>
                  <a:srgbClr val="C0692B"/>
                </a:solidFill>
                <a:latin typeface="Calibri" pitchFamily="34" charset="0"/>
                <a:ea typeface="Calibri" pitchFamily="34" charset="-122"/>
                <a:cs typeface="Calibri" pitchFamily="34" charset="-120"/>
              </a:rPr>
              <a:t>Consequence — multimer prediction is a prerequisite. </a:t>
            </a:r>
            <a:pPr indent="0" marL="0">
              <a:lnSpc>
                <a:spcPct val="116000"/>
              </a:lnSpc>
              <a:spcAft>
                <a:spcPts val="1000"/>
              </a:spcAft>
              <a:buNone/>
            </a:pPr>
            <a:r>
              <a:rPr lang="en-US" sz="1200" dirty="0">
                <a:solidFill>
                  <a:srgbClr val="C0692B"/>
                </a:solidFill>
                <a:latin typeface="Calibri" pitchFamily="34" charset="0"/>
                <a:ea typeface="Calibri" pitchFamily="34" charset="-122"/>
                <a:cs typeface="Calibri" pitchFamily="34" charset="-120"/>
              </a:rPr>
              <a:t>The plan to build homologs with AF2 monomer was abandoned.</a:t>
            </a:r>
            <a:endParaRPr lang="en-US" sz="1200" dirty="0"/>
          </a:p>
        </p:txBody>
      </p:sp>
      <p:sp>
        <p:nvSpPr>
          <p:cNvPr id="7" name="Shape 4"/>
          <p:cNvSpPr/>
          <p:nvPr/>
        </p:nvSpPr>
        <p:spPr>
          <a:xfrm>
            <a:off x="6995160" y="1783080"/>
            <a:ext cx="4572000" cy="2331720"/>
          </a:xfrm>
          <a:prstGeom prst="roundRect">
            <a:avLst>
              <a:gd name="adj" fmla="val 2353"/>
            </a:avLst>
          </a:prstGeom>
          <a:solidFill>
            <a:srgbClr val="F7F8FC"/>
          </a:solidFill>
          <a:ln w="12700">
            <a:solidFill>
              <a:srgbClr val="D6DAEE"/>
            </a:solidFill>
            <a:prstDash val="solid"/>
          </a:ln>
        </p:spPr>
      </p:sp>
      <p:sp>
        <p:nvSpPr>
          <p:cNvPr id="8" name="Text 5"/>
          <p:cNvSpPr txBox="1"/>
          <p:nvPr/>
        </p:nvSpPr>
        <p:spPr>
          <a:xfrm>
            <a:off x="7269480" y="1965960"/>
            <a:ext cx="4023360" cy="0"/>
          </a:xfrm>
          <a:prstGeom prst="rect">
            <a:avLst/>
          </a:prstGeom>
          <a:noFill/>
          <a:ln/>
        </p:spPr>
        <p:txBody>
          <a:bodyPr wrap="square" lIns="0" tIns="0" rIns="0" bIns="0" rtlCol="0" anchor="t"/>
          <a:lstStyle/>
          <a:p>
            <a:pPr algn="l" indent="0" marL="0">
              <a:lnSpc>
                <a:spcPct val="113000"/>
              </a:lnSpc>
              <a:buNone/>
            </a:pPr>
            <a:r>
              <a:rPr lang="en-US" sz="1200" b="1" dirty="0">
                <a:solidFill>
                  <a:srgbClr val="5C6180"/>
                </a:solidFill>
                <a:latin typeface="Calibri" pitchFamily="34" charset="0"/>
                <a:ea typeface="Calibri" pitchFamily="34" charset="-122"/>
                <a:cs typeface="Calibri" pitchFamily="34" charset="-120"/>
              </a:rPr>
              <a:t>Correlation with measured Km  (med_lig)</a:t>
            </a:r>
            <a:endParaRPr lang="en-US" sz="1200" dirty="0"/>
          </a:p>
        </p:txBody>
      </p:sp>
      <p:sp>
        <p:nvSpPr>
          <p:cNvPr id="9" name="Text 6"/>
          <p:cNvSpPr txBox="1"/>
          <p:nvPr/>
        </p:nvSpPr>
        <p:spPr>
          <a:xfrm>
            <a:off x="7223760" y="2377440"/>
            <a:ext cx="1828800" cy="661111"/>
          </a:xfrm>
          <a:prstGeom prst="rect">
            <a:avLst/>
          </a:prstGeom>
          <a:noFill/>
          <a:ln/>
        </p:spPr>
        <p:txBody>
          <a:bodyPr wrap="square" lIns="0" tIns="0" rIns="0" bIns="0" rtlCol="0" anchor="ctr"/>
          <a:lstStyle/>
          <a:p>
            <a:pPr algn="ctr" indent="0" marL="0">
              <a:buNone/>
            </a:pPr>
            <a:r>
              <a:rPr lang="en-US" sz="3400" b="1" dirty="0">
                <a:solidFill>
                  <a:srgbClr val="2F3596"/>
                </a:solidFill>
                <a:latin typeface="Calibri" pitchFamily="34" charset="0"/>
                <a:ea typeface="Calibri" pitchFamily="34" charset="-122"/>
                <a:cs typeface="Calibri" pitchFamily="34" charset="-120"/>
              </a:rPr>
              <a:t>0.903</a:t>
            </a:r>
            <a:endParaRPr lang="en-US" sz="3400" dirty="0"/>
          </a:p>
        </p:txBody>
      </p:sp>
      <p:sp>
        <p:nvSpPr>
          <p:cNvPr id="10" name="Text 7"/>
          <p:cNvSpPr txBox="1"/>
          <p:nvPr/>
        </p:nvSpPr>
        <p:spPr>
          <a:xfrm>
            <a:off x="7223760" y="2983687"/>
            <a:ext cx="1828800" cy="365760"/>
          </a:xfrm>
          <a:prstGeom prst="rect">
            <a:avLst/>
          </a:prstGeom>
          <a:noFill/>
          <a:ln/>
        </p:spPr>
        <p:txBody>
          <a:bodyPr wrap="square" lIns="0" tIns="0" rIns="0" bIns="0" rtlCol="0" anchor="ctr"/>
          <a:lstStyle/>
          <a:p>
            <a:pPr algn="ctr" indent="0" marL="0">
              <a:lnSpc>
                <a:spcPct val="106000"/>
              </a:lnSpc>
              <a:buNone/>
            </a:pPr>
            <a:r>
              <a:rPr lang="en-US" sz="1100" dirty="0">
                <a:solidFill>
                  <a:srgbClr val="5C6180"/>
                </a:solidFill>
                <a:latin typeface="Calibri" pitchFamily="34" charset="0"/>
                <a:ea typeface="Calibri" pitchFamily="34" charset="-122"/>
                <a:cs typeface="Calibri" pitchFamily="34" charset="-120"/>
              </a:rPr>
              <a:t>dimer</a:t>
            </a:r>
            <a:endParaRPr lang="en-US" sz="1100" dirty="0"/>
          </a:p>
        </p:txBody>
      </p:sp>
      <p:sp>
        <p:nvSpPr>
          <p:cNvPr id="11" name="Text 8"/>
          <p:cNvSpPr txBox="1"/>
          <p:nvPr/>
        </p:nvSpPr>
        <p:spPr>
          <a:xfrm>
            <a:off x="9098280" y="2450592"/>
            <a:ext cx="411480" cy="457200"/>
          </a:xfrm>
          <a:prstGeom prst="rect">
            <a:avLst/>
          </a:prstGeom>
          <a:noFill/>
          <a:ln/>
        </p:spPr>
        <p:txBody>
          <a:bodyPr wrap="square" lIns="0" tIns="0" rIns="0" bIns="0" rtlCol="0" anchor="ctr"/>
          <a:lstStyle/>
          <a:p>
            <a:pPr algn="ctr" indent="0" marL="0">
              <a:buNone/>
            </a:pPr>
            <a:r>
              <a:rPr lang="en-US" sz="2200" b="1" dirty="0">
                <a:solidFill>
                  <a:srgbClr val="5C6180"/>
                </a:solidFill>
                <a:latin typeface="Calibri" pitchFamily="34" charset="0"/>
                <a:ea typeface="Calibri" pitchFamily="34" charset="-122"/>
                <a:cs typeface="Calibri" pitchFamily="34" charset="-120"/>
              </a:rPr>
              <a:t>→</a:t>
            </a:r>
            <a:endParaRPr lang="en-US" sz="2200" dirty="0"/>
          </a:p>
        </p:txBody>
      </p:sp>
      <p:sp>
        <p:nvSpPr>
          <p:cNvPr id="12" name="Text 9"/>
          <p:cNvSpPr txBox="1"/>
          <p:nvPr/>
        </p:nvSpPr>
        <p:spPr>
          <a:xfrm>
            <a:off x="9509760" y="2377440"/>
            <a:ext cx="1828800" cy="661111"/>
          </a:xfrm>
          <a:prstGeom prst="rect">
            <a:avLst/>
          </a:prstGeom>
          <a:noFill/>
          <a:ln/>
        </p:spPr>
        <p:txBody>
          <a:bodyPr wrap="square" lIns="0" tIns="0" rIns="0" bIns="0" rtlCol="0" anchor="ctr"/>
          <a:lstStyle/>
          <a:p>
            <a:pPr algn="ctr" indent="0" marL="0">
              <a:buNone/>
            </a:pPr>
            <a:r>
              <a:rPr lang="en-US" sz="3400" b="1" dirty="0">
                <a:solidFill>
                  <a:srgbClr val="C0692B"/>
                </a:solidFill>
                <a:latin typeface="Calibri" pitchFamily="34" charset="0"/>
                <a:ea typeface="Calibri" pitchFamily="34" charset="-122"/>
                <a:cs typeface="Calibri" pitchFamily="34" charset="-120"/>
              </a:rPr>
              <a:t>0.531</a:t>
            </a:r>
            <a:endParaRPr lang="en-US" sz="3400" dirty="0"/>
          </a:p>
        </p:txBody>
      </p:sp>
      <p:sp>
        <p:nvSpPr>
          <p:cNvPr id="13" name="Text 10"/>
          <p:cNvSpPr txBox="1"/>
          <p:nvPr/>
        </p:nvSpPr>
        <p:spPr>
          <a:xfrm>
            <a:off x="9509760" y="2983687"/>
            <a:ext cx="1828800" cy="365760"/>
          </a:xfrm>
          <a:prstGeom prst="rect">
            <a:avLst/>
          </a:prstGeom>
          <a:noFill/>
          <a:ln/>
        </p:spPr>
        <p:txBody>
          <a:bodyPr wrap="square" lIns="0" tIns="0" rIns="0" bIns="0" rtlCol="0" anchor="ctr"/>
          <a:lstStyle/>
          <a:p>
            <a:pPr algn="ctr" indent="0" marL="0">
              <a:lnSpc>
                <a:spcPct val="106000"/>
              </a:lnSpc>
              <a:buNone/>
            </a:pPr>
            <a:r>
              <a:rPr lang="en-US" sz="1100" dirty="0">
                <a:solidFill>
                  <a:srgbClr val="5C6180"/>
                </a:solidFill>
                <a:latin typeface="Calibri" pitchFamily="34" charset="0"/>
                <a:ea typeface="Calibri" pitchFamily="34" charset="-122"/>
                <a:cs typeface="Calibri" pitchFamily="34" charset="-120"/>
              </a:rPr>
              <a:t>monomer</a:t>
            </a:r>
            <a:endParaRPr lang="en-US" sz="1100" dirty="0"/>
          </a:p>
        </p:txBody>
      </p:sp>
      <p:sp>
        <p:nvSpPr>
          <p:cNvPr id="14" name="Text 11"/>
          <p:cNvSpPr txBox="1"/>
          <p:nvPr/>
        </p:nvSpPr>
        <p:spPr>
          <a:xfrm>
            <a:off x="7269480" y="3675888"/>
            <a:ext cx="4023360" cy="0"/>
          </a:xfrm>
          <a:prstGeom prst="rect">
            <a:avLst/>
          </a:prstGeom>
          <a:noFill/>
          <a:ln/>
        </p:spPr>
        <p:txBody>
          <a:bodyPr wrap="square" lIns="0" tIns="0" rIns="0" bIns="0" rtlCol="0" anchor="t"/>
          <a:lstStyle/>
          <a:p>
            <a:pPr algn="ctr" indent="0" marL="0">
              <a:lnSpc>
                <a:spcPct val="113000"/>
              </a:lnSpc>
              <a:buNone/>
            </a:pPr>
            <a:r>
              <a:rPr lang="en-US" sz="1250" b="1" dirty="0">
                <a:solidFill>
                  <a:srgbClr val="C0692B"/>
                </a:solidFill>
                <a:latin typeface="Calibri" pitchFamily="34" charset="0"/>
                <a:ea typeface="Calibri" pitchFamily="34" charset="-122"/>
                <a:cs typeface="Calibri" pitchFamily="34" charset="-120"/>
              </a:rPr>
              <a:t>41% of the predictive power lost</a:t>
            </a:r>
            <a:endParaRPr lang="en-US" sz="1250" dirty="0"/>
          </a:p>
        </p:txBody>
      </p:sp>
      <p:sp>
        <p:nvSpPr>
          <p:cNvPr id="15" name="Shape 12"/>
          <p:cNvSpPr/>
          <p:nvPr/>
        </p:nvSpPr>
        <p:spPr>
          <a:xfrm>
            <a:off x="6995160" y="4315968"/>
            <a:ext cx="4572000" cy="1691640"/>
          </a:xfrm>
          <a:prstGeom prst="roundRect">
            <a:avLst>
              <a:gd name="adj" fmla="val 3243"/>
            </a:avLst>
          </a:prstGeom>
          <a:solidFill>
            <a:srgbClr val="EEF0FA"/>
          </a:solidFill>
          <a:ln w="12700">
            <a:solidFill>
              <a:srgbClr val="D6DAEE"/>
            </a:solidFill>
            <a:prstDash val="solid"/>
          </a:ln>
        </p:spPr>
      </p:sp>
      <p:sp>
        <p:nvSpPr>
          <p:cNvPr id="16" name="Text 13"/>
          <p:cNvSpPr txBox="1"/>
          <p:nvPr/>
        </p:nvSpPr>
        <p:spPr>
          <a:xfrm>
            <a:off x="7269480" y="4498848"/>
            <a:ext cx="4023360" cy="0"/>
          </a:xfrm>
          <a:prstGeom prst="rect">
            <a:avLst/>
          </a:prstGeom>
          <a:noFill/>
          <a:ln/>
        </p:spPr>
        <p:txBody>
          <a:bodyPr wrap="square" lIns="0" tIns="0" rIns="0" bIns="0" rtlCol="0" anchor="t"/>
          <a:lstStyle/>
          <a:p>
            <a:pPr algn="l" indent="0" marL="0">
              <a:lnSpc>
                <a:spcPct val="113000"/>
              </a:lnSpc>
              <a:buNone/>
            </a:pPr>
            <a:r>
              <a:rPr lang="en-US" sz="1250" b="1" dirty="0">
                <a:solidFill>
                  <a:srgbClr val="2F3596"/>
                </a:solidFill>
                <a:latin typeface="Calibri" pitchFamily="34" charset="0"/>
                <a:ea typeface="Calibri" pitchFamily="34" charset="-122"/>
                <a:cs typeface="Calibri" pitchFamily="34" charset="-120"/>
              </a:rPr>
              <a:t>Why the dimer is required</a:t>
            </a:r>
            <a:endParaRPr lang="en-US" sz="1250" dirty="0"/>
          </a:p>
        </p:txBody>
      </p:sp>
      <p:sp>
        <p:nvSpPr>
          <p:cNvPr id="17" name="Text 14"/>
          <p:cNvSpPr txBox="1"/>
          <p:nvPr/>
        </p:nvSpPr>
        <p:spPr>
          <a:xfrm>
            <a:off x="7269480" y="4828032"/>
            <a:ext cx="4023360" cy="0"/>
          </a:xfrm>
          <a:prstGeom prst="rect">
            <a:avLst/>
          </a:prstGeom>
          <a:noFill/>
          <a:ln/>
        </p:spPr>
        <p:txBody>
          <a:bodyPr wrap="square" lIns="0" tIns="0" rIns="0" bIns="0" rtlCol="0" anchor="t"/>
          <a:lstStyle/>
          <a:p>
            <a:pPr algn="l" indent="0" marL="0">
              <a:lnSpc>
                <a:spcPct val="118000"/>
              </a:lnSpc>
              <a:buNone/>
            </a:pPr>
            <a:r>
              <a:rPr lang="en-US" sz="1200" dirty="0">
                <a:solidFill>
                  <a:srgbClr val="1C1E33"/>
                </a:solidFill>
                <a:latin typeface="Calibri" pitchFamily="34" charset="0"/>
                <a:ea typeface="Calibri" pitchFamily="34" charset="-122"/>
                <a:cs typeface="Calibri" pitchFamily="34" charset="-120"/>
              </a:rPr>
              <a:t>The EV binding site straddles the C2 interface of the two protomers. Truncating to a monomer deletes half of that site.</a:t>
            </a:r>
            <a:endParaRPr lang="en-US" sz="1200" dirty="0"/>
          </a:p>
        </p:txBody>
      </p:sp>
      <p:sp>
        <p:nvSpPr>
          <p:cNvPr id="19" name="Text 15"/>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EVIDENCE</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The EV binding site straddles the C2 interface</a:t>
            </a:r>
            <a:endParaRPr lang="en-US" sz="2600" dirty="0"/>
          </a:p>
        </p:txBody>
      </p:sp>
      <p:sp>
        <p:nvSpPr>
          <p:cNvPr id="4" name="Text 2"/>
          <p:cNvSpPr txBox="1"/>
          <p:nvPr/>
        </p:nvSpPr>
        <p:spPr>
          <a:xfrm>
            <a:off x="594360" y="1783080"/>
            <a:ext cx="5669280" cy="3108960"/>
          </a:xfrm>
          <a:prstGeom prst="rect">
            <a:avLst/>
          </a:prstGeom>
          <a:noFill/>
          <a:ln/>
        </p:spPr>
        <p:txBody>
          <a:bodyPr wrap="square" lIns="0" tIns="0" rIns="0" bIns="0" rtlCol="0" anchor="t"/>
          <a:lstStyle/>
          <a:p>
            <a:pPr indent="0" marL="0">
              <a:lnSpc>
                <a:spcPct val="116000"/>
              </a:lnSpc>
              <a:buNone/>
            </a:pPr>
            <a:r>
              <a:rPr lang="en-US" sz="1250" b="1" dirty="0">
                <a:solidFill>
                  <a:srgbClr val="1C1E33"/>
                </a:solidFill>
                <a:latin typeface="Calibri" pitchFamily="34" charset="0"/>
                <a:ea typeface="Calibri" pitchFamily="34" charset="-122"/>
                <a:cs typeface="Calibri" pitchFamily="34" charset="-120"/>
              </a:rPr>
              <a:t>Atoms inside the box split across both protomers. </a:t>
            </a:r>
            <a:pPr indent="0" marL="0">
              <a:lnSpc>
                <a:spcPct val="116000"/>
              </a:lnSpc>
              <a:spcAft>
                <a:spcPts val="1300"/>
              </a:spcAft>
              <a:buNone/>
            </a:pPr>
            <a:r>
              <a:rPr lang="en-US" sz="1250" dirty="0">
                <a:solidFill>
                  <a:srgbClr val="1C1E33"/>
                </a:solidFill>
                <a:latin typeface="Calibri" pitchFamily="34" charset="0"/>
                <a:ea typeface="Calibri" pitchFamily="34" charset="-122"/>
                <a:cs typeface="Calibri" pitchFamily="34" charset="-120"/>
              </a:rPr>
              <a:t>SU1 contributes 436 (54.6%), SU2 contributes 362 (45.4%).</a:t>
            </a:r>
            <a:endParaRPr lang="en-US" sz="1250" dirty="0"/>
          </a:p>
          <a:p>
            <a:pPr indent="0" marL="0">
              <a:lnSpc>
                <a:spcPct val="116000"/>
              </a:lnSpc>
              <a:buNone/>
            </a:pPr>
            <a:r>
              <a:rPr lang="en-US" sz="1250" b="1" dirty="0">
                <a:solidFill>
                  <a:srgbClr val="1C1E33"/>
                </a:solidFill>
                <a:latin typeface="Calibri" pitchFamily="34" charset="0"/>
                <a:ea typeface="Calibri" pitchFamily="34" charset="-122"/>
                <a:cs typeface="Calibri" pitchFamily="34" charset="-120"/>
              </a:rPr>
              <a:t>Both protomers face each other with the same 34–67 loop. </a:t>
            </a:r>
            <a:pPr indent="0" marL="0">
              <a:lnSpc>
                <a:spcPct val="116000"/>
              </a:lnSpc>
              <a:spcAft>
                <a:spcPts val="1300"/>
              </a:spcAft>
              <a:buNone/>
            </a:pPr>
            <a:r>
              <a:rPr lang="en-US" sz="1250" dirty="0">
                <a:solidFill>
                  <a:srgbClr val="1C1E33"/>
                </a:solidFill>
                <a:latin typeface="Calibri" pitchFamily="34" charset="0"/>
                <a:ea typeface="Calibri" pitchFamily="34" charset="-122"/>
                <a:cs typeface="Calibri" pitchFamily="34" charset="-120"/>
              </a:rPr>
              <a:t>Within 12 Å of the center, the pocket wall is 28 residues from SU1 and 18 from SU2.</a:t>
            </a:r>
            <a:endParaRPr lang="en-US" sz="1250" dirty="0"/>
          </a:p>
          <a:p>
            <a:pPr indent="0" marL="0">
              <a:lnSpc>
                <a:spcPct val="116000"/>
              </a:lnSpc>
              <a:buNone/>
            </a:pPr>
            <a:r>
              <a:rPr lang="en-US" sz="1250" b="1" dirty="0">
                <a:solidFill>
                  <a:srgbClr val="1C1E33"/>
                </a:solidFill>
                <a:latin typeface="Calibri" pitchFamily="34" charset="0"/>
                <a:ea typeface="Calibri" pitchFamily="34" charset="-122"/>
                <a:cs typeface="Calibri" pitchFamily="34" charset="-120"/>
              </a:rPr>
              <a:t>The box encloses the symmetry axis. </a:t>
            </a:r>
            <a:pPr indent="0" marL="0">
              <a:lnSpc>
                <a:spcPct val="116000"/>
              </a:lnSpc>
              <a:spcAft>
                <a:spcPts val="1300"/>
              </a:spcAft>
              <a:buNone/>
            </a:pPr>
            <a:r>
              <a:rPr lang="en-US" sz="1250" dirty="0">
                <a:solidFill>
                  <a:srgbClr val="1C1E33"/>
                </a:solidFill>
                <a:latin typeface="Calibri" pitchFamily="34" charset="0"/>
                <a:ea typeface="Calibri" pitchFamily="34" charset="-122"/>
                <a:cs typeface="Calibri" pitchFamily="34" charset="-120"/>
              </a:rPr>
              <a:t>The grid center sits 4.76 Å from the C2 axis, and the two F41 CE2 atoms form a symmetric pair 9.53 Å apart.</a:t>
            </a:r>
            <a:endParaRPr lang="en-US" sz="1250" dirty="0"/>
          </a:p>
          <a:p>
            <a:pPr indent="0" marL="0">
              <a:lnSpc>
                <a:spcPct val="116000"/>
              </a:lnSpc>
              <a:buNone/>
            </a:pPr>
            <a:r>
              <a:rPr lang="en-US" sz="1250" b="1" dirty="0">
                <a:solidFill>
                  <a:srgbClr val="C0692B"/>
                </a:solidFill>
                <a:latin typeface="Calibri" pitchFamily="34" charset="0"/>
                <a:ea typeface="Calibri" pitchFamily="34" charset="-122"/>
                <a:cs typeface="Calibri" pitchFamily="34" charset="-120"/>
              </a:rPr>
              <a:t>The C-cluster lies outside the box. </a:t>
            </a:r>
            <a:pPr indent="0" marL="0">
              <a:lnSpc>
                <a:spcPct val="116000"/>
              </a:lnSpc>
              <a:spcAft>
                <a:spcPts val="1300"/>
              </a:spcAft>
              <a:buNone/>
            </a:pPr>
            <a:r>
              <a:rPr lang="en-US" sz="1250" dirty="0">
                <a:solidFill>
                  <a:srgbClr val="C0692B"/>
                </a:solidFill>
                <a:latin typeface="Calibri" pitchFamily="34" charset="0"/>
                <a:ea typeface="Calibri" pitchFamily="34" charset="-122"/>
                <a:cs typeface="Calibri" pitchFamily="34" charset="-120"/>
              </a:rPr>
              <a:t>The CO oxidation site is 26.4 Å away. The box sits near the D-cluster, on the electron transfer path.</a:t>
            </a:r>
            <a:endParaRPr lang="en-US" sz="1250" dirty="0"/>
          </a:p>
        </p:txBody>
      </p:sp>
      <p:sp>
        <p:nvSpPr>
          <p:cNvPr id="5" name="Shape 3"/>
          <p:cNvSpPr/>
          <p:nvPr/>
        </p:nvSpPr>
        <p:spPr>
          <a:xfrm>
            <a:off x="594360" y="4983480"/>
            <a:ext cx="5669280" cy="1051560"/>
          </a:xfrm>
          <a:prstGeom prst="roundRect">
            <a:avLst>
              <a:gd name="adj" fmla="val 5217"/>
            </a:avLst>
          </a:prstGeom>
          <a:solidFill>
            <a:srgbClr val="F7F8FC"/>
          </a:solidFill>
          <a:ln w="12700">
            <a:solidFill>
              <a:srgbClr val="D6DAEE"/>
            </a:solidFill>
            <a:prstDash val="solid"/>
          </a:ln>
        </p:spPr>
      </p:sp>
      <p:sp>
        <p:nvSpPr>
          <p:cNvPr id="6" name="Text 4"/>
          <p:cNvSpPr txBox="1"/>
          <p:nvPr/>
        </p:nvSpPr>
        <p:spPr>
          <a:xfrm>
            <a:off x="850392" y="5148072"/>
            <a:ext cx="5157216" cy="0"/>
          </a:xfrm>
          <a:prstGeom prst="rect">
            <a:avLst/>
          </a:prstGeom>
          <a:noFill/>
          <a:ln/>
        </p:spPr>
        <p:txBody>
          <a:bodyPr wrap="square" lIns="0" tIns="0" rIns="0" bIns="0" rtlCol="0" anchor="t"/>
          <a:lstStyle/>
          <a:p>
            <a:pPr algn="l" indent="0" marL="0">
              <a:lnSpc>
                <a:spcPct val="118000"/>
              </a:lnSpc>
              <a:buNone/>
            </a:pPr>
            <a:r>
              <a:rPr lang="en-US" sz="1100" dirty="0">
                <a:solidFill>
                  <a:srgbClr val="1C1E33"/>
                </a:solidFill>
                <a:latin typeface="Calibri" pitchFamily="34" charset="0"/>
                <a:ea typeface="Calibri" pitchFamily="34" charset="-122"/>
                <a:cs typeface="Calibri" pitchFamily="34" charset="-120"/>
              </a:rPr>
              <a:t>Both protomers share chain A with identical residue numbering, so residue-based checks cannot tell them apart. The dimer was confirmed from atom count (11,370) and a median duplicate-pair distance of 51.61 Å.</a:t>
            </a:r>
            <a:endParaRPr lang="en-US" sz="1100" dirty="0"/>
          </a:p>
        </p:txBody>
      </p:sp>
      <p:sp>
        <p:nvSpPr>
          <p:cNvPr id="7" name="Shape 5"/>
          <p:cNvSpPr/>
          <p:nvPr/>
        </p:nvSpPr>
        <p:spPr>
          <a:xfrm>
            <a:off x="6537960" y="1783080"/>
            <a:ext cx="5029200" cy="4251960"/>
          </a:xfrm>
          <a:prstGeom prst="roundRect">
            <a:avLst>
              <a:gd name="adj" fmla="val 1290"/>
            </a:avLst>
          </a:prstGeom>
          <a:solidFill>
            <a:srgbClr val="F7F8FC"/>
          </a:solidFill>
          <a:ln w="12700">
            <a:solidFill>
              <a:srgbClr val="D6DAEE"/>
            </a:solidFill>
            <a:prstDash val="solid"/>
          </a:ln>
        </p:spPr>
      </p:sp>
      <p:sp>
        <p:nvSpPr>
          <p:cNvPr id="8" name="Text 6"/>
          <p:cNvSpPr txBox="1"/>
          <p:nvPr/>
        </p:nvSpPr>
        <p:spPr>
          <a:xfrm>
            <a:off x="7955280" y="1874520"/>
            <a:ext cx="2286000" cy="0"/>
          </a:xfrm>
          <a:prstGeom prst="rect">
            <a:avLst/>
          </a:prstGeom>
          <a:noFill/>
          <a:ln/>
        </p:spPr>
        <p:txBody>
          <a:bodyPr wrap="square" lIns="0" tIns="0" rIns="0" bIns="0" rtlCol="0" anchor="t"/>
          <a:lstStyle/>
          <a:p>
            <a:pPr algn="ctr" indent="0" marL="0">
              <a:lnSpc>
                <a:spcPct val="113000"/>
              </a:lnSpc>
              <a:buNone/>
            </a:pPr>
            <a:r>
              <a:rPr lang="en-US" sz="1100" b="1" dirty="0">
                <a:solidFill>
                  <a:srgbClr val="C0692B"/>
                </a:solidFill>
                <a:latin typeface="Calibri" pitchFamily="34" charset="0"/>
                <a:ea typeface="Calibri" pitchFamily="34" charset="-122"/>
                <a:cs typeface="Calibri" pitchFamily="34" charset="-120"/>
              </a:rPr>
              <a:t>15 Å half-width box</a:t>
            </a:r>
            <a:endParaRPr lang="en-US" sz="1100" dirty="0"/>
          </a:p>
        </p:txBody>
      </p:sp>
      <p:sp>
        <p:nvSpPr>
          <p:cNvPr id="9" name="Shape 7"/>
          <p:cNvSpPr/>
          <p:nvPr/>
        </p:nvSpPr>
        <p:spPr>
          <a:xfrm>
            <a:off x="9098280" y="2121408"/>
            <a:ext cx="0" cy="2542032"/>
          </a:xfrm>
          <a:prstGeom prst="line">
            <a:avLst/>
          </a:prstGeom>
          <a:noFill/>
          <a:ln w="15875">
            <a:solidFill>
              <a:srgbClr val="5C6180"/>
            </a:solidFill>
            <a:prstDash val="dash"/>
          </a:ln>
        </p:spPr>
      </p:sp>
      <p:sp>
        <p:nvSpPr>
          <p:cNvPr id="10" name="Shape 8"/>
          <p:cNvSpPr/>
          <p:nvPr/>
        </p:nvSpPr>
        <p:spPr>
          <a:xfrm>
            <a:off x="6766560" y="1920240"/>
            <a:ext cx="2286000" cy="2286000"/>
          </a:xfrm>
          <a:prstGeom prst="ellipse">
            <a:avLst/>
          </a:prstGeom>
          <a:solidFill>
            <a:srgbClr val="D5DAF2"/>
          </a:solidFill>
          <a:ln w="15875">
            <a:solidFill>
              <a:srgbClr val="6A72CE"/>
            </a:solidFill>
            <a:prstDash val="solid"/>
          </a:ln>
        </p:spPr>
      </p:sp>
      <p:sp>
        <p:nvSpPr>
          <p:cNvPr id="11" name="Shape 9"/>
          <p:cNvSpPr/>
          <p:nvPr/>
        </p:nvSpPr>
        <p:spPr>
          <a:xfrm>
            <a:off x="9144000" y="1920240"/>
            <a:ext cx="2286000" cy="2286000"/>
          </a:xfrm>
          <a:prstGeom prst="ellipse">
            <a:avLst/>
          </a:prstGeom>
          <a:solidFill>
            <a:srgbClr val="E4E7F7"/>
          </a:solidFill>
          <a:ln w="15875">
            <a:solidFill>
              <a:srgbClr val="6A72CE"/>
            </a:solidFill>
            <a:prstDash val="solid"/>
          </a:ln>
        </p:spPr>
      </p:sp>
      <p:sp>
        <p:nvSpPr>
          <p:cNvPr id="12" name="Text 10"/>
          <p:cNvSpPr txBox="1"/>
          <p:nvPr/>
        </p:nvSpPr>
        <p:spPr>
          <a:xfrm>
            <a:off x="6995160" y="2898648"/>
            <a:ext cx="1097280" cy="0"/>
          </a:xfrm>
          <a:prstGeom prst="rect">
            <a:avLst/>
          </a:prstGeom>
          <a:noFill/>
          <a:ln/>
        </p:spPr>
        <p:txBody>
          <a:bodyPr wrap="square" lIns="0" tIns="0" rIns="0" bIns="0" rtlCol="0" anchor="t"/>
          <a:lstStyle/>
          <a:p>
            <a:pPr algn="ctr" indent="0" marL="0">
              <a:lnSpc>
                <a:spcPct val="113000"/>
              </a:lnSpc>
              <a:buNone/>
            </a:pPr>
            <a:r>
              <a:rPr lang="en-US" sz="1400" b="1" dirty="0">
                <a:solidFill>
                  <a:srgbClr val="2F3596"/>
                </a:solidFill>
                <a:latin typeface="Calibri" pitchFamily="34" charset="0"/>
                <a:ea typeface="Calibri" pitchFamily="34" charset="-122"/>
                <a:cs typeface="Calibri" pitchFamily="34" charset="-120"/>
              </a:rPr>
              <a:t>SU1</a:t>
            </a:r>
            <a:endParaRPr lang="en-US" sz="1400" dirty="0"/>
          </a:p>
        </p:txBody>
      </p:sp>
      <p:sp>
        <p:nvSpPr>
          <p:cNvPr id="13" name="Text 11"/>
          <p:cNvSpPr txBox="1"/>
          <p:nvPr/>
        </p:nvSpPr>
        <p:spPr>
          <a:xfrm>
            <a:off x="10104120" y="2898648"/>
            <a:ext cx="1097280" cy="0"/>
          </a:xfrm>
          <a:prstGeom prst="rect">
            <a:avLst/>
          </a:prstGeom>
          <a:noFill/>
          <a:ln/>
        </p:spPr>
        <p:txBody>
          <a:bodyPr wrap="square" lIns="0" tIns="0" rIns="0" bIns="0" rtlCol="0" anchor="t"/>
          <a:lstStyle/>
          <a:p>
            <a:pPr algn="ctr" indent="0" marL="0">
              <a:lnSpc>
                <a:spcPct val="113000"/>
              </a:lnSpc>
              <a:buNone/>
            </a:pPr>
            <a:r>
              <a:rPr lang="en-US" sz="1400" b="1" dirty="0">
                <a:solidFill>
                  <a:srgbClr val="2F3596"/>
                </a:solidFill>
                <a:latin typeface="Calibri" pitchFamily="34" charset="0"/>
                <a:ea typeface="Calibri" pitchFamily="34" charset="-122"/>
                <a:cs typeface="Calibri" pitchFamily="34" charset="-120"/>
              </a:rPr>
              <a:t>SU2</a:t>
            </a:r>
            <a:endParaRPr lang="en-US" sz="1400" dirty="0"/>
          </a:p>
        </p:txBody>
      </p:sp>
      <p:sp>
        <p:nvSpPr>
          <p:cNvPr id="14" name="Shape 12"/>
          <p:cNvSpPr/>
          <p:nvPr/>
        </p:nvSpPr>
        <p:spPr>
          <a:xfrm>
            <a:off x="8229600" y="2194560"/>
            <a:ext cx="1737360" cy="1737360"/>
          </a:xfrm>
          <a:prstGeom prst="roundRect">
            <a:avLst>
              <a:gd name="adj" fmla="val 2105"/>
            </a:avLst>
          </a:prstGeom>
          <a:ln w="28575">
            <a:solidFill>
              <a:srgbClr val="C0692B"/>
            </a:solidFill>
            <a:prstDash val="solid"/>
          </a:ln>
        </p:spPr>
      </p:sp>
      <p:sp>
        <p:nvSpPr>
          <p:cNvPr id="15" name="Text 13"/>
          <p:cNvSpPr txBox="1"/>
          <p:nvPr/>
        </p:nvSpPr>
        <p:spPr>
          <a:xfrm>
            <a:off x="9226296" y="4315968"/>
            <a:ext cx="1097280" cy="0"/>
          </a:xfrm>
          <a:prstGeom prst="rect">
            <a:avLst/>
          </a:prstGeom>
          <a:noFill/>
          <a:ln/>
        </p:spPr>
        <p:txBody>
          <a:bodyPr wrap="square" lIns="0" tIns="0" rIns="0" bIns="0" rtlCol="0" anchor="t"/>
          <a:lstStyle/>
          <a:p>
            <a:pPr algn="l" indent="0" marL="0">
              <a:lnSpc>
                <a:spcPct val="113000"/>
              </a:lnSpc>
              <a:buNone/>
            </a:pPr>
            <a:r>
              <a:rPr lang="en-US" sz="1050" b="1" dirty="0">
                <a:solidFill>
                  <a:srgbClr val="5C6180"/>
                </a:solidFill>
                <a:latin typeface="Calibri" pitchFamily="34" charset="0"/>
                <a:ea typeface="Calibri" pitchFamily="34" charset="-122"/>
                <a:cs typeface="Calibri" pitchFamily="34" charset="-120"/>
              </a:rPr>
              <a:t>C2 axis</a:t>
            </a:r>
            <a:endParaRPr lang="en-US" sz="1050" dirty="0"/>
          </a:p>
        </p:txBody>
      </p:sp>
      <p:sp>
        <p:nvSpPr>
          <p:cNvPr id="16" name="Text 14"/>
          <p:cNvSpPr txBox="1"/>
          <p:nvPr/>
        </p:nvSpPr>
        <p:spPr>
          <a:xfrm>
            <a:off x="6812280" y="4956048"/>
            <a:ext cx="4572000" cy="0"/>
          </a:xfrm>
          <a:prstGeom prst="rect">
            <a:avLst/>
          </a:prstGeom>
          <a:noFill/>
          <a:ln/>
        </p:spPr>
        <p:txBody>
          <a:bodyPr wrap="square" lIns="0" tIns="0" rIns="0" bIns="0" rtlCol="0" anchor="t"/>
          <a:lstStyle/>
          <a:p>
            <a:pPr algn="ctr" indent="0" marL="0">
              <a:lnSpc>
                <a:spcPct val="113000"/>
              </a:lnSpc>
              <a:buNone/>
            </a:pPr>
            <a:r>
              <a:rPr lang="en-US" sz="1200" b="1" dirty="0">
                <a:solidFill>
                  <a:srgbClr val="2F3596"/>
                </a:solidFill>
                <a:latin typeface="Calibri" pitchFamily="34" charset="0"/>
                <a:ea typeface="Calibri" pitchFamily="34" charset="-122"/>
                <a:cs typeface="Calibri" pitchFamily="34" charset="-120"/>
              </a:rPr>
              <a:t>Atoms in box    SU1 54.6%  /  SU2 45.4%</a:t>
            </a:r>
            <a:endParaRPr lang="en-US" sz="1200" dirty="0"/>
          </a:p>
        </p:txBody>
      </p:sp>
      <p:sp>
        <p:nvSpPr>
          <p:cNvPr id="17" name="Text 15"/>
          <p:cNvSpPr txBox="1"/>
          <p:nvPr/>
        </p:nvSpPr>
        <p:spPr>
          <a:xfrm>
            <a:off x="6812280" y="5303520"/>
            <a:ext cx="4572000" cy="0"/>
          </a:xfrm>
          <a:prstGeom prst="rect">
            <a:avLst/>
          </a:prstGeom>
          <a:noFill/>
          <a:ln/>
        </p:spPr>
        <p:txBody>
          <a:bodyPr wrap="square" lIns="0" tIns="0" rIns="0" bIns="0" rtlCol="0" anchor="t"/>
          <a:lstStyle/>
          <a:p>
            <a:pPr algn="ctr" indent="0" marL="0">
              <a:lnSpc>
                <a:spcPct val="113000"/>
              </a:lnSpc>
              <a:buNone/>
            </a:pPr>
            <a:r>
              <a:rPr lang="en-US" sz="1050" dirty="0">
                <a:solidFill>
                  <a:srgbClr val="5C6180"/>
                </a:solidFill>
                <a:latin typeface="Calibri" pitchFamily="34" charset="0"/>
                <a:ea typeface="Calibri" pitchFamily="34" charset="-122"/>
                <a:cs typeface="Calibri" pitchFamily="34" charset="-120"/>
              </a:rPr>
              <a:t>grid center → C2 axis  4.76 Å      ·      C-cluster  26.4 Å (outside)</a:t>
            </a:r>
            <a:endParaRPr lang="en-US" sz="1050" dirty="0"/>
          </a:p>
        </p:txBody>
      </p:sp>
      <p:sp>
        <p:nvSpPr>
          <p:cNvPr id="18" name="Text 16"/>
          <p:cNvSpPr txBox="1"/>
          <p:nvPr/>
        </p:nvSpPr>
        <p:spPr>
          <a:xfrm>
            <a:off x="6812280" y="5632704"/>
            <a:ext cx="4572000" cy="0"/>
          </a:xfrm>
          <a:prstGeom prst="rect">
            <a:avLst/>
          </a:prstGeom>
          <a:noFill/>
          <a:ln/>
        </p:spPr>
        <p:txBody>
          <a:bodyPr wrap="square" lIns="0" tIns="0" rIns="0" bIns="0" rtlCol="0" anchor="t"/>
          <a:lstStyle/>
          <a:p>
            <a:pPr algn="ctr" indent="0" marL="0">
              <a:lnSpc>
                <a:spcPct val="113000"/>
              </a:lnSpc>
              <a:buNone/>
            </a:pPr>
            <a:r>
              <a:rPr lang="en-US" sz="950" i="1" dirty="0">
                <a:solidFill>
                  <a:srgbClr val="5C6180"/>
                </a:solidFill>
                <a:latin typeface="Calibri" pitchFamily="34" charset="0"/>
                <a:ea typeface="Calibri" pitchFamily="34" charset="-122"/>
                <a:cs typeface="Calibri" pitchFamily="34" charset="-120"/>
              </a:rPr>
              <a:t>schematic — to be replaced by a PyMOL render for external use</a:t>
            </a:r>
            <a:endParaRPr lang="en-US" sz="950" dirty="0"/>
          </a:p>
        </p:txBody>
      </p:sp>
      <p:sp>
        <p:nvSpPr>
          <p:cNvPr id="20" name="Text 17"/>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②  GRID CENTER</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Move the grid center to the residue-41 CA — it is defined in every lineage</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5303520" cy="914400"/>
        </p:xfrm>
        <a:graphic>
          <a:graphicData uri="http://schemas.openxmlformats.org/drawingml/2006/table">
            <a:tbl>
              <a:tblPr/>
              <a:tblGrid>
                <a:gridCol w="2743200"/>
                <a:gridCol w="1280160"/>
                <a:gridCol w="128016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Residue at position 41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Sequences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CE2</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84048">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F / Y / W  (aromatic)</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1,613</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b="1" dirty="0">
                          <a:solidFill>
                            <a:srgbClr val="2F3596"/>
                          </a:solidFill>
                          <a:latin typeface="Calibri" pitchFamily="34" charset="0"/>
                          <a:ea typeface="Calibri" pitchFamily="34" charset="-122"/>
                          <a:cs typeface="Calibri" pitchFamily="34" charset="-120"/>
                        </a:rPr>
                        <a:t>present</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I  (Ile lineage)</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b="1" dirty="0">
                          <a:solidFill>
                            <a:srgbClr val="C0692B"/>
                          </a:solidFill>
                          <a:latin typeface="Calibri" pitchFamily="34" charset="0"/>
                          <a:ea typeface="Calibri" pitchFamily="34" charset="-122"/>
                          <a:cs typeface="Calibri" pitchFamily="34" charset="-120"/>
                        </a:rPr>
                        <a:t>118</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b="1" dirty="0">
                          <a:solidFill>
                            <a:srgbClr val="C0692B"/>
                          </a:solidFill>
                          <a:latin typeface="Calibri" pitchFamily="34" charset="0"/>
                          <a:ea typeface="Calibri" pitchFamily="34" charset="-122"/>
                          <a:cs typeface="Calibri" pitchFamily="34" charset="-120"/>
                        </a:rPr>
                        <a:t>absent</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M · T · H · L · S</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19</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C0692B"/>
                          </a:solidFill>
                          <a:latin typeface="Calibri" pitchFamily="34" charset="0"/>
                          <a:ea typeface="Calibri" pitchFamily="34" charset="-122"/>
                          <a:cs typeface="Calibri" pitchFamily="34" charset="-120"/>
                        </a:rPr>
                        <a:t>absent</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not annotated</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77</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C0692B"/>
                          </a:solidFill>
                          <a:latin typeface="Calibri" pitchFamily="34" charset="0"/>
                          <a:ea typeface="Calibri" pitchFamily="34" charset="-122"/>
                          <a:cs typeface="Calibri" pitchFamily="34" charset="-120"/>
                        </a:rPr>
                        <a:t>absent</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5" name="Shape 2"/>
          <p:cNvSpPr/>
          <p:nvPr/>
        </p:nvSpPr>
        <p:spPr>
          <a:xfrm>
            <a:off x="594360" y="3840480"/>
            <a:ext cx="5303520" cy="960120"/>
          </a:xfrm>
          <a:prstGeom prst="roundRect">
            <a:avLst>
              <a:gd name="adj" fmla="val 5714"/>
            </a:avLst>
          </a:prstGeom>
          <a:solidFill>
            <a:srgbClr val="FBEEE2"/>
          </a:solidFill>
          <a:ln w="12700">
            <a:solidFill>
              <a:srgbClr val="E8C9A8"/>
            </a:solidFill>
            <a:prstDash val="solid"/>
          </a:ln>
        </p:spPr>
      </p:sp>
      <p:sp>
        <p:nvSpPr>
          <p:cNvPr id="6" name="Text 3"/>
          <p:cNvSpPr txBox="1"/>
          <p:nvPr/>
        </p:nvSpPr>
        <p:spPr>
          <a:xfrm>
            <a:off x="868680" y="4005072"/>
            <a:ext cx="4754880" cy="0"/>
          </a:xfrm>
          <a:prstGeom prst="rect">
            <a:avLst/>
          </a:prstGeom>
          <a:noFill/>
          <a:ln/>
        </p:spPr>
        <p:txBody>
          <a:bodyPr wrap="square" lIns="0" tIns="0" rIns="0" bIns="0" rtlCol="0" anchor="t"/>
          <a:lstStyle/>
          <a:p>
            <a:pPr algn="l" indent="0" marL="0">
              <a:lnSpc>
                <a:spcPct val="113000"/>
              </a:lnSpc>
              <a:buNone/>
            </a:pPr>
            <a:r>
              <a:rPr lang="en-US" sz="1700" b="1" dirty="0">
                <a:solidFill>
                  <a:srgbClr val="C0692B"/>
                </a:solidFill>
                <a:latin typeface="Calibri" pitchFamily="34" charset="0"/>
                <a:ea typeface="Calibri" pitchFamily="34" charset="-122"/>
                <a:cs typeface="Calibri" pitchFamily="34" charset="-120"/>
              </a:rPr>
              <a:t>214 sequences (11.7%) have no CE2</a:t>
            </a:r>
            <a:endParaRPr lang="en-US" sz="1700" dirty="0"/>
          </a:p>
        </p:txBody>
      </p:sp>
      <p:sp>
        <p:nvSpPr>
          <p:cNvPr id="7" name="Text 4"/>
          <p:cNvSpPr txBox="1"/>
          <p:nvPr/>
        </p:nvSpPr>
        <p:spPr>
          <a:xfrm>
            <a:off x="868680" y="4370832"/>
            <a:ext cx="4754880" cy="0"/>
          </a:xfrm>
          <a:prstGeom prst="rect">
            <a:avLst/>
          </a:prstGeom>
          <a:noFill/>
          <a:ln/>
        </p:spPr>
        <p:txBody>
          <a:bodyPr wrap="square" lIns="0" tIns="0" rIns="0" bIns="0" rtlCol="0" anchor="t"/>
          <a:lstStyle/>
          <a:p>
            <a:pPr algn="l" indent="0" marL="0">
              <a:lnSpc>
                <a:spcPct val="113000"/>
              </a:lnSpc>
              <a:buNone/>
            </a:pPr>
            <a:r>
              <a:rPr lang="en-US" sz="1100" dirty="0">
                <a:solidFill>
                  <a:srgbClr val="5C6180"/>
                </a:solidFill>
                <a:latin typeface="Calibri" pitchFamily="34" charset="0"/>
                <a:ea typeface="Calibri" pitchFamily="34" charset="-122"/>
                <a:cs typeface="Calibri" pitchFamily="34" charset="-120"/>
              </a:rPr>
              <a:t>His is aromatic but carries only CE1 / NE2, so it does not help</a:t>
            </a:r>
            <a:endParaRPr lang="en-US" sz="1100" dirty="0"/>
          </a:p>
        </p:txBody>
      </p:sp>
      <p:sp>
        <p:nvSpPr>
          <p:cNvPr id="8" name="Text 5"/>
          <p:cNvSpPr txBox="1"/>
          <p:nvPr/>
        </p:nvSpPr>
        <p:spPr>
          <a:xfrm>
            <a:off x="594360" y="4983480"/>
            <a:ext cx="5303520" cy="0"/>
          </a:xfrm>
          <a:prstGeom prst="rect">
            <a:avLst/>
          </a:prstGeom>
          <a:noFill/>
          <a:ln/>
        </p:spPr>
        <p:txBody>
          <a:bodyPr wrap="square" lIns="0" tIns="0" rIns="0" bIns="0" rtlCol="0" anchor="t"/>
          <a:lstStyle/>
          <a:p>
            <a:pPr algn="l" indent="0" marL="0">
              <a:lnSpc>
                <a:spcPct val="113000"/>
              </a:lnSpc>
              <a:buNone/>
            </a:pPr>
            <a:r>
              <a:rPr lang="en-US" sz="1250" b="1" dirty="0">
                <a:solidFill>
                  <a:srgbClr val="1C1E33"/>
                </a:solidFill>
                <a:latin typeface="Calibri" pitchFamily="34" charset="0"/>
                <a:ea typeface="Calibri" pitchFamily="34" charset="-122"/>
                <a:cs typeface="Calibri" pitchFamily="34" charset="-120"/>
              </a:rPr>
              <a:t>A CE2-based definition cannot cover the whole family.</a:t>
            </a:r>
            <a:endParaRPr lang="en-US" sz="1250" dirty="0"/>
          </a:p>
        </p:txBody>
      </p:sp>
      <p:sp>
        <p:nvSpPr>
          <p:cNvPr id="9" name="Text 6"/>
          <p:cNvSpPr txBox="1"/>
          <p:nvPr/>
        </p:nvSpPr>
        <p:spPr>
          <a:xfrm>
            <a:off x="594360" y="5285232"/>
            <a:ext cx="5303520" cy="0"/>
          </a:xfrm>
          <a:prstGeom prst="rect">
            <a:avLst/>
          </a:prstGeom>
          <a:noFill/>
          <a:ln/>
        </p:spPr>
        <p:txBody>
          <a:bodyPr wrap="square" lIns="0" tIns="0" rIns="0" bIns="0" rtlCol="0" anchor="t"/>
          <a:lstStyle/>
          <a:p>
            <a:pPr algn="l" indent="0" marL="0">
              <a:lnSpc>
                <a:spcPct val="118000"/>
              </a:lnSpc>
              <a:buNone/>
            </a:pPr>
            <a:r>
              <a:rPr lang="en-US" sz="1200" dirty="0">
                <a:solidFill>
                  <a:srgbClr val="5C6180"/>
                </a:solidFill>
                <a:latin typeface="Calibri" pitchFamily="34" charset="0"/>
                <a:ea typeface="Calibri" pitchFamily="34" charset="-122"/>
                <a:cs typeface="Calibri" pitchFamily="34" charset="-120"/>
              </a:rPr>
              <a:t>A non-aromatic residue at position 41 is not an annotation error — it is a real feature of these homologs.</a:t>
            </a:r>
            <a:endParaRPr lang="en-US" sz="1200" dirty="0"/>
          </a:p>
        </p:txBody>
      </p:sp>
      <p:sp>
        <p:nvSpPr>
          <p:cNvPr id="10" name="Text 7"/>
          <p:cNvSpPr txBox="1"/>
          <p:nvPr/>
        </p:nvSpPr>
        <p:spPr>
          <a:xfrm>
            <a:off x="6446520" y="1783080"/>
            <a:ext cx="5120640" cy="2286000"/>
          </a:xfrm>
          <a:prstGeom prst="rect">
            <a:avLst/>
          </a:prstGeom>
          <a:noFill/>
          <a:ln/>
        </p:spPr>
        <p:txBody>
          <a:bodyPr wrap="square" lIns="0" tIns="0" rIns="0" bIns="0" rtlCol="0" anchor="t"/>
          <a:lstStyle/>
          <a:p>
            <a:pPr indent="0" marL="0">
              <a:lnSpc>
                <a:spcPct val="116000"/>
              </a:lnSpc>
              <a:buNone/>
            </a:pPr>
            <a:r>
              <a:rPr lang="en-US" sz="1250" b="1" dirty="0">
                <a:solidFill>
                  <a:srgbClr val="1C1E33"/>
                </a:solidFill>
                <a:latin typeface="Calibri" pitchFamily="34" charset="0"/>
                <a:ea typeface="Calibri" pitchFamily="34" charset="-122"/>
                <a:cs typeface="Calibri" pitchFamily="34" charset="-120"/>
              </a:rPr>
              <a:t>Position 41 itself is kept. </a:t>
            </a:r>
            <a:pPr indent="0" marL="0">
              <a:lnSpc>
                <a:spcPct val="116000"/>
              </a:lnSpc>
              <a:spcAft>
                <a:spcPts val="1300"/>
              </a:spcAft>
              <a:buNone/>
            </a:pPr>
            <a:r>
              <a:rPr lang="en-US" sz="1250" dirty="0">
                <a:solidFill>
                  <a:srgbClr val="1C1E33"/>
                </a:solidFill>
                <a:latin typeface="Calibri" pitchFamily="34" charset="0"/>
                <a:ea typeface="Calibri" pitchFamily="34" charset="-122"/>
                <a:cs typeface="Calibri" pitchFamily="34" charset="-120"/>
              </a:rPr>
              <a:t>Of the 15 mutated positions (40, 42, 43, 44, 46, 57–66), only 41 is excluded. It was left out because it is the key residue exchanging electrons with EV, so centering on it is mechanistic rather than convenient.</a:t>
            </a:r>
            <a:endParaRPr lang="en-US" sz="1250" dirty="0"/>
          </a:p>
          <a:p>
            <a:pPr indent="0" marL="0">
              <a:lnSpc>
                <a:spcPct val="116000"/>
              </a:lnSpc>
              <a:buNone/>
            </a:pPr>
            <a:r>
              <a:rPr lang="en-US" sz="1250" b="1" dirty="0">
                <a:solidFill>
                  <a:srgbClr val="1C1E33"/>
                </a:solidFill>
                <a:latin typeface="Calibri" pitchFamily="34" charset="0"/>
                <a:ea typeface="Calibri" pitchFamily="34" charset="-122"/>
                <a:cs typeface="Calibri" pitchFamily="34" charset="-120"/>
              </a:rPr>
              <a:t>The definition follows from sequence alone. </a:t>
            </a:r>
            <a:pPr indent="0" marL="0">
              <a:lnSpc>
                <a:spcPct val="116000"/>
              </a:lnSpc>
              <a:spcAft>
                <a:spcPts val="1300"/>
              </a:spcAft>
              <a:buNone/>
            </a:pPr>
            <a:r>
              <a:rPr lang="en-US" sz="1250" dirty="0">
                <a:solidFill>
                  <a:srgbClr val="1C1E33"/>
                </a:solidFill>
                <a:latin typeface="Calibri" pitchFamily="34" charset="0"/>
                <a:ea typeface="Calibri" pitchFamily="34" charset="-122"/>
                <a:cs typeface="Calibri" pitchFamily="34" charset="-120"/>
              </a:rPr>
              <a:t>f41_pos = anchor_pos + 2 holds for 1,750 of 1,750 sequences. Position 41 is the third residue of the FeS-binding Cys motif.</a:t>
            </a:r>
            <a:endParaRPr lang="en-US" sz="1250" dirty="0"/>
          </a:p>
        </p:txBody>
      </p:sp>
      <p:sp>
        <p:nvSpPr>
          <p:cNvPr id="11" name="Shape 8"/>
          <p:cNvSpPr/>
          <p:nvPr/>
        </p:nvSpPr>
        <p:spPr>
          <a:xfrm>
            <a:off x="6446520" y="4069080"/>
            <a:ext cx="5120640" cy="1481328"/>
          </a:xfrm>
          <a:prstGeom prst="roundRect">
            <a:avLst>
              <a:gd name="adj" fmla="val 3704"/>
            </a:avLst>
          </a:prstGeom>
          <a:solidFill>
            <a:srgbClr val="EEF0FA"/>
          </a:solidFill>
          <a:ln w="12700">
            <a:solidFill>
              <a:srgbClr val="D6DAEE"/>
            </a:solidFill>
            <a:prstDash val="solid"/>
          </a:ln>
        </p:spPr>
      </p:sp>
      <p:sp>
        <p:nvSpPr>
          <p:cNvPr id="12" name="Shape 9"/>
          <p:cNvSpPr/>
          <p:nvPr/>
        </p:nvSpPr>
        <p:spPr>
          <a:xfrm>
            <a:off x="6473952" y="4279392"/>
            <a:ext cx="530352" cy="402336"/>
          </a:xfrm>
          <a:prstGeom prst="roundRect">
            <a:avLst>
              <a:gd name="adj" fmla="val 11364"/>
            </a:avLst>
          </a:prstGeom>
          <a:solidFill>
            <a:srgbClr val="16183A"/>
          </a:solidFill>
          <a:ln/>
        </p:spPr>
      </p:sp>
      <p:sp>
        <p:nvSpPr>
          <p:cNvPr id="13" name="Text 10"/>
          <p:cNvSpPr txBox="1"/>
          <p:nvPr/>
        </p:nvSpPr>
        <p:spPr>
          <a:xfrm>
            <a:off x="6528816" y="4279392"/>
            <a:ext cx="420624" cy="402336"/>
          </a:xfrm>
          <a:prstGeom prst="rect">
            <a:avLst/>
          </a:prstGeom>
          <a:noFill/>
          <a:ln/>
        </p:spPr>
        <p:txBody>
          <a:bodyPr wrap="square" lIns="0" tIns="0" rIns="0" bIns="0" rtlCol="0" anchor="ctr"/>
          <a:lstStyle/>
          <a:p>
            <a:pPr algn="ctr" indent="0" marL="0">
              <a:lnSpc>
                <a:spcPct val="103000"/>
              </a:lnSpc>
              <a:buNone/>
            </a:pPr>
            <a:r>
              <a:rPr lang="en-US" sz="1100" b="1" dirty="0">
                <a:solidFill>
                  <a:srgbClr val="FFFFFF"/>
                </a:solidFill>
                <a:latin typeface="Calibri" pitchFamily="34" charset="0"/>
                <a:ea typeface="Calibri" pitchFamily="34" charset="-122"/>
                <a:cs typeface="Calibri" pitchFamily="34" charset="-120"/>
              </a:rPr>
              <a:t>C39</a:t>
            </a:r>
            <a:endParaRPr lang="en-US" sz="1100" dirty="0"/>
          </a:p>
        </p:txBody>
      </p:sp>
      <p:sp>
        <p:nvSpPr>
          <p:cNvPr id="14" name="Shape 11"/>
          <p:cNvSpPr/>
          <p:nvPr/>
        </p:nvSpPr>
        <p:spPr>
          <a:xfrm>
            <a:off x="7040880" y="4279392"/>
            <a:ext cx="530352" cy="402336"/>
          </a:xfrm>
          <a:prstGeom prst="roundRect">
            <a:avLst>
              <a:gd name="adj" fmla="val 11364"/>
            </a:avLst>
          </a:prstGeom>
          <a:solidFill>
            <a:srgbClr val="F7F8FC"/>
          </a:solidFill>
          <a:ln/>
        </p:spPr>
      </p:sp>
      <p:sp>
        <p:nvSpPr>
          <p:cNvPr id="15" name="Text 12"/>
          <p:cNvSpPr txBox="1"/>
          <p:nvPr/>
        </p:nvSpPr>
        <p:spPr>
          <a:xfrm>
            <a:off x="7095744" y="4279392"/>
            <a:ext cx="420624" cy="402336"/>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G40</a:t>
            </a:r>
            <a:endParaRPr lang="en-US" sz="1100" dirty="0"/>
          </a:p>
        </p:txBody>
      </p:sp>
      <p:sp>
        <p:nvSpPr>
          <p:cNvPr id="16" name="Text 13"/>
          <p:cNvSpPr txBox="1"/>
          <p:nvPr/>
        </p:nvSpPr>
        <p:spPr>
          <a:xfrm>
            <a:off x="7022592" y="4718304"/>
            <a:ext cx="56692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mut</a:t>
            </a:r>
            <a:endParaRPr lang="en-US" sz="900" dirty="0"/>
          </a:p>
        </p:txBody>
      </p:sp>
      <p:sp>
        <p:nvSpPr>
          <p:cNvPr id="17" name="Shape 14"/>
          <p:cNvSpPr/>
          <p:nvPr/>
        </p:nvSpPr>
        <p:spPr>
          <a:xfrm>
            <a:off x="7607808" y="4279392"/>
            <a:ext cx="530352" cy="402336"/>
          </a:xfrm>
          <a:prstGeom prst="roundRect">
            <a:avLst>
              <a:gd name="adj" fmla="val 11364"/>
            </a:avLst>
          </a:prstGeom>
          <a:solidFill>
            <a:srgbClr val="C0692B"/>
          </a:solidFill>
          <a:ln/>
        </p:spPr>
      </p:sp>
      <p:sp>
        <p:nvSpPr>
          <p:cNvPr id="18" name="Text 15"/>
          <p:cNvSpPr txBox="1"/>
          <p:nvPr/>
        </p:nvSpPr>
        <p:spPr>
          <a:xfrm>
            <a:off x="7662672" y="4279392"/>
            <a:ext cx="420624" cy="402336"/>
          </a:xfrm>
          <a:prstGeom prst="rect">
            <a:avLst/>
          </a:prstGeom>
          <a:noFill/>
          <a:ln/>
        </p:spPr>
        <p:txBody>
          <a:bodyPr wrap="square" lIns="0" tIns="0" rIns="0" bIns="0" rtlCol="0" anchor="ctr"/>
          <a:lstStyle/>
          <a:p>
            <a:pPr algn="ctr" indent="0" marL="0">
              <a:lnSpc>
                <a:spcPct val="103000"/>
              </a:lnSpc>
              <a:buNone/>
            </a:pPr>
            <a:r>
              <a:rPr lang="en-US" sz="1100" b="1" dirty="0">
                <a:solidFill>
                  <a:srgbClr val="FFFFFF"/>
                </a:solidFill>
                <a:latin typeface="Calibri" pitchFamily="34" charset="0"/>
                <a:ea typeface="Calibri" pitchFamily="34" charset="-122"/>
                <a:cs typeface="Calibri" pitchFamily="34" charset="-120"/>
              </a:rPr>
              <a:t>F41</a:t>
            </a:r>
            <a:endParaRPr lang="en-US" sz="1100" dirty="0"/>
          </a:p>
        </p:txBody>
      </p:sp>
      <p:sp>
        <p:nvSpPr>
          <p:cNvPr id="19" name="Text 16"/>
          <p:cNvSpPr txBox="1"/>
          <p:nvPr/>
        </p:nvSpPr>
        <p:spPr>
          <a:xfrm>
            <a:off x="7589520" y="4718304"/>
            <a:ext cx="56692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center</a:t>
            </a:r>
            <a:endParaRPr lang="en-US" sz="900" dirty="0"/>
          </a:p>
        </p:txBody>
      </p:sp>
      <p:sp>
        <p:nvSpPr>
          <p:cNvPr id="20" name="Shape 17"/>
          <p:cNvSpPr/>
          <p:nvPr/>
        </p:nvSpPr>
        <p:spPr>
          <a:xfrm>
            <a:off x="8174736" y="4279392"/>
            <a:ext cx="530352" cy="402336"/>
          </a:xfrm>
          <a:prstGeom prst="roundRect">
            <a:avLst>
              <a:gd name="adj" fmla="val 11364"/>
            </a:avLst>
          </a:prstGeom>
          <a:solidFill>
            <a:srgbClr val="F7F8FC"/>
          </a:solidFill>
          <a:ln/>
        </p:spPr>
      </p:sp>
      <p:sp>
        <p:nvSpPr>
          <p:cNvPr id="21" name="Text 18"/>
          <p:cNvSpPr txBox="1"/>
          <p:nvPr/>
        </p:nvSpPr>
        <p:spPr>
          <a:xfrm>
            <a:off x="8229600" y="4279392"/>
            <a:ext cx="420624" cy="402336"/>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G42</a:t>
            </a:r>
            <a:endParaRPr lang="en-US" sz="1100" dirty="0"/>
          </a:p>
        </p:txBody>
      </p:sp>
      <p:sp>
        <p:nvSpPr>
          <p:cNvPr id="22" name="Text 19"/>
          <p:cNvSpPr txBox="1"/>
          <p:nvPr/>
        </p:nvSpPr>
        <p:spPr>
          <a:xfrm>
            <a:off x="8156448" y="4718304"/>
            <a:ext cx="56692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mut</a:t>
            </a:r>
            <a:endParaRPr lang="en-US" sz="900" dirty="0"/>
          </a:p>
        </p:txBody>
      </p:sp>
      <p:sp>
        <p:nvSpPr>
          <p:cNvPr id="23" name="Shape 20"/>
          <p:cNvSpPr/>
          <p:nvPr/>
        </p:nvSpPr>
        <p:spPr>
          <a:xfrm>
            <a:off x="8741664" y="4279392"/>
            <a:ext cx="530352" cy="402336"/>
          </a:xfrm>
          <a:prstGeom prst="roundRect">
            <a:avLst>
              <a:gd name="adj" fmla="val 11364"/>
            </a:avLst>
          </a:prstGeom>
          <a:solidFill>
            <a:srgbClr val="F7F8FC"/>
          </a:solidFill>
          <a:ln/>
        </p:spPr>
      </p:sp>
      <p:sp>
        <p:nvSpPr>
          <p:cNvPr id="24" name="Text 21"/>
          <p:cNvSpPr txBox="1"/>
          <p:nvPr/>
        </p:nvSpPr>
        <p:spPr>
          <a:xfrm>
            <a:off x="8796528" y="4279392"/>
            <a:ext cx="420624" cy="402336"/>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E43</a:t>
            </a:r>
            <a:endParaRPr lang="en-US" sz="1100" dirty="0"/>
          </a:p>
        </p:txBody>
      </p:sp>
      <p:sp>
        <p:nvSpPr>
          <p:cNvPr id="25" name="Text 22"/>
          <p:cNvSpPr txBox="1"/>
          <p:nvPr/>
        </p:nvSpPr>
        <p:spPr>
          <a:xfrm>
            <a:off x="8723376" y="4718304"/>
            <a:ext cx="56692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mut</a:t>
            </a:r>
            <a:endParaRPr lang="en-US" sz="900" dirty="0"/>
          </a:p>
        </p:txBody>
      </p:sp>
      <p:sp>
        <p:nvSpPr>
          <p:cNvPr id="26" name="Shape 23"/>
          <p:cNvSpPr/>
          <p:nvPr/>
        </p:nvSpPr>
        <p:spPr>
          <a:xfrm>
            <a:off x="9308592" y="4279392"/>
            <a:ext cx="530352" cy="402336"/>
          </a:xfrm>
          <a:prstGeom prst="roundRect">
            <a:avLst>
              <a:gd name="adj" fmla="val 11364"/>
            </a:avLst>
          </a:prstGeom>
          <a:solidFill>
            <a:srgbClr val="F7F8FC"/>
          </a:solidFill>
          <a:ln/>
        </p:spPr>
      </p:sp>
      <p:sp>
        <p:nvSpPr>
          <p:cNvPr id="27" name="Text 24"/>
          <p:cNvSpPr txBox="1"/>
          <p:nvPr/>
        </p:nvSpPr>
        <p:spPr>
          <a:xfrm>
            <a:off x="9363456" y="4279392"/>
            <a:ext cx="420624" cy="402336"/>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T44</a:t>
            </a:r>
            <a:endParaRPr lang="en-US" sz="1100" dirty="0"/>
          </a:p>
        </p:txBody>
      </p:sp>
      <p:sp>
        <p:nvSpPr>
          <p:cNvPr id="28" name="Text 25"/>
          <p:cNvSpPr txBox="1"/>
          <p:nvPr/>
        </p:nvSpPr>
        <p:spPr>
          <a:xfrm>
            <a:off x="9290304" y="4718304"/>
            <a:ext cx="56692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mut</a:t>
            </a:r>
            <a:endParaRPr lang="en-US" sz="900" dirty="0"/>
          </a:p>
        </p:txBody>
      </p:sp>
      <p:sp>
        <p:nvSpPr>
          <p:cNvPr id="29" name="Shape 26"/>
          <p:cNvSpPr/>
          <p:nvPr/>
        </p:nvSpPr>
        <p:spPr>
          <a:xfrm>
            <a:off x="9875520" y="4279392"/>
            <a:ext cx="530352" cy="402336"/>
          </a:xfrm>
          <a:prstGeom prst="roundRect">
            <a:avLst>
              <a:gd name="adj" fmla="val 11364"/>
            </a:avLst>
          </a:prstGeom>
          <a:solidFill>
            <a:srgbClr val="F7F8FC"/>
          </a:solidFill>
          <a:ln/>
        </p:spPr>
      </p:sp>
      <p:sp>
        <p:nvSpPr>
          <p:cNvPr id="30" name="Text 27"/>
          <p:cNvSpPr txBox="1"/>
          <p:nvPr/>
        </p:nvSpPr>
        <p:spPr>
          <a:xfrm>
            <a:off x="9930384" y="4279392"/>
            <a:ext cx="420624" cy="402336"/>
          </a:xfrm>
          <a:prstGeom prst="rect">
            <a:avLst/>
          </a:prstGeom>
          <a:noFill/>
          <a:ln/>
        </p:spPr>
        <p:txBody>
          <a:bodyPr wrap="square" lIns="0" tIns="0" rIns="0" bIns="0" rtlCol="0" anchor="ctr"/>
          <a:lstStyle/>
          <a:p>
            <a:pPr algn="ctr" indent="0" marL="0">
              <a:lnSpc>
                <a:spcPct val="103000"/>
              </a:lnSpc>
              <a:buNone/>
            </a:pPr>
            <a:r>
              <a:rPr lang="en-US" sz="1100" b="1" dirty="0">
                <a:solidFill>
                  <a:srgbClr val="5C6180"/>
                </a:solidFill>
                <a:latin typeface="Calibri" pitchFamily="34" charset="0"/>
                <a:ea typeface="Calibri" pitchFamily="34" charset="-122"/>
                <a:cs typeface="Calibri" pitchFamily="34" charset="-120"/>
              </a:rPr>
              <a:t>x45</a:t>
            </a:r>
            <a:endParaRPr lang="en-US" sz="1100" dirty="0"/>
          </a:p>
        </p:txBody>
      </p:sp>
      <p:sp>
        <p:nvSpPr>
          <p:cNvPr id="31" name="Shape 28"/>
          <p:cNvSpPr/>
          <p:nvPr/>
        </p:nvSpPr>
        <p:spPr>
          <a:xfrm>
            <a:off x="10442448" y="4279392"/>
            <a:ext cx="530352" cy="402336"/>
          </a:xfrm>
          <a:prstGeom prst="roundRect">
            <a:avLst>
              <a:gd name="adj" fmla="val 11364"/>
            </a:avLst>
          </a:prstGeom>
          <a:solidFill>
            <a:srgbClr val="F7F8FC"/>
          </a:solidFill>
          <a:ln/>
        </p:spPr>
      </p:sp>
      <p:sp>
        <p:nvSpPr>
          <p:cNvPr id="32" name="Text 29"/>
          <p:cNvSpPr txBox="1"/>
          <p:nvPr/>
        </p:nvSpPr>
        <p:spPr>
          <a:xfrm>
            <a:off x="10497312" y="4279392"/>
            <a:ext cx="420624" cy="402336"/>
          </a:xfrm>
          <a:prstGeom prst="rect">
            <a:avLst/>
          </a:prstGeom>
          <a:noFill/>
          <a:ln/>
        </p:spPr>
        <p:txBody>
          <a:bodyPr wrap="square" lIns="0" tIns="0" rIns="0" bIns="0" rtlCol="0" anchor="ctr"/>
          <a:lstStyle/>
          <a:p>
            <a:pPr algn="ctr" indent="0" marL="0">
              <a:lnSpc>
                <a:spcPct val="103000"/>
              </a:lnSpc>
              <a:buNone/>
            </a:pPr>
            <a:r>
              <a:rPr lang="en-US" sz="1100" b="1" dirty="0">
                <a:solidFill>
                  <a:srgbClr val="2F3596"/>
                </a:solidFill>
                <a:latin typeface="Calibri" pitchFamily="34" charset="0"/>
                <a:ea typeface="Calibri" pitchFamily="34" charset="-122"/>
                <a:cs typeface="Calibri" pitchFamily="34" charset="-120"/>
              </a:rPr>
              <a:t>L46</a:t>
            </a:r>
            <a:endParaRPr lang="en-US" sz="1100" dirty="0"/>
          </a:p>
        </p:txBody>
      </p:sp>
      <p:sp>
        <p:nvSpPr>
          <p:cNvPr id="33" name="Text 30"/>
          <p:cNvSpPr txBox="1"/>
          <p:nvPr/>
        </p:nvSpPr>
        <p:spPr>
          <a:xfrm>
            <a:off x="10424160" y="4718304"/>
            <a:ext cx="56692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mut</a:t>
            </a:r>
            <a:endParaRPr lang="en-US" sz="900" dirty="0"/>
          </a:p>
        </p:txBody>
      </p:sp>
      <p:sp>
        <p:nvSpPr>
          <p:cNvPr id="34" name="Shape 31"/>
          <p:cNvSpPr/>
          <p:nvPr/>
        </p:nvSpPr>
        <p:spPr>
          <a:xfrm>
            <a:off x="11009376" y="4279392"/>
            <a:ext cx="530352" cy="402336"/>
          </a:xfrm>
          <a:prstGeom prst="roundRect">
            <a:avLst>
              <a:gd name="adj" fmla="val 11364"/>
            </a:avLst>
          </a:prstGeom>
          <a:solidFill>
            <a:srgbClr val="16183A"/>
          </a:solidFill>
          <a:ln/>
        </p:spPr>
      </p:sp>
      <p:sp>
        <p:nvSpPr>
          <p:cNvPr id="35" name="Text 32"/>
          <p:cNvSpPr txBox="1"/>
          <p:nvPr/>
        </p:nvSpPr>
        <p:spPr>
          <a:xfrm>
            <a:off x="11064240" y="4279392"/>
            <a:ext cx="420624" cy="402336"/>
          </a:xfrm>
          <a:prstGeom prst="rect">
            <a:avLst/>
          </a:prstGeom>
          <a:noFill/>
          <a:ln/>
        </p:spPr>
        <p:txBody>
          <a:bodyPr wrap="square" lIns="0" tIns="0" rIns="0" bIns="0" rtlCol="0" anchor="ctr"/>
          <a:lstStyle/>
          <a:p>
            <a:pPr algn="ctr" indent="0" marL="0">
              <a:lnSpc>
                <a:spcPct val="103000"/>
              </a:lnSpc>
              <a:buNone/>
            </a:pPr>
            <a:r>
              <a:rPr lang="en-US" sz="1100" b="1" dirty="0">
                <a:solidFill>
                  <a:srgbClr val="FFFFFF"/>
                </a:solidFill>
                <a:latin typeface="Calibri" pitchFamily="34" charset="0"/>
                <a:ea typeface="Calibri" pitchFamily="34" charset="-122"/>
                <a:cs typeface="Calibri" pitchFamily="34" charset="-120"/>
              </a:rPr>
              <a:t>C47</a:t>
            </a:r>
            <a:endParaRPr lang="en-US" sz="1100" dirty="0"/>
          </a:p>
        </p:txBody>
      </p:sp>
      <p:sp>
        <p:nvSpPr>
          <p:cNvPr id="36" name="Text 33"/>
          <p:cNvSpPr txBox="1"/>
          <p:nvPr/>
        </p:nvSpPr>
        <p:spPr>
          <a:xfrm>
            <a:off x="6675120" y="5102352"/>
            <a:ext cx="4663440" cy="0"/>
          </a:xfrm>
          <a:prstGeom prst="rect">
            <a:avLst/>
          </a:prstGeom>
          <a:noFill/>
          <a:ln/>
        </p:spPr>
        <p:txBody>
          <a:bodyPr wrap="square" lIns="0" tIns="0" rIns="0" bIns="0" rtlCol="0" anchor="t"/>
          <a:lstStyle/>
          <a:p>
            <a:pPr algn="ctr" indent="0" marL="0">
              <a:lnSpc>
                <a:spcPct val="113000"/>
              </a:lnSpc>
              <a:buNone/>
            </a:pPr>
            <a:r>
              <a:rPr lang="en-US" sz="1100" i="1" dirty="0">
                <a:solidFill>
                  <a:srgbClr val="5C6180"/>
                </a:solidFill>
                <a:latin typeface="Calibri" pitchFamily="34" charset="0"/>
                <a:ea typeface="Calibri" pitchFamily="34" charset="-122"/>
                <a:cs typeface="Calibri" pitchFamily="34" charset="-120"/>
              </a:rPr>
              <a:t>Mutations 40 · 42 · 43 · 44 · 46 are this motif's non-Cys positions</a:t>
            </a:r>
            <a:endParaRPr lang="en-US" sz="1100" dirty="0"/>
          </a:p>
        </p:txBody>
      </p:sp>
      <p:sp>
        <p:nvSpPr>
          <p:cNvPr id="37" name="Text 34"/>
          <p:cNvSpPr txBox="1"/>
          <p:nvPr/>
        </p:nvSpPr>
        <p:spPr>
          <a:xfrm>
            <a:off x="6446520" y="5687568"/>
            <a:ext cx="5120640" cy="0"/>
          </a:xfrm>
          <a:prstGeom prst="rect">
            <a:avLst/>
          </a:prstGeom>
          <a:noFill/>
          <a:ln/>
        </p:spPr>
        <p:txBody>
          <a:bodyPr wrap="square" lIns="0" tIns="0" rIns="0" bIns="0" rtlCol="0" anchor="t"/>
          <a:lstStyle/>
          <a:p>
            <a:pPr algn="l" indent="0" marL="0">
              <a:lnSpc>
                <a:spcPct val="115000"/>
              </a:lnSpc>
              <a:buNone/>
            </a:pPr>
            <a:r>
              <a:rPr lang="en-US" sz="1100" dirty="0">
                <a:solidFill>
                  <a:srgbClr val="5C6180"/>
                </a:solidFill>
                <a:latin typeface="Calibri" pitchFamily="34" charset="0"/>
                <a:ea typeface="Calibri" pitchFamily="34" charset="-122"/>
                <a:cs typeface="Calibri" pitchFamily="34" charset="-120"/>
              </a:rPr>
              <a:t>The Cys-pair midpoint is unusable: the two lineages space their Cys differently (8 vs 3 positions), so the geometry does not match.</a:t>
            </a:r>
            <a:endParaRPr lang="en-US" sz="1100" dirty="0"/>
          </a:p>
        </p:txBody>
      </p:sp>
      <p:sp>
        <p:nvSpPr>
          <p:cNvPr id="39" name="Text 35"/>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②  VALIDATION</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The switch changes nothing — 4.661 Å of movement, ranking preserved</a:t>
            </a:r>
            <a:endParaRPr lang="en-US" sz="2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5943600" cy="914400"/>
        </p:xfrm>
        <a:graphic>
          <a:graphicData uri="http://schemas.openxmlformats.org/drawingml/2006/table">
            <a:tbl>
              <a:tblPr/>
              <a:tblGrid>
                <a:gridCol w="1417320"/>
                <a:gridCol w="1280160"/>
                <a:gridCol w="1600200"/>
                <a:gridCol w="1645920"/>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ρ vs CE2</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ρ within position</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ρ with measured Km</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65760">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med_ds</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0.968</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0.928</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b="1" dirty="0">
                          <a:solidFill>
                            <a:srgbClr val="2F3596"/>
                          </a:solidFill>
                          <a:latin typeface="Calibri" pitchFamily="34" charset="0"/>
                          <a:ea typeface="Calibri" pitchFamily="34" charset="-122"/>
                          <a:cs typeface="Calibri" pitchFamily="34" charset="-120"/>
                        </a:rPr>
                        <a:t>0.856 → 0.889</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med_lig</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0.971</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0.929</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0.903 → 0.896</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best_ds</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0.978</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0.956</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0.876 → 0.884</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50" dirty="0">
                          <a:solidFill>
                            <a:srgbClr val="1C1E33"/>
                          </a:solidFill>
                          <a:latin typeface="Calibri" pitchFamily="34" charset="0"/>
                          <a:ea typeface="Calibri" pitchFamily="34" charset="-122"/>
                          <a:cs typeface="Calibri" pitchFamily="34" charset="-120"/>
                        </a:rPr>
                        <a:t>best_lig</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0.970</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0.954</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50" dirty="0">
                          <a:solidFill>
                            <a:srgbClr val="1C1E33"/>
                          </a:solidFill>
                          <a:latin typeface="Calibri" pitchFamily="34" charset="0"/>
                          <a:ea typeface="Calibri" pitchFamily="34" charset="-122"/>
                          <a:cs typeface="Calibri" pitchFamily="34" charset="-120"/>
                        </a:rPr>
                        <a:t>0.882 → 0.892</a:t>
                      </a:r>
                      <a:endParaRPr lang="en-US" sz="11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5" name="Text 2"/>
          <p:cNvSpPr txBox="1"/>
          <p:nvPr/>
        </p:nvSpPr>
        <p:spPr>
          <a:xfrm>
            <a:off x="594360" y="3703320"/>
            <a:ext cx="5943600" cy="0"/>
          </a:xfrm>
          <a:prstGeom prst="rect">
            <a:avLst/>
          </a:prstGeom>
          <a:noFill/>
          <a:ln/>
        </p:spPr>
        <p:txBody>
          <a:bodyPr wrap="square" lIns="0" tIns="0" rIns="0" bIns="0" rtlCol="0" anchor="t"/>
          <a:lstStyle/>
          <a:p>
            <a:pPr algn="l" indent="0" marL="0">
              <a:lnSpc>
                <a:spcPct val="113000"/>
              </a:lnSpc>
              <a:buNone/>
            </a:pPr>
            <a:r>
              <a:rPr lang="en-US" sz="1100" i="1" dirty="0">
                <a:solidFill>
                  <a:srgbClr val="5C6180"/>
                </a:solidFill>
                <a:latin typeface="Calibri" pitchFamily="34" charset="0"/>
                <a:ea typeface="Calibri" pitchFamily="34" charset="-122"/>
                <a:cs typeface="Calibri" pitchFamily="34" charset="-120"/>
              </a:rPr>
              <a:t>288 structures re-docked · half-width fixed at 15, center only replaced · baseline = CE2 + 15 Å</a:t>
            </a:r>
            <a:endParaRPr lang="en-US" sz="1100" dirty="0"/>
          </a:p>
        </p:txBody>
      </p:sp>
      <p:sp>
        <p:nvSpPr>
          <p:cNvPr id="6" name="Text 3"/>
          <p:cNvSpPr txBox="1"/>
          <p:nvPr/>
        </p:nvSpPr>
        <p:spPr>
          <a:xfrm>
            <a:off x="594360" y="4114800"/>
            <a:ext cx="5943600" cy="0"/>
          </a:xfrm>
          <a:prstGeom prst="rect">
            <a:avLst/>
          </a:prstGeom>
          <a:noFill/>
          <a:ln/>
        </p:spPr>
        <p:txBody>
          <a:bodyPr wrap="square" lIns="0" tIns="0" rIns="0" bIns="0" rtlCol="0" anchor="t"/>
          <a:lstStyle/>
          <a:p>
            <a:pPr algn="l" indent="0" marL="0">
              <a:lnSpc>
                <a:spcPct val="113000"/>
              </a:lnSpc>
              <a:buNone/>
            </a:pPr>
            <a:r>
              <a:rPr lang="en-US" sz="1350" b="1" dirty="0">
                <a:solidFill>
                  <a:srgbClr val="2F3596"/>
                </a:solidFill>
                <a:latin typeface="Calibri" pitchFamily="34" charset="0"/>
                <a:ea typeface="Calibri" pitchFamily="34" charset="-122"/>
                <a:cs typeface="Calibri" pitchFamily="34" charset="-120"/>
              </a:rPr>
              <a:t>Why moving 4.661 Å changes nothing</a:t>
            </a:r>
            <a:endParaRPr lang="en-US" sz="1350" dirty="0"/>
          </a:p>
        </p:txBody>
      </p:sp>
      <p:sp>
        <p:nvSpPr>
          <p:cNvPr id="7" name="Text 4"/>
          <p:cNvSpPr txBox="1"/>
          <p:nvPr/>
        </p:nvSpPr>
        <p:spPr>
          <a:xfrm>
            <a:off x="594360" y="4462272"/>
            <a:ext cx="5943600" cy="1737360"/>
          </a:xfrm>
          <a:prstGeom prst="rect">
            <a:avLst/>
          </a:prstGeom>
          <a:noFill/>
          <a:ln/>
        </p:spPr>
        <p:txBody>
          <a:bodyPr wrap="square" lIns="0" tIns="0" rIns="0" bIns="0" rtlCol="0" anchor="t"/>
          <a:lstStyle/>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The two boxes overlap by 76.8%. </a:t>
            </a:r>
            <a:pPr indent="0" marL="0">
              <a:lnSpc>
                <a:spcPct val="116000"/>
              </a:lnSpc>
              <a:spcAft>
                <a:spcPts val="900"/>
              </a:spcAft>
              <a:buNone/>
            </a:pPr>
            <a:r>
              <a:rPr lang="en-US" sz="1200" dirty="0">
                <a:solidFill>
                  <a:srgbClr val="1C1E33"/>
                </a:solidFill>
                <a:latin typeface="Calibri" pitchFamily="34" charset="0"/>
                <a:ea typeface="Calibri" pitchFamily="34" charset="-122"/>
                <a:cs typeface="Calibri" pitchFamily="34" charset="-120"/>
              </a:rPr>
              <a:t>Per-axis overlap is 0.920 × 0.875 × 0.954.</a:t>
            </a:r>
            <a:endParaRPr lang="en-US" sz="1200" dirty="0"/>
          </a:p>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Docking lands on the same site. </a:t>
            </a:r>
            <a:pPr indent="0" marL="0">
              <a:lnSpc>
                <a:spcPct val="116000"/>
              </a:lnSpc>
              <a:spcAft>
                <a:spcPts val="900"/>
              </a:spcAft>
              <a:buNone/>
            </a:pPr>
            <a:r>
              <a:rPr lang="en-US" sz="1200" dirty="0">
                <a:solidFill>
                  <a:srgbClr val="1C1E33"/>
                </a:solidFill>
                <a:latin typeface="Calibri" pitchFamily="34" charset="0"/>
                <a:ea typeface="Calibri" pitchFamily="34" charset="-122"/>
                <a:cs typeface="Calibri" pitchFamily="34" charset="-120"/>
              </a:rPr>
              <a:t>The top two clusters differ by 2.86 and 2.83 Å — within grid resolution, so it is the same physical site.</a:t>
            </a:r>
            <a:endParaRPr lang="en-US" sz="1200" dirty="0"/>
          </a:p>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What remains is grid discretization. </a:t>
            </a:r>
            <a:pPr indent="0" marL="0">
              <a:lnSpc>
                <a:spcPct val="116000"/>
              </a:lnSpc>
              <a:spcAft>
                <a:spcPts val="900"/>
              </a:spcAft>
              <a:buNone/>
            </a:pPr>
            <a:r>
              <a:rPr lang="en-US" sz="1200" dirty="0">
                <a:solidFill>
                  <a:srgbClr val="1C1E33"/>
                </a:solidFill>
                <a:latin typeface="Calibri" pitchFamily="34" charset="0"/>
                <a:ea typeface="Calibri" pitchFamily="34" charset="-122"/>
                <a:cs typeface="Calibri" pitchFamily="34" charset="-120"/>
              </a:rPr>
              <a:t>The mean difference is +0.01 to +0.02, so there is no bias, only per-structure scatter.</a:t>
            </a:r>
            <a:endParaRPr lang="en-US" sz="1200" dirty="0"/>
          </a:p>
        </p:txBody>
      </p:sp>
      <p:sp>
        <p:nvSpPr>
          <p:cNvPr id="8" name="Shape 5"/>
          <p:cNvSpPr/>
          <p:nvPr/>
        </p:nvSpPr>
        <p:spPr>
          <a:xfrm>
            <a:off x="6903720" y="1783080"/>
            <a:ext cx="4663440" cy="1965960"/>
          </a:xfrm>
          <a:prstGeom prst="roundRect">
            <a:avLst>
              <a:gd name="adj" fmla="val 2791"/>
            </a:avLst>
          </a:prstGeom>
          <a:solidFill>
            <a:srgbClr val="F7F8FC"/>
          </a:solidFill>
          <a:ln w="12700">
            <a:solidFill>
              <a:srgbClr val="D6DAEE"/>
            </a:solidFill>
            <a:prstDash val="solid"/>
          </a:ln>
        </p:spPr>
      </p:sp>
      <p:sp>
        <p:nvSpPr>
          <p:cNvPr id="9" name="Text 6"/>
          <p:cNvSpPr txBox="1"/>
          <p:nvPr/>
        </p:nvSpPr>
        <p:spPr>
          <a:xfrm>
            <a:off x="7178040" y="1965960"/>
            <a:ext cx="4114800" cy="0"/>
          </a:xfrm>
          <a:prstGeom prst="rect">
            <a:avLst/>
          </a:prstGeom>
          <a:noFill/>
          <a:ln/>
        </p:spPr>
        <p:txBody>
          <a:bodyPr wrap="square" lIns="0" tIns="0" rIns="0" bIns="0" rtlCol="0" anchor="t"/>
          <a:lstStyle/>
          <a:p>
            <a:pPr algn="l" indent="0" marL="0">
              <a:lnSpc>
                <a:spcPct val="113000"/>
              </a:lnSpc>
              <a:buNone/>
            </a:pPr>
            <a:r>
              <a:rPr lang="en-US" sz="1200" b="1" dirty="0">
                <a:solidFill>
                  <a:srgbClr val="5C6180"/>
                </a:solidFill>
                <a:latin typeface="Calibri" pitchFamily="34" charset="0"/>
                <a:ea typeface="Calibri" pitchFamily="34" charset="-122"/>
                <a:cs typeface="Calibri" pitchFamily="34" charset="-120"/>
              </a:rPr>
              <a:t>Applicable sequences</a:t>
            </a:r>
            <a:endParaRPr lang="en-US" sz="1200" dirty="0"/>
          </a:p>
        </p:txBody>
      </p:sp>
      <p:sp>
        <p:nvSpPr>
          <p:cNvPr id="10" name="Text 7"/>
          <p:cNvSpPr txBox="1"/>
          <p:nvPr/>
        </p:nvSpPr>
        <p:spPr>
          <a:xfrm>
            <a:off x="7132320" y="2331720"/>
            <a:ext cx="1783080" cy="661111"/>
          </a:xfrm>
          <a:prstGeom prst="rect">
            <a:avLst/>
          </a:prstGeom>
          <a:noFill/>
          <a:ln/>
        </p:spPr>
        <p:txBody>
          <a:bodyPr wrap="square" lIns="0" tIns="0" rIns="0" bIns="0" rtlCol="0" anchor="ctr"/>
          <a:lstStyle/>
          <a:p>
            <a:pPr algn="ctr" indent="0" marL="0">
              <a:buNone/>
            </a:pPr>
            <a:r>
              <a:rPr lang="en-US" sz="3400" b="1" dirty="0">
                <a:solidFill>
                  <a:srgbClr val="5C6180"/>
                </a:solidFill>
                <a:latin typeface="Calibri" pitchFamily="34" charset="0"/>
                <a:ea typeface="Calibri" pitchFamily="34" charset="-122"/>
                <a:cs typeface="Calibri" pitchFamily="34" charset="-120"/>
              </a:rPr>
              <a:t>1,613</a:t>
            </a:r>
            <a:endParaRPr lang="en-US" sz="3400" dirty="0"/>
          </a:p>
        </p:txBody>
      </p:sp>
      <p:sp>
        <p:nvSpPr>
          <p:cNvPr id="11" name="Text 8"/>
          <p:cNvSpPr txBox="1"/>
          <p:nvPr/>
        </p:nvSpPr>
        <p:spPr>
          <a:xfrm>
            <a:off x="7132320" y="2937967"/>
            <a:ext cx="1783080" cy="365760"/>
          </a:xfrm>
          <a:prstGeom prst="rect">
            <a:avLst/>
          </a:prstGeom>
          <a:noFill/>
          <a:ln/>
        </p:spPr>
        <p:txBody>
          <a:bodyPr wrap="square" lIns="0" tIns="0" rIns="0" bIns="0" rtlCol="0" anchor="ctr"/>
          <a:lstStyle/>
          <a:p>
            <a:pPr algn="ctr" indent="0" marL="0">
              <a:lnSpc>
                <a:spcPct val="106000"/>
              </a:lnSpc>
              <a:buNone/>
            </a:pPr>
            <a:r>
              <a:rPr lang="en-US" sz="1100" dirty="0">
                <a:solidFill>
                  <a:srgbClr val="5C6180"/>
                </a:solidFill>
                <a:latin typeface="Calibri" pitchFamily="34" charset="0"/>
                <a:ea typeface="Calibri" pitchFamily="34" charset="-122"/>
                <a:cs typeface="Calibri" pitchFamily="34" charset="-120"/>
              </a:rPr>
              <a:t>CE2-based</a:t>
            </a:r>
            <a:endParaRPr lang="en-US" sz="1100" dirty="0"/>
          </a:p>
        </p:txBody>
      </p:sp>
      <p:sp>
        <p:nvSpPr>
          <p:cNvPr id="12" name="Text 9"/>
          <p:cNvSpPr txBox="1"/>
          <p:nvPr/>
        </p:nvSpPr>
        <p:spPr>
          <a:xfrm>
            <a:off x="8961120" y="2404872"/>
            <a:ext cx="411480" cy="457200"/>
          </a:xfrm>
          <a:prstGeom prst="rect">
            <a:avLst/>
          </a:prstGeom>
          <a:noFill/>
          <a:ln/>
        </p:spPr>
        <p:txBody>
          <a:bodyPr wrap="square" lIns="0" tIns="0" rIns="0" bIns="0" rtlCol="0" anchor="ctr"/>
          <a:lstStyle/>
          <a:p>
            <a:pPr algn="ctr" indent="0" marL="0">
              <a:buNone/>
            </a:pPr>
            <a:r>
              <a:rPr lang="en-US" sz="2200" b="1" dirty="0">
                <a:solidFill>
                  <a:srgbClr val="C0692B"/>
                </a:solidFill>
                <a:latin typeface="Calibri" pitchFamily="34" charset="0"/>
                <a:ea typeface="Calibri" pitchFamily="34" charset="-122"/>
                <a:cs typeface="Calibri" pitchFamily="34" charset="-120"/>
              </a:rPr>
              <a:t>→</a:t>
            </a:r>
            <a:endParaRPr lang="en-US" sz="2200" dirty="0"/>
          </a:p>
        </p:txBody>
      </p:sp>
      <p:sp>
        <p:nvSpPr>
          <p:cNvPr id="13" name="Text 10"/>
          <p:cNvSpPr txBox="1"/>
          <p:nvPr/>
        </p:nvSpPr>
        <p:spPr>
          <a:xfrm>
            <a:off x="9372600" y="2331720"/>
            <a:ext cx="1783080" cy="661111"/>
          </a:xfrm>
          <a:prstGeom prst="rect">
            <a:avLst/>
          </a:prstGeom>
          <a:noFill/>
          <a:ln/>
        </p:spPr>
        <p:txBody>
          <a:bodyPr wrap="square" lIns="0" tIns="0" rIns="0" bIns="0" rtlCol="0" anchor="ctr"/>
          <a:lstStyle/>
          <a:p>
            <a:pPr algn="ctr" indent="0" marL="0">
              <a:buNone/>
            </a:pPr>
            <a:r>
              <a:rPr lang="en-US" sz="3400" b="1" dirty="0">
                <a:solidFill>
                  <a:srgbClr val="2F3596"/>
                </a:solidFill>
                <a:latin typeface="Calibri" pitchFamily="34" charset="0"/>
                <a:ea typeface="Calibri" pitchFamily="34" charset="-122"/>
                <a:cs typeface="Calibri" pitchFamily="34" charset="-120"/>
              </a:rPr>
              <a:t>1,750</a:t>
            </a:r>
            <a:endParaRPr lang="en-US" sz="3400" dirty="0"/>
          </a:p>
        </p:txBody>
      </p:sp>
      <p:sp>
        <p:nvSpPr>
          <p:cNvPr id="14" name="Text 11"/>
          <p:cNvSpPr txBox="1"/>
          <p:nvPr/>
        </p:nvSpPr>
        <p:spPr>
          <a:xfrm>
            <a:off x="9372600" y="2937967"/>
            <a:ext cx="1783080" cy="365760"/>
          </a:xfrm>
          <a:prstGeom prst="rect">
            <a:avLst/>
          </a:prstGeom>
          <a:noFill/>
          <a:ln/>
        </p:spPr>
        <p:txBody>
          <a:bodyPr wrap="square" lIns="0" tIns="0" rIns="0" bIns="0" rtlCol="0" anchor="ctr"/>
          <a:lstStyle/>
          <a:p>
            <a:pPr algn="ctr" indent="0" marL="0">
              <a:lnSpc>
                <a:spcPct val="106000"/>
              </a:lnSpc>
              <a:buNone/>
            </a:pPr>
            <a:r>
              <a:rPr lang="en-US" sz="1100" dirty="0">
                <a:solidFill>
                  <a:srgbClr val="5C6180"/>
                </a:solidFill>
                <a:latin typeface="Calibri" pitchFamily="34" charset="0"/>
                <a:ea typeface="Calibri" pitchFamily="34" charset="-122"/>
                <a:cs typeface="Calibri" pitchFamily="34" charset="-120"/>
              </a:rPr>
              <a:t>CA-based</a:t>
            </a:r>
            <a:endParaRPr lang="en-US" sz="1100" dirty="0"/>
          </a:p>
        </p:txBody>
      </p:sp>
      <p:sp>
        <p:nvSpPr>
          <p:cNvPr id="15" name="Shape 12"/>
          <p:cNvSpPr/>
          <p:nvPr/>
        </p:nvSpPr>
        <p:spPr>
          <a:xfrm>
            <a:off x="6903720" y="3931920"/>
            <a:ext cx="4663440" cy="1143000"/>
          </a:xfrm>
          <a:prstGeom prst="roundRect">
            <a:avLst>
              <a:gd name="adj" fmla="val 4800"/>
            </a:avLst>
          </a:prstGeom>
          <a:solidFill>
            <a:srgbClr val="FBEEE2"/>
          </a:solidFill>
          <a:ln w="12700">
            <a:solidFill>
              <a:srgbClr val="E8C9A8"/>
            </a:solidFill>
            <a:prstDash val="solid"/>
          </a:ln>
        </p:spPr>
      </p:sp>
      <p:sp>
        <p:nvSpPr>
          <p:cNvPr id="16" name="Text 13"/>
          <p:cNvSpPr txBox="1"/>
          <p:nvPr/>
        </p:nvSpPr>
        <p:spPr>
          <a:xfrm>
            <a:off x="7178040" y="4133088"/>
            <a:ext cx="4114800" cy="0"/>
          </a:xfrm>
          <a:prstGeom prst="rect">
            <a:avLst/>
          </a:prstGeom>
          <a:noFill/>
          <a:ln/>
        </p:spPr>
        <p:txBody>
          <a:bodyPr wrap="square" lIns="0" tIns="0" rIns="0" bIns="0" rtlCol="0" anchor="t"/>
          <a:lstStyle/>
          <a:p>
            <a:pPr algn="l" indent="0" marL="0">
              <a:lnSpc>
                <a:spcPct val="113000"/>
              </a:lnSpc>
              <a:buNone/>
            </a:pPr>
            <a:r>
              <a:rPr lang="en-US" sz="1350" b="1" dirty="0">
                <a:solidFill>
                  <a:srgbClr val="C0692B"/>
                </a:solidFill>
                <a:latin typeface="Calibri" pitchFamily="34" charset="0"/>
                <a:ea typeface="Calibri" pitchFamily="34" charset="-122"/>
                <a:cs typeface="Calibri" pitchFamily="34" charset="-120"/>
              </a:rPr>
              <a:t>med_ds actually improved</a:t>
            </a:r>
            <a:endParaRPr lang="en-US" sz="1350" dirty="0"/>
          </a:p>
        </p:txBody>
      </p:sp>
      <p:sp>
        <p:nvSpPr>
          <p:cNvPr id="17" name="Text 14"/>
          <p:cNvSpPr txBox="1"/>
          <p:nvPr/>
        </p:nvSpPr>
        <p:spPr>
          <a:xfrm>
            <a:off x="7178040" y="4462272"/>
            <a:ext cx="4114800" cy="0"/>
          </a:xfrm>
          <a:prstGeom prst="rect">
            <a:avLst/>
          </a:prstGeom>
          <a:noFill/>
          <a:ln/>
        </p:spPr>
        <p:txBody>
          <a:bodyPr wrap="square" lIns="0" tIns="0" rIns="0" bIns="0" rtlCol="0" anchor="t"/>
          <a:lstStyle/>
          <a:p>
            <a:pPr algn="l" indent="0" marL="0">
              <a:lnSpc>
                <a:spcPct val="113000"/>
              </a:lnSpc>
              <a:buNone/>
            </a:pPr>
            <a:r>
              <a:rPr lang="en-US" sz="1200" dirty="0">
                <a:solidFill>
                  <a:srgbClr val="1C1E33"/>
                </a:solidFill>
                <a:latin typeface="Calibri" pitchFamily="34" charset="0"/>
                <a:ea typeface="Calibri" pitchFamily="34" charset="-122"/>
                <a:cs typeface="Calibri" pitchFamily="34" charset="-120"/>
              </a:rPr>
              <a:t>0.856 → 0.889, while med_lig held at 0.903 → 0.896.</a:t>
            </a:r>
            <a:endParaRPr lang="en-US" sz="1200" dirty="0"/>
          </a:p>
        </p:txBody>
      </p:sp>
      <p:sp>
        <p:nvSpPr>
          <p:cNvPr id="18" name="Shape 15"/>
          <p:cNvSpPr/>
          <p:nvPr/>
        </p:nvSpPr>
        <p:spPr>
          <a:xfrm>
            <a:off x="6903720" y="5230368"/>
            <a:ext cx="4663440" cy="822960"/>
          </a:xfrm>
          <a:prstGeom prst="roundRect">
            <a:avLst>
              <a:gd name="adj" fmla="val 6667"/>
            </a:avLst>
          </a:prstGeom>
          <a:solidFill>
            <a:srgbClr val="EEF0FA"/>
          </a:solidFill>
          <a:ln w="12700">
            <a:solidFill>
              <a:srgbClr val="D6DAEE"/>
            </a:solidFill>
            <a:prstDash val="solid"/>
          </a:ln>
        </p:spPr>
      </p:sp>
      <p:sp>
        <p:nvSpPr>
          <p:cNvPr id="19" name="Text 16"/>
          <p:cNvSpPr txBox="1"/>
          <p:nvPr/>
        </p:nvSpPr>
        <p:spPr>
          <a:xfrm>
            <a:off x="7178040" y="5431536"/>
            <a:ext cx="4114800" cy="0"/>
          </a:xfrm>
          <a:prstGeom prst="rect">
            <a:avLst/>
          </a:prstGeom>
          <a:noFill/>
          <a:ln/>
        </p:spPr>
        <p:txBody>
          <a:bodyPr wrap="square" lIns="0" tIns="0" rIns="0" bIns="0" rtlCol="0" anchor="t"/>
          <a:lstStyle/>
          <a:p>
            <a:pPr algn="l" indent="0" marL="0">
              <a:lnSpc>
                <a:spcPct val="113000"/>
              </a:lnSpc>
              <a:buNone/>
            </a:pPr>
            <a:r>
              <a:rPr lang="en-US" sz="1250" b="1" dirty="0">
                <a:solidFill>
                  <a:srgbClr val="2F3596"/>
                </a:solidFill>
                <a:latin typeface="Calibri" pitchFamily="34" charset="0"/>
                <a:ea typeface="Calibri" pitchFamily="34" charset="-122"/>
                <a:cs typeface="Calibri" pitchFamily="34" charset="-120"/>
              </a:rPr>
              <a:t>Coverage increases and nothing is paid for it.</a:t>
            </a:r>
            <a:endParaRPr lang="en-US" sz="1250" dirty="0"/>
          </a:p>
        </p:txBody>
      </p:sp>
      <p:sp>
        <p:nvSpPr>
          <p:cNvPr id="21" name="Text 17"/>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②  BOX SIZE</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15 Å is not negotiable — a larger box lets the ligand slide down a groove</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5669280" cy="914400"/>
        </p:xfrm>
        <a:graphic>
          <a:graphicData uri="http://schemas.openxmlformats.org/drawingml/2006/table">
            <a:tbl>
              <a:tblPr/>
              <a:tblGrid>
                <a:gridCol w="1234440"/>
                <a:gridCol w="1645920"/>
                <a:gridCol w="1554480"/>
                <a:gridCol w="1234440"/>
              </a:tblGrid>
              <a:tr h="33375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Half-width (Å)</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Poses within 15 Å</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Per-variant minimum</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ρ within position</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33756">
                <a:tc>
                  <a:txBody>
                    <a:bodyPr/>
                    <a:lstStyle/>
                    <a:p>
                      <a:pPr algn="l" indent="0" marL="0">
                        <a:buNone/>
                      </a:pPr>
                      <a:r>
                        <a:rPr lang="en-US" sz="1100" b="1" dirty="0">
                          <a:solidFill>
                            <a:srgbClr val="1C1E33"/>
                          </a:solidFill>
                          <a:latin typeface="Calibri" pitchFamily="34" charset="0"/>
                          <a:ea typeface="Calibri" pitchFamily="34" charset="-122"/>
                          <a:cs typeface="Calibri" pitchFamily="34" charset="-120"/>
                        </a:rPr>
                        <a:t>15.000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0.999</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0.82</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0.928</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16.125</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0.301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C0692B"/>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0.833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17.250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0.176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0.781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18.000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0.168</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0.779</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20.250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0.136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0.00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0.774</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5" name="Shape 2"/>
          <p:cNvSpPr/>
          <p:nvPr/>
        </p:nvSpPr>
        <p:spPr>
          <a:xfrm>
            <a:off x="594360" y="4114800"/>
            <a:ext cx="5669280" cy="914400"/>
          </a:xfrm>
          <a:prstGeom prst="roundRect">
            <a:avLst>
              <a:gd name="adj" fmla="val 6000"/>
            </a:avLst>
          </a:prstGeom>
          <a:solidFill>
            <a:srgbClr val="FBEEE2"/>
          </a:solidFill>
          <a:ln w="12700">
            <a:solidFill>
              <a:srgbClr val="E8C9A8"/>
            </a:solidFill>
            <a:prstDash val="solid"/>
          </a:ln>
        </p:spPr>
      </p:sp>
      <p:sp>
        <p:nvSpPr>
          <p:cNvPr id="6" name="Text 3"/>
          <p:cNvSpPr txBox="1"/>
          <p:nvPr/>
        </p:nvSpPr>
        <p:spPr>
          <a:xfrm>
            <a:off x="850392" y="4261104"/>
            <a:ext cx="5120640" cy="0"/>
          </a:xfrm>
          <a:prstGeom prst="rect">
            <a:avLst/>
          </a:prstGeom>
          <a:noFill/>
          <a:ln/>
        </p:spPr>
        <p:txBody>
          <a:bodyPr wrap="square" lIns="0" tIns="0" rIns="0" bIns="0" rtlCol="0" anchor="t"/>
          <a:lstStyle/>
          <a:p>
            <a:pPr algn="l" indent="0" marL="0">
              <a:lnSpc>
                <a:spcPct val="113000"/>
              </a:lnSpc>
              <a:buNone/>
            </a:pPr>
            <a:r>
              <a:rPr lang="en-US" sz="1300" b="1" dirty="0">
                <a:solidFill>
                  <a:srgbClr val="C0692B"/>
                </a:solidFill>
                <a:latin typeface="Calibri" pitchFamily="34" charset="0"/>
                <a:ea typeface="Calibri" pitchFamily="34" charset="-122"/>
                <a:cs typeface="Calibri" pitchFamily="34" charset="-120"/>
              </a:rPr>
              <a:t>At 16.125 Å the per-variant minimum is already 0.00</a:t>
            </a:r>
            <a:endParaRPr lang="en-US" sz="1300" dirty="0"/>
          </a:p>
        </p:txBody>
      </p:sp>
      <p:sp>
        <p:nvSpPr>
          <p:cNvPr id="7" name="Text 4"/>
          <p:cNvSpPr txBox="1"/>
          <p:nvPr/>
        </p:nvSpPr>
        <p:spPr>
          <a:xfrm>
            <a:off x="850392" y="4599432"/>
            <a:ext cx="5120640" cy="0"/>
          </a:xfrm>
          <a:prstGeom prst="rect">
            <a:avLst/>
          </a:prstGeom>
          <a:noFill/>
          <a:ln/>
        </p:spPr>
        <p:txBody>
          <a:bodyPr wrap="square" lIns="0" tIns="0" rIns="0" bIns="0" rtlCol="0" anchor="t"/>
          <a:lstStyle/>
          <a:p>
            <a:pPr algn="l" indent="0" marL="0">
              <a:lnSpc>
                <a:spcPct val="113000"/>
              </a:lnSpc>
              <a:buNone/>
            </a:pPr>
            <a:r>
              <a:rPr lang="en-US" sz="1150" dirty="0">
                <a:solidFill>
                  <a:srgbClr val="1C1E33"/>
                </a:solidFill>
                <a:latin typeface="Calibri" pitchFamily="34" charset="0"/>
                <a:ea typeface="Calibri" pitchFamily="34" charset="-122"/>
                <a:cs typeface="Calibri" pitchFamily="34" charset="-120"/>
              </a:rPr>
              <a:t>Some variants send all 50 poses outside 15 Å — a non-uniform bias.</a:t>
            </a:r>
            <a:endParaRPr lang="en-US" sz="1150" dirty="0"/>
          </a:p>
        </p:txBody>
      </p:sp>
      <p:sp>
        <p:nvSpPr>
          <p:cNvPr id="8" name="Text 5"/>
          <p:cNvSpPr txBox="1"/>
          <p:nvPr/>
        </p:nvSpPr>
        <p:spPr>
          <a:xfrm>
            <a:off x="594360" y="5212080"/>
            <a:ext cx="5669280" cy="1188720"/>
          </a:xfrm>
          <a:prstGeom prst="rect">
            <a:avLst/>
          </a:prstGeom>
          <a:noFill/>
          <a:ln/>
        </p:spPr>
        <p:txBody>
          <a:bodyPr wrap="square" lIns="0" tIns="0" rIns="0" bIns="0" rtlCol="0" anchor="t"/>
          <a:lstStyle/>
          <a:p>
            <a:pPr indent="0" marL="0">
              <a:lnSpc>
                <a:spcPct val="116000"/>
              </a:lnSpc>
              <a:buNone/>
            </a:pPr>
            <a:r>
              <a:rPr lang="en-US" sz="1150" b="1" dirty="0">
                <a:solidFill>
                  <a:srgbClr val="1C1E33"/>
                </a:solidFill>
                <a:latin typeface="Calibri" pitchFamily="34" charset="0"/>
                <a:ea typeface="Calibri" pitchFamily="34" charset="-122"/>
                <a:cs typeface="Calibri" pitchFamily="34" charset="-120"/>
              </a:rPr>
              <a:t>Not a cliff but a descent from 15.0 to 17.25, then a plateau. </a:t>
            </a:r>
            <a:pPr indent="0" marL="0">
              <a:lnSpc>
                <a:spcPct val="116000"/>
              </a:lnSpc>
              <a:spcAft>
                <a:spcPts val="800"/>
              </a:spcAft>
              <a:buNone/>
            </a:pPr>
            <a:r>
              <a:rPr lang="en-US" sz="1150" dirty="0">
                <a:solidFill>
                  <a:srgbClr val="1C1E33"/>
                </a:solidFill>
                <a:latin typeface="Calibri" pitchFamily="34" charset="0"/>
                <a:ea typeface="Calibri" pitchFamily="34" charset="-122"/>
                <a:cs typeface="Calibri" pitchFamily="34" charset="-120"/>
              </a:rPr>
              <a:t>60% of the drop occurs in the first 1.1 Å.</a:t>
            </a:r>
            <a:endParaRPr lang="en-US" sz="1150" dirty="0"/>
          </a:p>
          <a:p>
            <a:pPr indent="0" marL="0">
              <a:lnSpc>
                <a:spcPct val="116000"/>
              </a:lnSpc>
              <a:buNone/>
            </a:pPr>
            <a:r>
              <a:rPr lang="en-US" sz="1150" b="1" dirty="0">
                <a:solidFill>
                  <a:srgbClr val="2F3596"/>
                </a:solidFill>
                <a:latin typeface="Calibri" pitchFamily="34" charset="0"/>
                <a:ea typeface="Calibri" pitchFamily="34" charset="-122"/>
                <a:cs typeface="Calibri" pitchFamily="34" charset="-120"/>
              </a:rPr>
              <a:t>15 Å cuts the groove off at its mouth, </a:t>
            </a:r>
            <a:pPr indent="0" marL="0">
              <a:lnSpc>
                <a:spcPct val="116000"/>
              </a:lnSpc>
              <a:spcAft>
                <a:spcPts val="800"/>
              </a:spcAft>
              <a:buNone/>
            </a:pPr>
            <a:r>
              <a:rPr lang="en-US" sz="1150" dirty="0">
                <a:solidFill>
                  <a:srgbClr val="2F3596"/>
                </a:solidFill>
                <a:latin typeface="Calibri" pitchFamily="34" charset="0"/>
                <a:ea typeface="Calibri" pitchFamily="34" charset="-122"/>
                <a:cs typeface="Calibri" pitchFamily="34" charset="-120"/>
              </a:rPr>
              <a:t>and that stretch overlaps the mutated residues, which is where the signal comes from.</a:t>
            </a:r>
            <a:endParaRPr lang="en-US" sz="1150" dirty="0"/>
          </a:p>
        </p:txBody>
      </p:sp>
      <p:sp>
        <p:nvSpPr>
          <p:cNvPr id="9" name="Shape 6"/>
          <p:cNvSpPr/>
          <p:nvPr/>
        </p:nvSpPr>
        <p:spPr>
          <a:xfrm>
            <a:off x="6720840" y="1783080"/>
            <a:ext cx="4846320" cy="4023360"/>
          </a:xfrm>
          <a:prstGeom prst="roundRect">
            <a:avLst>
              <a:gd name="adj" fmla="val 1364"/>
            </a:avLst>
          </a:prstGeom>
          <a:solidFill>
            <a:srgbClr val="F7F8FC"/>
          </a:solidFill>
          <a:ln w="12700">
            <a:solidFill>
              <a:srgbClr val="D6DAEE"/>
            </a:solidFill>
            <a:prstDash val="solid"/>
          </a:ln>
        </p:spPr>
      </p:sp>
      <p:sp>
        <p:nvSpPr>
          <p:cNvPr id="10" name="Text 7"/>
          <p:cNvSpPr txBox="1"/>
          <p:nvPr/>
        </p:nvSpPr>
        <p:spPr>
          <a:xfrm>
            <a:off x="6995160" y="1965960"/>
            <a:ext cx="4297680" cy="0"/>
          </a:xfrm>
          <a:prstGeom prst="rect">
            <a:avLst/>
          </a:prstGeom>
          <a:noFill/>
          <a:ln/>
        </p:spPr>
        <p:txBody>
          <a:bodyPr wrap="square" lIns="0" tIns="0" rIns="0" bIns="0" rtlCol="0" anchor="t"/>
          <a:lstStyle/>
          <a:p>
            <a:pPr algn="l" indent="0" marL="0">
              <a:lnSpc>
                <a:spcPct val="113000"/>
              </a:lnSpc>
              <a:buNone/>
            </a:pPr>
            <a:r>
              <a:rPr lang="en-US" sz="1300" b="1" dirty="0">
                <a:solidFill>
                  <a:srgbClr val="2F3596"/>
                </a:solidFill>
                <a:latin typeface="Calibri" pitchFamily="34" charset="0"/>
                <a:ea typeface="Calibri" pitchFamily="34" charset="-122"/>
                <a:cs typeface="Calibri" pitchFamily="34" charset="-120"/>
              </a:rPr>
              <a:t>Cluster centers migrate along one groove</a:t>
            </a:r>
            <a:endParaRPr lang="en-US" sz="1300" dirty="0"/>
          </a:p>
        </p:txBody>
      </p:sp>
      <p:sp>
        <p:nvSpPr>
          <p:cNvPr id="11" name="Text 8"/>
          <p:cNvSpPr txBox="1"/>
          <p:nvPr/>
        </p:nvSpPr>
        <p:spPr>
          <a:xfrm>
            <a:off x="6995160" y="2286000"/>
            <a:ext cx="4297680" cy="0"/>
          </a:xfrm>
          <a:prstGeom prst="rect">
            <a:avLst/>
          </a:prstGeom>
          <a:noFill/>
          <a:ln/>
        </p:spPr>
        <p:txBody>
          <a:bodyPr wrap="square" lIns="0" tIns="0" rIns="0" bIns="0" rtlCol="0" anchor="t"/>
          <a:lstStyle/>
          <a:p>
            <a:pPr algn="l" indent="0" marL="0">
              <a:lnSpc>
                <a:spcPct val="113000"/>
              </a:lnSpc>
              <a:buNone/>
            </a:pPr>
            <a:r>
              <a:rPr lang="en-US" sz="1100" dirty="0">
                <a:solidFill>
                  <a:srgbClr val="5C6180"/>
                </a:solidFill>
                <a:latin typeface="Calibri" pitchFamily="34" charset="0"/>
                <a:ea typeface="Calibri" pitchFamily="34" charset="-122"/>
                <a:cs typeface="Calibri" pitchFamily="34" charset="-120"/>
              </a:rPr>
              <a:t>Direction (1, 0, 1)/√2 — y stays pinned at 3 while x and z grow</a:t>
            </a:r>
            <a:endParaRPr lang="en-US" sz="1100" dirty="0"/>
          </a:p>
        </p:txBody>
      </p:sp>
      <p:sp>
        <p:nvSpPr>
          <p:cNvPr id="12" name="Shape 9"/>
          <p:cNvSpPr/>
          <p:nvPr/>
        </p:nvSpPr>
        <p:spPr>
          <a:xfrm>
            <a:off x="7223760" y="3154680"/>
            <a:ext cx="1234440" cy="1554480"/>
          </a:xfrm>
          <a:prstGeom prst="rect">
            <a:avLst/>
          </a:prstGeom>
          <a:solidFill>
            <a:srgbClr val="E2E6F6"/>
          </a:solidFill>
          <a:ln/>
        </p:spPr>
      </p:sp>
      <p:sp>
        <p:nvSpPr>
          <p:cNvPr id="13" name="Text 10"/>
          <p:cNvSpPr txBox="1"/>
          <p:nvPr/>
        </p:nvSpPr>
        <p:spPr>
          <a:xfrm>
            <a:off x="7178040" y="2889504"/>
            <a:ext cx="1325880" cy="0"/>
          </a:xfrm>
          <a:prstGeom prst="rect">
            <a:avLst/>
          </a:prstGeom>
          <a:noFill/>
          <a:ln/>
        </p:spPr>
        <p:txBody>
          <a:bodyPr wrap="square" lIns="0" tIns="0" rIns="0" bIns="0" rtlCol="0" anchor="t"/>
          <a:lstStyle/>
          <a:p>
            <a:pPr algn="ctr" indent="0" marL="0">
              <a:lnSpc>
                <a:spcPct val="113000"/>
              </a:lnSpc>
              <a:buNone/>
            </a:pPr>
            <a:r>
              <a:rPr lang="en-US" sz="900" b="1" dirty="0">
                <a:solidFill>
                  <a:srgbClr val="2F3596"/>
                </a:solidFill>
                <a:latin typeface="Calibri" pitchFamily="34" charset="0"/>
                <a:ea typeface="Calibri" pitchFamily="34" charset="-122"/>
                <a:cs typeface="Calibri" pitchFamily="34" charset="-120"/>
              </a:rPr>
              <a:t>mutated residues</a:t>
            </a:r>
            <a:endParaRPr lang="en-US" sz="900" dirty="0"/>
          </a:p>
        </p:txBody>
      </p:sp>
      <p:sp>
        <p:nvSpPr>
          <p:cNvPr id="14" name="Shape 11"/>
          <p:cNvSpPr/>
          <p:nvPr/>
        </p:nvSpPr>
        <p:spPr>
          <a:xfrm>
            <a:off x="7223760" y="3931920"/>
            <a:ext cx="3840480" cy="0"/>
          </a:xfrm>
          <a:prstGeom prst="line">
            <a:avLst/>
          </a:prstGeom>
          <a:noFill/>
          <a:ln w="15875">
            <a:solidFill>
              <a:srgbClr val="5C6180"/>
            </a:solidFill>
            <a:prstDash val="solid"/>
          </a:ln>
        </p:spPr>
      </p:sp>
      <p:sp>
        <p:nvSpPr>
          <p:cNvPr id="15" name="Shape 12"/>
          <p:cNvSpPr/>
          <p:nvPr/>
        </p:nvSpPr>
        <p:spPr>
          <a:xfrm>
            <a:off x="8458200" y="3063240"/>
            <a:ext cx="0" cy="1737360"/>
          </a:xfrm>
          <a:prstGeom prst="line">
            <a:avLst/>
          </a:prstGeom>
          <a:noFill/>
          <a:ln w="19050">
            <a:solidFill>
              <a:srgbClr val="C0692B"/>
            </a:solidFill>
            <a:prstDash val="dash"/>
          </a:ln>
        </p:spPr>
      </p:sp>
      <p:sp>
        <p:nvSpPr>
          <p:cNvPr id="16" name="Text 13"/>
          <p:cNvSpPr txBox="1"/>
          <p:nvPr/>
        </p:nvSpPr>
        <p:spPr>
          <a:xfrm>
            <a:off x="8092440" y="4846320"/>
            <a:ext cx="1463040" cy="0"/>
          </a:xfrm>
          <a:prstGeom prst="rect">
            <a:avLst/>
          </a:prstGeom>
          <a:noFill/>
          <a:ln/>
        </p:spPr>
        <p:txBody>
          <a:bodyPr wrap="square" lIns="0" tIns="0" rIns="0" bIns="0" rtlCol="0" anchor="t"/>
          <a:lstStyle/>
          <a:p>
            <a:pPr algn="ctr" indent="0" marL="0">
              <a:lnSpc>
                <a:spcPct val="113000"/>
              </a:lnSpc>
              <a:buNone/>
            </a:pPr>
            <a:r>
              <a:rPr lang="en-US" sz="1000" b="1" dirty="0">
                <a:solidFill>
                  <a:srgbClr val="C0692B"/>
                </a:solidFill>
                <a:latin typeface="Calibri" pitchFamily="34" charset="0"/>
                <a:ea typeface="Calibri" pitchFamily="34" charset="-122"/>
                <a:cs typeface="Calibri" pitchFamily="34" charset="-120"/>
              </a:rPr>
              <a:t>15 Å boundary</a:t>
            </a:r>
            <a:endParaRPr lang="en-US" sz="1000" dirty="0"/>
          </a:p>
        </p:txBody>
      </p:sp>
      <p:sp>
        <p:nvSpPr>
          <p:cNvPr id="17" name="Shape 14"/>
          <p:cNvSpPr/>
          <p:nvPr/>
        </p:nvSpPr>
        <p:spPr>
          <a:xfrm>
            <a:off x="7388352" y="3840480"/>
            <a:ext cx="182880" cy="182880"/>
          </a:xfrm>
          <a:prstGeom prst="ellipse">
            <a:avLst/>
          </a:prstGeom>
          <a:solidFill>
            <a:srgbClr val="2F3596"/>
          </a:solidFill>
          <a:ln/>
        </p:spPr>
      </p:sp>
      <p:sp>
        <p:nvSpPr>
          <p:cNvPr id="18" name="Text 15"/>
          <p:cNvSpPr txBox="1"/>
          <p:nvPr/>
        </p:nvSpPr>
        <p:spPr>
          <a:xfrm>
            <a:off x="7068312" y="3456432"/>
            <a:ext cx="822960" cy="0"/>
          </a:xfrm>
          <a:prstGeom prst="rect">
            <a:avLst/>
          </a:prstGeom>
          <a:noFill/>
          <a:ln/>
        </p:spPr>
        <p:txBody>
          <a:bodyPr wrap="square" lIns="0" tIns="0" rIns="0" bIns="0" rtlCol="0" anchor="t"/>
          <a:lstStyle/>
          <a:p>
            <a:pPr algn="ctr" indent="0" marL="0">
              <a:lnSpc>
                <a:spcPct val="113000"/>
              </a:lnSpc>
              <a:buNone/>
            </a:pPr>
            <a:r>
              <a:rPr lang="en-US" sz="1000" b="1" dirty="0">
                <a:solidFill>
                  <a:srgbClr val="2F3596"/>
                </a:solidFill>
                <a:latin typeface="Calibri" pitchFamily="34" charset="0"/>
                <a:ea typeface="Calibri" pitchFamily="34" charset="-122"/>
                <a:cs typeface="Calibri" pitchFamily="34" charset="-120"/>
              </a:rPr>
              <a:t>[3,3,6]</a:t>
            </a:r>
            <a:endParaRPr lang="en-US" sz="1000" dirty="0"/>
          </a:p>
        </p:txBody>
      </p:sp>
      <p:sp>
        <p:nvSpPr>
          <p:cNvPr id="19" name="Text 16"/>
          <p:cNvSpPr txBox="1"/>
          <p:nvPr/>
        </p:nvSpPr>
        <p:spPr>
          <a:xfrm>
            <a:off x="7068312" y="4078224"/>
            <a:ext cx="822960" cy="0"/>
          </a:xfrm>
          <a:prstGeom prst="rect">
            <a:avLst/>
          </a:prstGeom>
          <a:noFill/>
          <a:ln/>
        </p:spPr>
        <p:txBody>
          <a:bodyPr wrap="square" lIns="0" tIns="0" rIns="0" bIns="0" rtlCol="0" anchor="t"/>
          <a:lstStyle/>
          <a:p>
            <a:pPr algn="ctr" indent="0" marL="0">
              <a:lnSpc>
                <a:spcPct val="113000"/>
              </a:lnSpc>
              <a:buNone/>
            </a:pPr>
            <a:r>
              <a:rPr lang="en-US" sz="950" dirty="0">
                <a:solidFill>
                  <a:srgbClr val="5C6180"/>
                </a:solidFill>
                <a:latin typeface="Calibri" pitchFamily="34" charset="0"/>
                <a:ea typeface="Calibri" pitchFamily="34" charset="-122"/>
                <a:cs typeface="Calibri" pitchFamily="34" charset="-120"/>
              </a:rPr>
              <a:t>r15</a:t>
            </a:r>
            <a:endParaRPr lang="en-US" sz="950" dirty="0"/>
          </a:p>
        </p:txBody>
      </p:sp>
      <p:sp>
        <p:nvSpPr>
          <p:cNvPr id="20" name="Shape 17"/>
          <p:cNvSpPr/>
          <p:nvPr/>
        </p:nvSpPr>
        <p:spPr>
          <a:xfrm>
            <a:off x="8065008" y="3840480"/>
            <a:ext cx="182880" cy="182880"/>
          </a:xfrm>
          <a:prstGeom prst="ellipse">
            <a:avLst/>
          </a:prstGeom>
          <a:solidFill>
            <a:srgbClr val="2F3596"/>
          </a:solidFill>
          <a:ln/>
        </p:spPr>
      </p:sp>
      <p:sp>
        <p:nvSpPr>
          <p:cNvPr id="21" name="Text 18"/>
          <p:cNvSpPr txBox="1"/>
          <p:nvPr/>
        </p:nvSpPr>
        <p:spPr>
          <a:xfrm>
            <a:off x="7744968" y="3456432"/>
            <a:ext cx="822960" cy="0"/>
          </a:xfrm>
          <a:prstGeom prst="rect">
            <a:avLst/>
          </a:prstGeom>
          <a:noFill/>
          <a:ln/>
        </p:spPr>
        <p:txBody>
          <a:bodyPr wrap="square" lIns="0" tIns="0" rIns="0" bIns="0" rtlCol="0" anchor="t"/>
          <a:lstStyle/>
          <a:p>
            <a:pPr algn="ctr" indent="0" marL="0">
              <a:lnSpc>
                <a:spcPct val="113000"/>
              </a:lnSpc>
              <a:buNone/>
            </a:pPr>
            <a:r>
              <a:rPr lang="en-US" sz="1000" b="1" dirty="0">
                <a:solidFill>
                  <a:srgbClr val="2F3596"/>
                </a:solidFill>
                <a:latin typeface="Calibri" pitchFamily="34" charset="0"/>
                <a:ea typeface="Calibri" pitchFamily="34" charset="-122"/>
                <a:cs typeface="Calibri" pitchFamily="34" charset="-120"/>
              </a:rPr>
              <a:t>[6,3,6]</a:t>
            </a:r>
            <a:endParaRPr lang="en-US" sz="1000" dirty="0"/>
          </a:p>
        </p:txBody>
      </p:sp>
      <p:sp>
        <p:nvSpPr>
          <p:cNvPr id="22" name="Text 19"/>
          <p:cNvSpPr txBox="1"/>
          <p:nvPr/>
        </p:nvSpPr>
        <p:spPr>
          <a:xfrm>
            <a:off x="7744968" y="4078224"/>
            <a:ext cx="822960" cy="0"/>
          </a:xfrm>
          <a:prstGeom prst="rect">
            <a:avLst/>
          </a:prstGeom>
          <a:noFill/>
          <a:ln/>
        </p:spPr>
        <p:txBody>
          <a:bodyPr wrap="square" lIns="0" tIns="0" rIns="0" bIns="0" rtlCol="0" anchor="t"/>
          <a:lstStyle/>
          <a:p>
            <a:pPr algn="ctr" indent="0" marL="0">
              <a:lnSpc>
                <a:spcPct val="113000"/>
              </a:lnSpc>
              <a:buNone/>
            </a:pPr>
            <a:r>
              <a:rPr lang="en-US" sz="950" dirty="0">
                <a:solidFill>
                  <a:srgbClr val="5C6180"/>
                </a:solidFill>
                <a:latin typeface="Calibri" pitchFamily="34" charset="0"/>
                <a:ea typeface="Calibri" pitchFamily="34" charset="-122"/>
                <a:cs typeface="Calibri" pitchFamily="34" charset="-120"/>
              </a:rPr>
              <a:t>r15</a:t>
            </a:r>
            <a:endParaRPr lang="en-US" sz="950" dirty="0"/>
          </a:p>
        </p:txBody>
      </p:sp>
      <p:sp>
        <p:nvSpPr>
          <p:cNvPr id="23" name="Shape 20"/>
          <p:cNvSpPr/>
          <p:nvPr/>
        </p:nvSpPr>
        <p:spPr>
          <a:xfrm>
            <a:off x="9464040" y="3840480"/>
            <a:ext cx="182880" cy="182880"/>
          </a:xfrm>
          <a:prstGeom prst="ellipse">
            <a:avLst/>
          </a:prstGeom>
          <a:solidFill>
            <a:srgbClr val="C0692B"/>
          </a:solidFill>
          <a:ln/>
        </p:spPr>
      </p:sp>
      <p:sp>
        <p:nvSpPr>
          <p:cNvPr id="24" name="Text 21"/>
          <p:cNvSpPr txBox="1"/>
          <p:nvPr/>
        </p:nvSpPr>
        <p:spPr>
          <a:xfrm>
            <a:off x="9144000" y="3456432"/>
            <a:ext cx="822960" cy="0"/>
          </a:xfrm>
          <a:prstGeom prst="rect">
            <a:avLst/>
          </a:prstGeom>
          <a:noFill/>
          <a:ln/>
        </p:spPr>
        <p:txBody>
          <a:bodyPr wrap="square" lIns="0" tIns="0" rIns="0" bIns="0" rtlCol="0" anchor="t"/>
          <a:lstStyle/>
          <a:p>
            <a:pPr algn="ctr" indent="0" marL="0">
              <a:lnSpc>
                <a:spcPct val="113000"/>
              </a:lnSpc>
              <a:buNone/>
            </a:pPr>
            <a:r>
              <a:rPr lang="en-US" sz="1000" b="1" dirty="0">
                <a:solidFill>
                  <a:srgbClr val="C0692B"/>
                </a:solidFill>
                <a:latin typeface="Calibri" pitchFamily="34" charset="0"/>
                <a:ea typeface="Calibri" pitchFamily="34" charset="-122"/>
                <a:cs typeface="Calibri" pitchFamily="34" charset="-120"/>
              </a:rPr>
              <a:t>[12,3,12]</a:t>
            </a:r>
            <a:endParaRPr lang="en-US" sz="1000" dirty="0"/>
          </a:p>
        </p:txBody>
      </p:sp>
      <p:sp>
        <p:nvSpPr>
          <p:cNvPr id="25" name="Text 22"/>
          <p:cNvSpPr txBox="1"/>
          <p:nvPr/>
        </p:nvSpPr>
        <p:spPr>
          <a:xfrm>
            <a:off x="9144000" y="4078224"/>
            <a:ext cx="822960" cy="0"/>
          </a:xfrm>
          <a:prstGeom prst="rect">
            <a:avLst/>
          </a:prstGeom>
          <a:noFill/>
          <a:ln/>
        </p:spPr>
        <p:txBody>
          <a:bodyPr wrap="square" lIns="0" tIns="0" rIns="0" bIns="0" rtlCol="0" anchor="t"/>
          <a:lstStyle/>
          <a:p>
            <a:pPr algn="ctr" indent="0" marL="0">
              <a:lnSpc>
                <a:spcPct val="113000"/>
              </a:lnSpc>
              <a:buNone/>
            </a:pPr>
            <a:r>
              <a:rPr lang="en-US" sz="950" dirty="0">
                <a:solidFill>
                  <a:srgbClr val="5C6180"/>
                </a:solidFill>
                <a:latin typeface="Calibri" pitchFamily="34" charset="0"/>
                <a:ea typeface="Calibri" pitchFamily="34" charset="-122"/>
                <a:cs typeface="Calibri" pitchFamily="34" charset="-120"/>
              </a:rPr>
              <a:t>r16–18</a:t>
            </a:r>
            <a:endParaRPr lang="en-US" sz="950" dirty="0"/>
          </a:p>
        </p:txBody>
      </p:sp>
      <p:sp>
        <p:nvSpPr>
          <p:cNvPr id="26" name="Shape 23"/>
          <p:cNvSpPr/>
          <p:nvPr/>
        </p:nvSpPr>
        <p:spPr>
          <a:xfrm>
            <a:off x="10561320" y="3840480"/>
            <a:ext cx="182880" cy="182880"/>
          </a:xfrm>
          <a:prstGeom prst="ellipse">
            <a:avLst/>
          </a:prstGeom>
          <a:solidFill>
            <a:srgbClr val="C0692B"/>
          </a:solidFill>
          <a:ln/>
        </p:spPr>
      </p:sp>
      <p:sp>
        <p:nvSpPr>
          <p:cNvPr id="27" name="Text 24"/>
          <p:cNvSpPr txBox="1"/>
          <p:nvPr/>
        </p:nvSpPr>
        <p:spPr>
          <a:xfrm>
            <a:off x="10241280" y="3456432"/>
            <a:ext cx="822960" cy="0"/>
          </a:xfrm>
          <a:prstGeom prst="rect">
            <a:avLst/>
          </a:prstGeom>
          <a:noFill/>
          <a:ln/>
        </p:spPr>
        <p:txBody>
          <a:bodyPr wrap="square" lIns="0" tIns="0" rIns="0" bIns="0" rtlCol="0" anchor="t"/>
          <a:lstStyle/>
          <a:p>
            <a:pPr algn="ctr" indent="0" marL="0">
              <a:lnSpc>
                <a:spcPct val="113000"/>
              </a:lnSpc>
              <a:buNone/>
            </a:pPr>
            <a:r>
              <a:rPr lang="en-US" sz="1000" b="1" dirty="0">
                <a:solidFill>
                  <a:srgbClr val="C0692B"/>
                </a:solidFill>
                <a:latin typeface="Calibri" pitchFamily="34" charset="0"/>
                <a:ea typeface="Calibri" pitchFamily="34" charset="-122"/>
                <a:cs typeface="Calibri" pitchFamily="34" charset="-120"/>
              </a:rPr>
              <a:t>[15,3,15]</a:t>
            </a:r>
            <a:endParaRPr lang="en-US" sz="1000" dirty="0"/>
          </a:p>
        </p:txBody>
      </p:sp>
      <p:sp>
        <p:nvSpPr>
          <p:cNvPr id="28" name="Text 25"/>
          <p:cNvSpPr txBox="1"/>
          <p:nvPr/>
        </p:nvSpPr>
        <p:spPr>
          <a:xfrm>
            <a:off x="10241280" y="4078224"/>
            <a:ext cx="822960" cy="0"/>
          </a:xfrm>
          <a:prstGeom prst="rect">
            <a:avLst/>
          </a:prstGeom>
          <a:noFill/>
          <a:ln/>
        </p:spPr>
        <p:txBody>
          <a:bodyPr wrap="square" lIns="0" tIns="0" rIns="0" bIns="0" rtlCol="0" anchor="t"/>
          <a:lstStyle/>
          <a:p>
            <a:pPr algn="ctr" indent="0" marL="0">
              <a:lnSpc>
                <a:spcPct val="113000"/>
              </a:lnSpc>
              <a:buNone/>
            </a:pPr>
            <a:r>
              <a:rPr lang="en-US" sz="950" dirty="0">
                <a:solidFill>
                  <a:srgbClr val="5C6180"/>
                </a:solidFill>
                <a:latin typeface="Calibri" pitchFamily="34" charset="0"/>
                <a:ea typeface="Calibri" pitchFamily="34" charset="-122"/>
                <a:cs typeface="Calibri" pitchFamily="34" charset="-120"/>
              </a:rPr>
              <a:t>r20–22</a:t>
            </a:r>
            <a:endParaRPr lang="en-US" sz="950" dirty="0"/>
          </a:p>
        </p:txBody>
      </p:sp>
      <p:sp>
        <p:nvSpPr>
          <p:cNvPr id="29" name="Text 26"/>
          <p:cNvSpPr txBox="1"/>
          <p:nvPr/>
        </p:nvSpPr>
        <p:spPr>
          <a:xfrm>
            <a:off x="6995160" y="5102352"/>
            <a:ext cx="4297680" cy="0"/>
          </a:xfrm>
          <a:prstGeom prst="rect">
            <a:avLst/>
          </a:prstGeom>
          <a:noFill/>
          <a:ln/>
        </p:spPr>
        <p:txBody>
          <a:bodyPr wrap="square" lIns="0" tIns="0" rIns="0" bIns="0" rtlCol="0" anchor="t"/>
          <a:lstStyle/>
          <a:p>
            <a:pPr algn="l" indent="0" marL="0">
              <a:lnSpc>
                <a:spcPct val="118000"/>
              </a:lnSpc>
              <a:buNone/>
            </a:pPr>
            <a:r>
              <a:rPr lang="en-US" sz="1150" b="1" dirty="0">
                <a:solidFill>
                  <a:srgbClr val="1C1E33"/>
                </a:solidFill>
                <a:latin typeface="Calibri" pitchFamily="34" charset="0"/>
                <a:ea typeface="Calibri" pitchFamily="34" charset="-122"/>
                <a:cs typeface="Calibri" pitchFamily="34" charset="-120"/>
              </a:rPr>
              <a:t>Once the ligand slips past the mutated residues and into the groove, the score is measuring something other than what we intend.</a:t>
            </a:r>
            <a:endParaRPr lang="en-US" sz="1150" dirty="0"/>
          </a:p>
        </p:txBody>
      </p:sp>
      <p:sp>
        <p:nvSpPr>
          <p:cNvPr id="31" name="Text 27"/>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③  DATASET</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The evaluation set was frozen before any label existed — four principles</a:t>
            </a:r>
            <a:endParaRPr lang="en-US" sz="2600" dirty="0"/>
          </a:p>
        </p:txBody>
      </p:sp>
      <p:sp>
        <p:nvSpPr>
          <p:cNvPr id="4" name="Shape 2"/>
          <p:cNvSpPr/>
          <p:nvPr/>
        </p:nvSpPr>
        <p:spPr>
          <a:xfrm>
            <a:off x="640080" y="1810512"/>
            <a:ext cx="420624" cy="420624"/>
          </a:xfrm>
          <a:prstGeom prst="ellipse">
            <a:avLst/>
          </a:prstGeom>
          <a:solidFill>
            <a:srgbClr val="2F3596"/>
          </a:solidFill>
          <a:ln/>
        </p:spPr>
      </p:sp>
      <p:sp>
        <p:nvSpPr>
          <p:cNvPr id="5" name="Text 3"/>
          <p:cNvSpPr txBox="1"/>
          <p:nvPr/>
        </p:nvSpPr>
        <p:spPr>
          <a:xfrm>
            <a:off x="640080" y="1810512"/>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34440" y="1719072"/>
            <a:ext cx="10241280" cy="0"/>
          </a:xfrm>
          <a:prstGeom prst="rect">
            <a:avLst/>
          </a:prstGeom>
          <a:noFill/>
          <a:ln/>
        </p:spPr>
        <p:txBody>
          <a:bodyPr wrap="square" lIns="0" tIns="0" rIns="0" bIns="0" rtlCol="0" anchor="t"/>
          <a:lstStyle/>
          <a:p>
            <a:pPr algn="l" indent="0" marL="0">
              <a:lnSpc>
                <a:spcPct val="113000"/>
              </a:lnSpc>
              <a:buNone/>
            </a:pPr>
            <a:r>
              <a:rPr lang="en-US" sz="1400" b="1" dirty="0">
                <a:solidFill>
                  <a:srgbClr val="1C1E33"/>
                </a:solidFill>
                <a:latin typeface="Calibri" pitchFamily="34" charset="0"/>
                <a:ea typeface="Calibri" pitchFamily="34" charset="-122"/>
                <a:cs typeface="Calibri" pitchFamily="34" charset="-120"/>
              </a:rPr>
              <a:t>Cluster before gating</a:t>
            </a:r>
            <a:endParaRPr lang="en-US" sz="1400" dirty="0"/>
          </a:p>
        </p:txBody>
      </p:sp>
      <p:sp>
        <p:nvSpPr>
          <p:cNvPr id="7" name="Text 5"/>
          <p:cNvSpPr txBox="1"/>
          <p:nvPr/>
        </p:nvSpPr>
        <p:spPr>
          <a:xfrm>
            <a:off x="1234440" y="2048256"/>
            <a:ext cx="10241280" cy="0"/>
          </a:xfrm>
          <a:prstGeom prst="rect">
            <a:avLst/>
          </a:prstGeom>
          <a:noFill/>
          <a:ln/>
        </p:spPr>
        <p:txBody>
          <a:bodyPr wrap="square" lIns="0" tIns="0" rIns="0" bIns="0" rtlCol="0" anchor="t"/>
          <a:lstStyle/>
          <a:p>
            <a:pPr algn="l" indent="0" marL="0">
              <a:lnSpc>
                <a:spcPct val="116000"/>
              </a:lnSpc>
              <a:buNone/>
            </a:pPr>
            <a:r>
              <a:rPr lang="en-US" sz="1150" dirty="0">
                <a:solidFill>
                  <a:srgbClr val="5C6180"/>
                </a:solidFill>
                <a:latin typeface="Calibri" pitchFamily="34" charset="0"/>
                <a:ea typeface="Calibri" pitchFamily="34" charset="-122"/>
                <a:cs typeface="Calibri" pitchFamily="34" charset="-120"/>
              </a:rPr>
              <a:t>Sequence partitioning is a property of the protein family, not of our pipeline. Applying technical constraints first would make cluster boundaries depend on those constraints and stop being reproducible.</a:t>
            </a:r>
            <a:endParaRPr lang="en-US" sz="1150" dirty="0"/>
          </a:p>
        </p:txBody>
      </p:sp>
      <p:sp>
        <p:nvSpPr>
          <p:cNvPr id="8" name="Shape 6"/>
          <p:cNvSpPr/>
          <p:nvPr/>
        </p:nvSpPr>
        <p:spPr>
          <a:xfrm>
            <a:off x="640080" y="2843784"/>
            <a:ext cx="420624" cy="420624"/>
          </a:xfrm>
          <a:prstGeom prst="ellipse">
            <a:avLst/>
          </a:prstGeom>
          <a:solidFill>
            <a:srgbClr val="2F3596"/>
          </a:solidFill>
          <a:ln/>
        </p:spPr>
      </p:sp>
      <p:sp>
        <p:nvSpPr>
          <p:cNvPr id="9" name="Text 7"/>
          <p:cNvSpPr txBox="1"/>
          <p:nvPr/>
        </p:nvSpPr>
        <p:spPr>
          <a:xfrm>
            <a:off x="640080" y="2843784"/>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1234440" y="2752344"/>
            <a:ext cx="10241280" cy="0"/>
          </a:xfrm>
          <a:prstGeom prst="rect">
            <a:avLst/>
          </a:prstGeom>
          <a:noFill/>
          <a:ln/>
        </p:spPr>
        <p:txBody>
          <a:bodyPr wrap="square" lIns="0" tIns="0" rIns="0" bIns="0" rtlCol="0" anchor="t"/>
          <a:lstStyle/>
          <a:p>
            <a:pPr algn="l" indent="0" marL="0">
              <a:lnSpc>
                <a:spcPct val="113000"/>
              </a:lnSpc>
              <a:buNone/>
            </a:pPr>
            <a:r>
              <a:rPr lang="en-US" sz="1400" b="1" dirty="0">
                <a:solidFill>
                  <a:srgbClr val="1C1E33"/>
                </a:solidFill>
                <a:latin typeface="Calibri" pitchFamily="34" charset="0"/>
                <a:ea typeface="Calibri" pitchFamily="34" charset="-122"/>
                <a:cs typeface="Calibri" pitchFamily="34" charset="-120"/>
              </a:rPr>
              <a:t>One representative per cluster (CAP = 1)</a:t>
            </a:r>
            <a:endParaRPr lang="en-US" sz="1400" dirty="0"/>
          </a:p>
        </p:txBody>
      </p:sp>
      <p:sp>
        <p:nvSpPr>
          <p:cNvPr id="11" name="Text 9"/>
          <p:cNvSpPr txBox="1"/>
          <p:nvPr/>
        </p:nvSpPr>
        <p:spPr>
          <a:xfrm>
            <a:off x="1234440" y="3081528"/>
            <a:ext cx="10241280" cy="0"/>
          </a:xfrm>
          <a:prstGeom prst="rect">
            <a:avLst/>
          </a:prstGeom>
          <a:noFill/>
          <a:ln/>
        </p:spPr>
        <p:txBody>
          <a:bodyPr wrap="square" lIns="0" tIns="0" rIns="0" bIns="0" rtlCol="0" anchor="t"/>
          <a:lstStyle/>
          <a:p>
            <a:pPr algn="l" indent="0" marL="0">
              <a:lnSpc>
                <a:spcPct val="116000"/>
              </a:lnSpc>
              <a:buNone/>
            </a:pPr>
            <a:r>
              <a:rPr lang="en-US" sz="1150" dirty="0">
                <a:solidFill>
                  <a:srgbClr val="5C6180"/>
                </a:solidFill>
                <a:latin typeface="Calibri" pitchFamily="34" charset="0"/>
                <a:ea typeface="Calibri" pitchFamily="34" charset="-122"/>
                <a:cs typeface="Calibri" pitchFamily="34" charset="-120"/>
              </a:rPr>
              <a:t>Sequences in a cluster are at least 70% identical, so their labels are nearly the same. Adding more only lets that lineage cast extra votes in the loss without contributing new information.</a:t>
            </a:r>
            <a:endParaRPr lang="en-US" sz="1150" dirty="0"/>
          </a:p>
        </p:txBody>
      </p:sp>
      <p:sp>
        <p:nvSpPr>
          <p:cNvPr id="12" name="Shape 10"/>
          <p:cNvSpPr/>
          <p:nvPr/>
        </p:nvSpPr>
        <p:spPr>
          <a:xfrm>
            <a:off x="640080" y="3877056"/>
            <a:ext cx="420624" cy="420624"/>
          </a:xfrm>
          <a:prstGeom prst="ellipse">
            <a:avLst/>
          </a:prstGeom>
          <a:solidFill>
            <a:srgbClr val="6A72CE"/>
          </a:solidFill>
          <a:ln/>
        </p:spPr>
      </p:sp>
      <p:sp>
        <p:nvSpPr>
          <p:cNvPr id="13" name="Text 11"/>
          <p:cNvSpPr txBox="1"/>
          <p:nvPr/>
        </p:nvSpPr>
        <p:spPr>
          <a:xfrm>
            <a:off x="640080" y="387705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234440" y="3785616"/>
            <a:ext cx="10241280" cy="0"/>
          </a:xfrm>
          <a:prstGeom prst="rect">
            <a:avLst/>
          </a:prstGeom>
          <a:noFill/>
          <a:ln/>
        </p:spPr>
        <p:txBody>
          <a:bodyPr wrap="square" lIns="0" tIns="0" rIns="0" bIns="0" rtlCol="0" anchor="t"/>
          <a:lstStyle/>
          <a:p>
            <a:pPr algn="l" indent="0" marL="0">
              <a:lnSpc>
                <a:spcPct val="113000"/>
              </a:lnSpc>
              <a:buNone/>
            </a:pPr>
            <a:r>
              <a:rPr lang="en-US" sz="1400" b="1" dirty="0">
                <a:solidFill>
                  <a:srgbClr val="1C1E33"/>
                </a:solidFill>
                <a:latin typeface="Calibri" pitchFamily="34" charset="0"/>
                <a:ea typeface="Calibri" pitchFamily="34" charset="-122"/>
                <a:cs typeface="Calibri" pitchFamily="34" charset="-120"/>
              </a:rPr>
              <a:t>Split by cluster, not by sequence</a:t>
            </a:r>
            <a:endParaRPr lang="en-US" sz="1400" dirty="0"/>
          </a:p>
        </p:txBody>
      </p:sp>
      <p:sp>
        <p:nvSpPr>
          <p:cNvPr id="15" name="Text 13"/>
          <p:cNvSpPr txBox="1"/>
          <p:nvPr/>
        </p:nvSpPr>
        <p:spPr>
          <a:xfrm>
            <a:off x="1234440" y="4114800"/>
            <a:ext cx="10241280" cy="0"/>
          </a:xfrm>
          <a:prstGeom prst="rect">
            <a:avLst/>
          </a:prstGeom>
          <a:noFill/>
          <a:ln/>
        </p:spPr>
        <p:txBody>
          <a:bodyPr wrap="square" lIns="0" tIns="0" rIns="0" bIns="0" rtlCol="0" anchor="t"/>
          <a:lstStyle/>
          <a:p>
            <a:pPr algn="l" indent="0" marL="0">
              <a:lnSpc>
                <a:spcPct val="116000"/>
              </a:lnSpc>
              <a:buNone/>
            </a:pPr>
            <a:r>
              <a:rPr lang="en-US" sz="1150" dirty="0">
                <a:solidFill>
                  <a:srgbClr val="5C6180"/>
                </a:solidFill>
                <a:latin typeface="Calibri" pitchFamily="34" charset="0"/>
                <a:ea typeface="Calibri" pitchFamily="34" charset="-122"/>
                <a:cs typeface="Calibri" pitchFamily="34" charset="-120"/>
              </a:rPr>
              <a:t>If members of one cluster land in both train and evaluation, the evaluation measures recall rather than generalization. With one representative per cluster, this leak is structurally impossible.</a:t>
            </a:r>
            <a:endParaRPr lang="en-US" sz="1150" dirty="0"/>
          </a:p>
        </p:txBody>
      </p:sp>
      <p:sp>
        <p:nvSpPr>
          <p:cNvPr id="16" name="Shape 14"/>
          <p:cNvSpPr/>
          <p:nvPr/>
        </p:nvSpPr>
        <p:spPr>
          <a:xfrm>
            <a:off x="640080" y="4910328"/>
            <a:ext cx="420624" cy="420624"/>
          </a:xfrm>
          <a:prstGeom prst="ellipse">
            <a:avLst/>
          </a:prstGeom>
          <a:solidFill>
            <a:srgbClr val="6A72CE"/>
          </a:solidFill>
          <a:ln/>
        </p:spPr>
      </p:sp>
      <p:sp>
        <p:nvSpPr>
          <p:cNvPr id="17" name="Text 15"/>
          <p:cNvSpPr txBox="1"/>
          <p:nvPr/>
        </p:nvSpPr>
        <p:spPr>
          <a:xfrm>
            <a:off x="640080" y="491032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1234440" y="4818888"/>
            <a:ext cx="10241280" cy="0"/>
          </a:xfrm>
          <a:prstGeom prst="rect">
            <a:avLst/>
          </a:prstGeom>
          <a:noFill/>
          <a:ln/>
        </p:spPr>
        <p:txBody>
          <a:bodyPr wrap="square" lIns="0" tIns="0" rIns="0" bIns="0" rtlCol="0" anchor="t"/>
          <a:lstStyle/>
          <a:p>
            <a:pPr algn="l" indent="0" marL="0">
              <a:lnSpc>
                <a:spcPct val="113000"/>
              </a:lnSpc>
              <a:buNone/>
            </a:pPr>
            <a:r>
              <a:rPr lang="en-US" sz="1400" b="1" dirty="0">
                <a:solidFill>
                  <a:srgbClr val="1C1E33"/>
                </a:solidFill>
                <a:latin typeface="Calibri" pitchFamily="34" charset="0"/>
                <a:ea typeface="Calibri" pitchFamily="34" charset="-122"/>
                <a:cs typeface="Calibri" pitchFamily="34" charset="-120"/>
              </a:rPr>
              <a:t>Fix the split before seeing labels</a:t>
            </a:r>
            <a:endParaRPr lang="en-US" sz="1400" dirty="0"/>
          </a:p>
        </p:txBody>
      </p:sp>
      <p:sp>
        <p:nvSpPr>
          <p:cNvPr id="19" name="Text 17"/>
          <p:cNvSpPr txBox="1"/>
          <p:nvPr/>
        </p:nvSpPr>
        <p:spPr>
          <a:xfrm>
            <a:off x="1234440" y="5148072"/>
            <a:ext cx="10241280" cy="0"/>
          </a:xfrm>
          <a:prstGeom prst="rect">
            <a:avLst/>
          </a:prstGeom>
          <a:noFill/>
          <a:ln/>
        </p:spPr>
        <p:txBody>
          <a:bodyPr wrap="square" lIns="0" tIns="0" rIns="0" bIns="0" rtlCol="0" anchor="t"/>
          <a:lstStyle/>
          <a:p>
            <a:pPr algn="l" indent="0" marL="0">
              <a:lnSpc>
                <a:spcPct val="116000"/>
              </a:lnSpc>
              <a:buNone/>
            </a:pPr>
            <a:r>
              <a:rPr lang="en-US" sz="1150" dirty="0">
                <a:solidFill>
                  <a:srgbClr val="5C6180"/>
                </a:solidFill>
                <a:latin typeface="Calibri" pitchFamily="34" charset="0"/>
                <a:ea typeface="Calibri" pitchFamily="34" charset="-122"/>
                <a:cs typeface="Calibri" pitchFamily="34" charset="-120"/>
              </a:rPr>
              <a:t>Partitioning after inspecting docking scores would justify any outcome. The 212 representatives and their train/eval assignment were fixed before docking began.</a:t>
            </a:r>
            <a:endParaRPr lang="en-US" sz="1150" dirty="0"/>
          </a:p>
        </p:txBody>
      </p:sp>
      <p:sp>
        <p:nvSpPr>
          <p:cNvPr id="20" name="Shape 18"/>
          <p:cNvSpPr/>
          <p:nvPr/>
        </p:nvSpPr>
        <p:spPr>
          <a:xfrm>
            <a:off x="594360" y="5715000"/>
            <a:ext cx="10972800" cy="566928"/>
          </a:xfrm>
          <a:prstGeom prst="roundRect">
            <a:avLst>
              <a:gd name="adj" fmla="val 9677"/>
            </a:avLst>
          </a:prstGeom>
          <a:solidFill>
            <a:srgbClr val="FBEEE2"/>
          </a:solidFill>
          <a:ln w="12700">
            <a:solidFill>
              <a:srgbClr val="E8C9A8"/>
            </a:solidFill>
            <a:prstDash val="solid"/>
          </a:ln>
        </p:spPr>
      </p:sp>
      <p:sp>
        <p:nvSpPr>
          <p:cNvPr id="21" name="Text 19"/>
          <p:cNvSpPr txBox="1"/>
          <p:nvPr/>
        </p:nvSpPr>
        <p:spPr>
          <a:xfrm>
            <a:off x="868680" y="5861304"/>
            <a:ext cx="10424160" cy="0"/>
          </a:xfrm>
          <a:prstGeom prst="rect">
            <a:avLst/>
          </a:prstGeom>
          <a:noFill/>
          <a:ln/>
        </p:spPr>
        <p:txBody>
          <a:bodyPr wrap="square" lIns="0" tIns="0" rIns="0" bIns="0" rtlCol="0" anchor="t"/>
          <a:lstStyle/>
          <a:p>
            <a:pPr algn="l" indent="0" marL="0">
              <a:lnSpc>
                <a:spcPct val="113000"/>
              </a:lnSpc>
              <a:buNone/>
            </a:pPr>
            <a:r>
              <a:rPr lang="en-US" sz="1250" b="1" dirty="0">
                <a:solidFill>
                  <a:srgbClr val="C0692B"/>
                </a:solidFill>
                <a:latin typeface="Calibri" pitchFamily="34" charset="0"/>
                <a:ea typeface="Calibri" pitchFamily="34" charset="-122"/>
                <a:cs typeface="Calibri" pitchFamily="34" charset="-120"/>
              </a:rPr>
              <a:t>Evaluating on the training set would overstate performance — these four principles are the answer to that.</a:t>
            </a:r>
            <a:endParaRPr lang="en-US" sz="1250" dirty="0"/>
          </a:p>
        </p:txBody>
      </p:sp>
      <p:sp>
        <p:nvSpPr>
          <p:cNvPr id="23" name="Text 20"/>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③  SELECTION</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From 1,827 to 212 — gating applies only when picking representatives</a:t>
            </a:r>
            <a:endParaRPr lang="en-US" sz="2600" dirty="0"/>
          </a:p>
        </p:txBody>
      </p:sp>
      <p:sp>
        <p:nvSpPr>
          <p:cNvPr id="4" name="Shape 2"/>
          <p:cNvSpPr/>
          <p:nvPr/>
        </p:nvSpPr>
        <p:spPr>
          <a:xfrm>
            <a:off x="822960" y="1755648"/>
            <a:ext cx="6309360" cy="676656"/>
          </a:xfrm>
          <a:prstGeom prst="roundRect">
            <a:avLst>
              <a:gd name="adj" fmla="val 8108"/>
            </a:avLst>
          </a:prstGeom>
          <a:solidFill>
            <a:srgbClr val="EEF0FA"/>
          </a:solidFill>
          <a:ln w="12700">
            <a:solidFill>
              <a:srgbClr val="D6DAEE"/>
            </a:solidFill>
            <a:prstDash val="solid"/>
          </a:ln>
        </p:spPr>
      </p:sp>
      <p:sp>
        <p:nvSpPr>
          <p:cNvPr id="5" name="Text 3"/>
          <p:cNvSpPr txBox="1"/>
          <p:nvPr/>
        </p:nvSpPr>
        <p:spPr>
          <a:xfrm>
            <a:off x="1005840" y="1828800"/>
            <a:ext cx="5943600" cy="0"/>
          </a:xfrm>
          <a:prstGeom prst="rect">
            <a:avLst/>
          </a:prstGeom>
          <a:noFill/>
          <a:ln/>
        </p:spPr>
        <p:txBody>
          <a:bodyPr wrap="square" lIns="0" tIns="0" rIns="0" bIns="0" rtlCol="0" anchor="t"/>
          <a:lstStyle/>
          <a:p>
            <a:pPr algn="ctr" indent="0" marL="0">
              <a:lnSpc>
                <a:spcPct val="113000"/>
              </a:lnSpc>
              <a:buNone/>
            </a:pPr>
            <a:r>
              <a:rPr lang="en-US" sz="1100" dirty="0">
                <a:solidFill>
                  <a:srgbClr val="5C6180"/>
                </a:solidFill>
                <a:latin typeface="Calibri" pitchFamily="34" charset="0"/>
                <a:ea typeface="Calibri" pitchFamily="34" charset="-122"/>
                <a:cs typeface="Calibri" pitchFamily="34" charset="-120"/>
              </a:rPr>
              <a:t>IPR010047, all sequences</a:t>
            </a:r>
            <a:endParaRPr lang="en-US" sz="1100" dirty="0"/>
          </a:p>
        </p:txBody>
      </p:sp>
      <p:sp>
        <p:nvSpPr>
          <p:cNvPr id="6" name="Text 4"/>
          <p:cNvSpPr txBox="1"/>
          <p:nvPr/>
        </p:nvSpPr>
        <p:spPr>
          <a:xfrm>
            <a:off x="1005840" y="2084832"/>
            <a:ext cx="5943600" cy="0"/>
          </a:xfrm>
          <a:prstGeom prst="rect">
            <a:avLst/>
          </a:prstGeom>
          <a:noFill/>
          <a:ln/>
        </p:spPr>
        <p:txBody>
          <a:bodyPr wrap="square" lIns="0" tIns="0" rIns="0" bIns="0" rtlCol="0" anchor="t"/>
          <a:lstStyle/>
          <a:p>
            <a:pPr algn="ctr" indent="0" marL="0">
              <a:lnSpc>
                <a:spcPct val="113000"/>
              </a:lnSpc>
              <a:buNone/>
            </a:pPr>
            <a:r>
              <a:rPr lang="en-US" sz="1300" b="1" dirty="0">
                <a:solidFill>
                  <a:srgbClr val="2F3596"/>
                </a:solidFill>
                <a:latin typeface="Calibri" pitchFamily="34" charset="0"/>
                <a:ea typeface="Calibri" pitchFamily="34" charset="-122"/>
                <a:cs typeface="Calibri" pitchFamily="34" charset="-120"/>
              </a:rPr>
              <a:t>1,827 sequences</a:t>
            </a:r>
            <a:endParaRPr lang="en-US" sz="1300" dirty="0"/>
          </a:p>
        </p:txBody>
      </p:sp>
      <p:sp>
        <p:nvSpPr>
          <p:cNvPr id="7" name="Shape 5"/>
          <p:cNvSpPr/>
          <p:nvPr/>
        </p:nvSpPr>
        <p:spPr>
          <a:xfrm>
            <a:off x="3886200" y="2450592"/>
            <a:ext cx="182880" cy="137160"/>
          </a:xfrm>
          <a:prstGeom prst="downArrow">
            <a:avLst/>
          </a:prstGeom>
          <a:solidFill>
            <a:srgbClr val="6A72CE"/>
          </a:solidFill>
          <a:ln/>
        </p:spPr>
      </p:sp>
      <p:sp>
        <p:nvSpPr>
          <p:cNvPr id="8" name="Shape 6"/>
          <p:cNvSpPr/>
          <p:nvPr/>
        </p:nvSpPr>
        <p:spPr>
          <a:xfrm>
            <a:off x="1280160" y="2596896"/>
            <a:ext cx="5394960" cy="676656"/>
          </a:xfrm>
          <a:prstGeom prst="roundRect">
            <a:avLst>
              <a:gd name="adj" fmla="val 8108"/>
            </a:avLst>
          </a:prstGeom>
          <a:solidFill>
            <a:srgbClr val="EEF0FA"/>
          </a:solidFill>
          <a:ln w="12700">
            <a:solidFill>
              <a:srgbClr val="D6DAEE"/>
            </a:solidFill>
            <a:prstDash val="solid"/>
          </a:ln>
        </p:spPr>
      </p:sp>
      <p:sp>
        <p:nvSpPr>
          <p:cNvPr id="9" name="Text 7"/>
          <p:cNvSpPr txBox="1"/>
          <p:nvPr/>
        </p:nvSpPr>
        <p:spPr>
          <a:xfrm>
            <a:off x="1463040" y="2670048"/>
            <a:ext cx="5029200" cy="0"/>
          </a:xfrm>
          <a:prstGeom prst="rect">
            <a:avLst/>
          </a:prstGeom>
          <a:noFill/>
          <a:ln/>
        </p:spPr>
        <p:txBody>
          <a:bodyPr wrap="square" lIns="0" tIns="0" rIns="0" bIns="0" rtlCol="0" anchor="t"/>
          <a:lstStyle/>
          <a:p>
            <a:pPr algn="ctr" indent="0" marL="0">
              <a:lnSpc>
                <a:spcPct val="113000"/>
              </a:lnSpc>
              <a:buNone/>
            </a:pPr>
            <a:r>
              <a:rPr lang="en-US" sz="1100" dirty="0">
                <a:solidFill>
                  <a:srgbClr val="5C6180"/>
                </a:solidFill>
                <a:latin typeface="Calibri" pitchFamily="34" charset="0"/>
                <a:ea typeface="Calibri" pitchFamily="34" charset="-122"/>
                <a:cs typeface="Calibri" pitchFamily="34" charset="-120"/>
              </a:rPr>
              <a:t>mmseqs clustering  --min-seq-id 0.70</a:t>
            </a:r>
            <a:endParaRPr lang="en-US" sz="1100" dirty="0"/>
          </a:p>
        </p:txBody>
      </p:sp>
      <p:sp>
        <p:nvSpPr>
          <p:cNvPr id="10" name="Text 8"/>
          <p:cNvSpPr txBox="1"/>
          <p:nvPr/>
        </p:nvSpPr>
        <p:spPr>
          <a:xfrm>
            <a:off x="1463040" y="2926080"/>
            <a:ext cx="5029200" cy="0"/>
          </a:xfrm>
          <a:prstGeom prst="rect">
            <a:avLst/>
          </a:prstGeom>
          <a:noFill/>
          <a:ln/>
        </p:spPr>
        <p:txBody>
          <a:bodyPr wrap="square" lIns="0" tIns="0" rIns="0" bIns="0" rtlCol="0" anchor="t"/>
          <a:lstStyle/>
          <a:p>
            <a:pPr algn="ctr" indent="0" marL="0">
              <a:lnSpc>
                <a:spcPct val="113000"/>
              </a:lnSpc>
              <a:buNone/>
            </a:pPr>
            <a:r>
              <a:rPr lang="en-US" sz="1300" b="1" dirty="0">
                <a:solidFill>
                  <a:srgbClr val="2F3596"/>
                </a:solidFill>
                <a:latin typeface="Calibri" pitchFamily="34" charset="0"/>
                <a:ea typeface="Calibri" pitchFamily="34" charset="-122"/>
                <a:cs typeface="Calibri" pitchFamily="34" charset="-120"/>
              </a:rPr>
              <a:t>219 clusters</a:t>
            </a:r>
            <a:endParaRPr lang="en-US" sz="1300" dirty="0"/>
          </a:p>
        </p:txBody>
      </p:sp>
      <p:sp>
        <p:nvSpPr>
          <p:cNvPr id="11" name="Shape 9"/>
          <p:cNvSpPr/>
          <p:nvPr/>
        </p:nvSpPr>
        <p:spPr>
          <a:xfrm>
            <a:off x="3886200" y="3291840"/>
            <a:ext cx="182880" cy="137160"/>
          </a:xfrm>
          <a:prstGeom prst="downArrow">
            <a:avLst/>
          </a:prstGeom>
          <a:solidFill>
            <a:srgbClr val="6A72CE"/>
          </a:solidFill>
          <a:ln/>
        </p:spPr>
      </p:sp>
      <p:sp>
        <p:nvSpPr>
          <p:cNvPr id="12" name="Shape 10"/>
          <p:cNvSpPr/>
          <p:nvPr/>
        </p:nvSpPr>
        <p:spPr>
          <a:xfrm>
            <a:off x="1737360" y="3438144"/>
            <a:ext cx="4480560" cy="676656"/>
          </a:xfrm>
          <a:prstGeom prst="roundRect">
            <a:avLst>
              <a:gd name="adj" fmla="val 8108"/>
            </a:avLst>
          </a:prstGeom>
          <a:solidFill>
            <a:srgbClr val="EEF0FA"/>
          </a:solidFill>
          <a:ln w="12700">
            <a:solidFill>
              <a:srgbClr val="D6DAEE"/>
            </a:solidFill>
            <a:prstDash val="solid"/>
          </a:ln>
        </p:spPr>
      </p:sp>
      <p:sp>
        <p:nvSpPr>
          <p:cNvPr id="13" name="Text 11"/>
          <p:cNvSpPr txBox="1"/>
          <p:nvPr/>
        </p:nvSpPr>
        <p:spPr>
          <a:xfrm>
            <a:off x="1920240" y="3511296"/>
            <a:ext cx="4114800" cy="0"/>
          </a:xfrm>
          <a:prstGeom prst="rect">
            <a:avLst/>
          </a:prstGeom>
          <a:noFill/>
          <a:ln/>
        </p:spPr>
        <p:txBody>
          <a:bodyPr wrap="square" lIns="0" tIns="0" rIns="0" bIns="0" rtlCol="0" anchor="t"/>
          <a:lstStyle/>
          <a:p>
            <a:pPr algn="ctr" indent="0" marL="0">
              <a:lnSpc>
                <a:spcPct val="113000"/>
              </a:lnSpc>
              <a:buNone/>
            </a:pPr>
            <a:r>
              <a:rPr lang="en-US" sz="1100" dirty="0">
                <a:solidFill>
                  <a:srgbClr val="5C6180"/>
                </a:solidFill>
                <a:latin typeface="Calibri" pitchFamily="34" charset="0"/>
                <a:ea typeface="Calibri" pitchFamily="34" charset="-122"/>
                <a:cs typeface="Calibri" pitchFamily="34" charset="-120"/>
              </a:rPr>
              <a:t>dockability gate</a:t>
            </a:r>
            <a:endParaRPr lang="en-US" sz="1100" dirty="0"/>
          </a:p>
        </p:txBody>
      </p:sp>
      <p:sp>
        <p:nvSpPr>
          <p:cNvPr id="14" name="Text 12"/>
          <p:cNvSpPr txBox="1"/>
          <p:nvPr/>
        </p:nvSpPr>
        <p:spPr>
          <a:xfrm>
            <a:off x="1920240" y="3767328"/>
            <a:ext cx="4114800" cy="0"/>
          </a:xfrm>
          <a:prstGeom prst="rect">
            <a:avLst/>
          </a:prstGeom>
          <a:noFill/>
          <a:ln/>
        </p:spPr>
        <p:txBody>
          <a:bodyPr wrap="square" lIns="0" tIns="0" rIns="0" bIns="0" rtlCol="0" anchor="t"/>
          <a:lstStyle/>
          <a:p>
            <a:pPr algn="ctr" indent="0" marL="0">
              <a:lnSpc>
                <a:spcPct val="113000"/>
              </a:lnSpc>
              <a:buNone/>
            </a:pPr>
            <a:r>
              <a:rPr lang="en-US" sz="1300" b="1" dirty="0">
                <a:solidFill>
                  <a:srgbClr val="6A72CE"/>
                </a:solidFill>
                <a:latin typeface="Calibri" pitchFamily="34" charset="0"/>
                <a:ea typeface="Calibri" pitchFamily="34" charset="-122"/>
                <a:cs typeface="Calibri" pitchFamily="34" charset="-120"/>
              </a:rPr>
              <a:t>1,722 sequences</a:t>
            </a:r>
            <a:endParaRPr lang="en-US" sz="1300" dirty="0"/>
          </a:p>
        </p:txBody>
      </p:sp>
      <p:sp>
        <p:nvSpPr>
          <p:cNvPr id="15" name="Shape 13"/>
          <p:cNvSpPr/>
          <p:nvPr/>
        </p:nvSpPr>
        <p:spPr>
          <a:xfrm>
            <a:off x="3886200" y="4133088"/>
            <a:ext cx="182880" cy="137160"/>
          </a:xfrm>
          <a:prstGeom prst="downArrow">
            <a:avLst/>
          </a:prstGeom>
          <a:solidFill>
            <a:srgbClr val="6A72CE"/>
          </a:solidFill>
          <a:ln/>
        </p:spPr>
      </p:sp>
      <p:sp>
        <p:nvSpPr>
          <p:cNvPr id="16" name="Shape 14"/>
          <p:cNvSpPr/>
          <p:nvPr/>
        </p:nvSpPr>
        <p:spPr>
          <a:xfrm>
            <a:off x="2194560" y="4279392"/>
            <a:ext cx="3566160" cy="676656"/>
          </a:xfrm>
          <a:prstGeom prst="roundRect">
            <a:avLst>
              <a:gd name="adj" fmla="val 8108"/>
            </a:avLst>
          </a:prstGeom>
          <a:solidFill>
            <a:srgbClr val="EEF0FA"/>
          </a:solidFill>
          <a:ln w="12700">
            <a:solidFill>
              <a:srgbClr val="D6DAEE"/>
            </a:solidFill>
            <a:prstDash val="solid"/>
          </a:ln>
        </p:spPr>
      </p:sp>
      <p:sp>
        <p:nvSpPr>
          <p:cNvPr id="17" name="Text 15"/>
          <p:cNvSpPr txBox="1"/>
          <p:nvPr/>
        </p:nvSpPr>
        <p:spPr>
          <a:xfrm>
            <a:off x="2377440" y="4352544"/>
            <a:ext cx="3200400" cy="0"/>
          </a:xfrm>
          <a:prstGeom prst="rect">
            <a:avLst/>
          </a:prstGeom>
          <a:noFill/>
          <a:ln/>
        </p:spPr>
        <p:txBody>
          <a:bodyPr wrap="square" lIns="0" tIns="0" rIns="0" bIns="0" rtlCol="0" anchor="t"/>
          <a:lstStyle/>
          <a:p>
            <a:pPr algn="ctr" indent="0" marL="0">
              <a:lnSpc>
                <a:spcPct val="113000"/>
              </a:lnSpc>
              <a:buNone/>
            </a:pPr>
            <a:r>
              <a:rPr lang="en-US" sz="1100" dirty="0">
                <a:solidFill>
                  <a:srgbClr val="5C6180"/>
                </a:solidFill>
                <a:latin typeface="Calibri" pitchFamily="34" charset="0"/>
                <a:ea typeface="Calibri" pitchFamily="34" charset="-122"/>
                <a:cs typeface="Calibri" pitchFamily="34" charset="-120"/>
              </a:rPr>
              <a:t>one medoid per cluster</a:t>
            </a:r>
            <a:endParaRPr lang="en-US" sz="1100" dirty="0"/>
          </a:p>
        </p:txBody>
      </p:sp>
      <p:sp>
        <p:nvSpPr>
          <p:cNvPr id="18" name="Text 16"/>
          <p:cNvSpPr txBox="1"/>
          <p:nvPr/>
        </p:nvSpPr>
        <p:spPr>
          <a:xfrm>
            <a:off x="2377440" y="4608576"/>
            <a:ext cx="3200400" cy="0"/>
          </a:xfrm>
          <a:prstGeom prst="rect">
            <a:avLst/>
          </a:prstGeom>
          <a:noFill/>
          <a:ln/>
        </p:spPr>
        <p:txBody>
          <a:bodyPr wrap="square" lIns="0" tIns="0" rIns="0" bIns="0" rtlCol="0" anchor="t"/>
          <a:lstStyle/>
          <a:p>
            <a:pPr algn="ctr" indent="0" marL="0">
              <a:lnSpc>
                <a:spcPct val="113000"/>
              </a:lnSpc>
              <a:buNone/>
            </a:pPr>
            <a:r>
              <a:rPr lang="en-US" sz="1300" b="1" dirty="0">
                <a:solidFill>
                  <a:srgbClr val="6A72CE"/>
                </a:solidFill>
                <a:latin typeface="Calibri" pitchFamily="34" charset="0"/>
                <a:ea typeface="Calibri" pitchFamily="34" charset="-122"/>
                <a:cs typeface="Calibri" pitchFamily="34" charset="-120"/>
              </a:rPr>
              <a:t>212 representatives</a:t>
            </a:r>
            <a:endParaRPr lang="en-US" sz="1300" dirty="0"/>
          </a:p>
        </p:txBody>
      </p:sp>
      <p:sp>
        <p:nvSpPr>
          <p:cNvPr id="19" name="Shape 17"/>
          <p:cNvSpPr/>
          <p:nvPr/>
        </p:nvSpPr>
        <p:spPr>
          <a:xfrm>
            <a:off x="3886200" y="4974336"/>
            <a:ext cx="182880" cy="137160"/>
          </a:xfrm>
          <a:prstGeom prst="downArrow">
            <a:avLst/>
          </a:prstGeom>
          <a:solidFill>
            <a:srgbClr val="6A72CE"/>
          </a:solidFill>
          <a:ln/>
        </p:spPr>
      </p:sp>
      <p:sp>
        <p:nvSpPr>
          <p:cNvPr id="20" name="Shape 18"/>
          <p:cNvSpPr/>
          <p:nvPr/>
        </p:nvSpPr>
        <p:spPr>
          <a:xfrm>
            <a:off x="2606040" y="5120640"/>
            <a:ext cx="2743200" cy="676656"/>
          </a:xfrm>
          <a:prstGeom prst="roundRect">
            <a:avLst>
              <a:gd name="adj" fmla="val 8108"/>
            </a:avLst>
          </a:prstGeom>
          <a:solidFill>
            <a:srgbClr val="FBEEE2"/>
          </a:solidFill>
          <a:ln w="12700">
            <a:solidFill>
              <a:srgbClr val="E8C9A8"/>
            </a:solidFill>
            <a:prstDash val="solid"/>
          </a:ln>
        </p:spPr>
      </p:sp>
      <p:sp>
        <p:nvSpPr>
          <p:cNvPr id="21" name="Text 19"/>
          <p:cNvSpPr txBox="1"/>
          <p:nvPr/>
        </p:nvSpPr>
        <p:spPr>
          <a:xfrm>
            <a:off x="2788920" y="5193792"/>
            <a:ext cx="2377440" cy="0"/>
          </a:xfrm>
          <a:prstGeom prst="rect">
            <a:avLst/>
          </a:prstGeom>
          <a:noFill/>
          <a:ln/>
        </p:spPr>
        <p:txBody>
          <a:bodyPr wrap="square" lIns="0" tIns="0" rIns="0" bIns="0" rtlCol="0" anchor="t"/>
          <a:lstStyle/>
          <a:p>
            <a:pPr algn="ctr" indent="0" marL="0">
              <a:lnSpc>
                <a:spcPct val="113000"/>
              </a:lnSpc>
              <a:buNone/>
            </a:pPr>
            <a:r>
              <a:rPr lang="en-US" sz="1100" dirty="0">
                <a:solidFill>
                  <a:srgbClr val="5C6180"/>
                </a:solidFill>
                <a:latin typeface="Calibri" pitchFamily="34" charset="0"/>
                <a:ea typeface="Calibri" pitchFamily="34" charset="-122"/>
                <a:cs typeface="Calibri" pitchFamily="34" charset="-120"/>
              </a:rPr>
              <a:t>bin-stratified 25% split</a:t>
            </a:r>
            <a:endParaRPr lang="en-US" sz="1100" dirty="0"/>
          </a:p>
        </p:txBody>
      </p:sp>
      <p:sp>
        <p:nvSpPr>
          <p:cNvPr id="22" name="Text 20"/>
          <p:cNvSpPr txBox="1"/>
          <p:nvPr/>
        </p:nvSpPr>
        <p:spPr>
          <a:xfrm>
            <a:off x="2788920" y="5449824"/>
            <a:ext cx="2377440" cy="0"/>
          </a:xfrm>
          <a:prstGeom prst="rect">
            <a:avLst/>
          </a:prstGeom>
          <a:noFill/>
          <a:ln/>
        </p:spPr>
        <p:txBody>
          <a:bodyPr wrap="square" lIns="0" tIns="0" rIns="0" bIns="0" rtlCol="0" anchor="t"/>
          <a:lstStyle/>
          <a:p>
            <a:pPr algn="ctr" indent="0" marL="0">
              <a:lnSpc>
                <a:spcPct val="113000"/>
              </a:lnSpc>
              <a:buNone/>
            </a:pPr>
            <a:r>
              <a:rPr lang="en-US" sz="1300" b="1" dirty="0">
                <a:solidFill>
                  <a:srgbClr val="C0692B"/>
                </a:solidFill>
                <a:latin typeface="Calibri" pitchFamily="34" charset="0"/>
                <a:ea typeface="Calibri" pitchFamily="34" charset="-122"/>
                <a:cs typeface="Calibri" pitchFamily="34" charset="-120"/>
              </a:rPr>
              <a:t>157 train / 55 eval</a:t>
            </a:r>
            <a:endParaRPr lang="en-US" sz="1300" dirty="0"/>
          </a:p>
        </p:txBody>
      </p:sp>
      <p:sp>
        <p:nvSpPr>
          <p:cNvPr id="23" name="Text 21"/>
          <p:cNvSpPr txBox="1"/>
          <p:nvPr/>
        </p:nvSpPr>
        <p:spPr>
          <a:xfrm>
            <a:off x="7635240" y="1755648"/>
            <a:ext cx="3931920" cy="0"/>
          </a:xfrm>
          <a:prstGeom prst="rect">
            <a:avLst/>
          </a:prstGeom>
          <a:noFill/>
          <a:ln/>
        </p:spPr>
        <p:txBody>
          <a:bodyPr wrap="square" lIns="0" tIns="0" rIns="0" bIns="0" rtlCol="0" anchor="t"/>
          <a:lstStyle/>
          <a:p>
            <a:pPr algn="l" indent="0" marL="0">
              <a:lnSpc>
                <a:spcPct val="113000"/>
              </a:lnSpc>
              <a:buNone/>
            </a:pPr>
            <a:r>
              <a:rPr lang="en-US" sz="1350" b="1" dirty="0">
                <a:solidFill>
                  <a:srgbClr val="1C1E33"/>
                </a:solidFill>
                <a:latin typeface="Calibri" pitchFamily="34" charset="0"/>
                <a:ea typeface="Calibri" pitchFamily="34" charset="-122"/>
                <a:cs typeface="Calibri" pitchFamily="34" charset="-120"/>
              </a:rPr>
              <a:t>Excluded at the gate</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7635240" y="2103120"/>
          <a:ext cx="3931920" cy="914400"/>
        </p:xfrm>
        <a:graphic>
          <a:graphicData uri="http://schemas.openxmlformats.org/drawingml/2006/table">
            <a:tbl>
              <a:tblPr/>
              <a:tblGrid>
                <a:gridCol w="2103120"/>
                <a:gridCol w="914400"/>
                <a:gridCol w="914400"/>
              </a:tblGrid>
              <a:tr h="329184">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Reason</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Seqs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Clusters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29184">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no equivalent of residue 41</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80</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29184">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quality filter</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29184">
                <a:tc>
                  <a:txBody>
                    <a:bodyPr/>
                    <a:lstStyle/>
                    <a:p>
                      <a:pPr algn="l" indent="0" marL="0">
                        <a:buNone/>
                      </a:pPr>
                      <a:r>
                        <a:rPr lang="en-US" sz="1050" b="1" dirty="0">
                          <a:solidFill>
                            <a:srgbClr val="1C1E33"/>
                          </a:solidFill>
                          <a:latin typeface="Calibri" pitchFamily="34" charset="0"/>
                          <a:ea typeface="Calibri" pitchFamily="34" charset="-122"/>
                          <a:cs typeface="Calibri" pitchFamily="34" charset="-120"/>
                        </a:rPr>
                        <a:t>total</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b="1" dirty="0">
                          <a:solidFill>
                            <a:srgbClr val="1C1E33"/>
                          </a:solidFill>
                          <a:latin typeface="Calibri" pitchFamily="34" charset="0"/>
                          <a:ea typeface="Calibri" pitchFamily="34" charset="-122"/>
                          <a:cs typeface="Calibri" pitchFamily="34" charset="-120"/>
                        </a:rPr>
                        <a:t>105</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b="1" dirty="0">
                          <a:solidFill>
                            <a:srgbClr val="1C1E33"/>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25" name="Text 22"/>
          <p:cNvSpPr txBox="1"/>
          <p:nvPr/>
        </p:nvSpPr>
        <p:spPr>
          <a:xfrm>
            <a:off x="7635240" y="3703320"/>
            <a:ext cx="3931920" cy="1554480"/>
          </a:xfrm>
          <a:prstGeom prst="rect">
            <a:avLst/>
          </a:prstGeom>
          <a:noFill/>
          <a:ln/>
        </p:spPr>
        <p:txBody>
          <a:bodyPr wrap="square" lIns="0" tIns="0" rIns="0" bIns="0" rtlCol="0" anchor="t"/>
          <a:lstStyle/>
          <a:p>
            <a:pPr indent="0" marL="0">
              <a:lnSpc>
                <a:spcPct val="116000"/>
              </a:lnSpc>
              <a:buNone/>
            </a:pPr>
            <a:r>
              <a:rPr lang="en-US" sz="1100" b="1" dirty="0">
                <a:solidFill>
                  <a:srgbClr val="1C1E33"/>
                </a:solidFill>
                <a:latin typeface="Calibri" pitchFamily="34" charset="0"/>
                <a:ea typeface="Calibri" pitchFamily="34" charset="-122"/>
                <a:cs typeface="Calibri" pitchFamily="34" charset="-120"/>
              </a:rPr>
              <a:t>A missing residue 41 is biology, not failure. </a:t>
            </a:r>
            <a:pPr indent="0" marL="0">
              <a:lnSpc>
                <a:spcPct val="116000"/>
              </a:lnSpc>
              <a:spcAft>
                <a:spcPts val="1000"/>
              </a:spcAft>
              <a:buNone/>
            </a:pPr>
            <a:r>
              <a:rPr lang="en-US" sz="1100" dirty="0">
                <a:solidFill>
                  <a:srgbClr val="1C1E33"/>
                </a:solidFill>
                <a:latin typeface="Calibri" pitchFamily="34" charset="0"/>
                <a:ea typeface="Calibri" pitchFamily="34" charset="-122"/>
                <a:cs typeface="Calibri" pitchFamily="34" charset="-120"/>
              </a:rPr>
              <a:t>In 4.4% of the family the position does not exist, so no binding site can be defined.</a:t>
            </a:r>
            <a:endParaRPr lang="en-US" sz="1100" dirty="0"/>
          </a:p>
          <a:p>
            <a:pPr indent="0" marL="0">
              <a:lnSpc>
                <a:spcPct val="116000"/>
              </a:lnSpc>
              <a:buNone/>
            </a:pPr>
            <a:r>
              <a:rPr lang="en-US" sz="1100" b="1" dirty="0">
                <a:solidFill>
                  <a:srgbClr val="1C1E33"/>
                </a:solidFill>
                <a:latin typeface="Calibri" pitchFamily="34" charset="0"/>
                <a:ea typeface="Calibri" pitchFamily="34" charset="-122"/>
                <a:cs typeface="Calibri" pitchFamily="34" charset="-120"/>
              </a:rPr>
              <a:t>AFDB membership is not a gate. </a:t>
            </a:r>
            <a:pPr indent="0" marL="0">
              <a:lnSpc>
                <a:spcPct val="116000"/>
              </a:lnSpc>
              <a:spcAft>
                <a:spcPts val="1000"/>
              </a:spcAft>
              <a:buNone/>
            </a:pPr>
            <a:r>
              <a:rPr lang="en-US" sz="1100" dirty="0">
                <a:solidFill>
                  <a:srgbClr val="1C1E33"/>
                </a:solidFill>
                <a:latin typeface="Calibri" pitchFamily="34" charset="0"/>
                <a:ea typeface="Calibri" pitchFamily="34" charset="-122"/>
                <a:cs typeface="Calibri" pitchFamily="34" charset="-120"/>
              </a:rPr>
              <a:t>It is a property of the database, not the protein. The 23 sequences needing prediction were all A0AB* / A0AC* — recent deposits that gating would have discarded.</a:t>
            </a:r>
            <a:endParaRPr lang="en-US" sz="1100" dirty="0"/>
          </a:p>
        </p:txBody>
      </p:sp>
      <p:sp>
        <p:nvSpPr>
          <p:cNvPr id="26" name="Shape 23"/>
          <p:cNvSpPr/>
          <p:nvPr/>
        </p:nvSpPr>
        <p:spPr>
          <a:xfrm>
            <a:off x="7635240" y="5321808"/>
            <a:ext cx="3931920" cy="896112"/>
          </a:xfrm>
          <a:prstGeom prst="roundRect">
            <a:avLst>
              <a:gd name="adj" fmla="val 6122"/>
            </a:avLst>
          </a:prstGeom>
          <a:solidFill>
            <a:srgbClr val="EEF0FA"/>
          </a:solidFill>
          <a:ln w="12700">
            <a:solidFill>
              <a:srgbClr val="D6DAEE"/>
            </a:solidFill>
            <a:prstDash val="solid"/>
          </a:ln>
        </p:spPr>
      </p:sp>
      <p:sp>
        <p:nvSpPr>
          <p:cNvPr id="27" name="Text 24"/>
          <p:cNvSpPr txBox="1"/>
          <p:nvPr/>
        </p:nvSpPr>
        <p:spPr>
          <a:xfrm>
            <a:off x="7872984" y="5458968"/>
            <a:ext cx="3456432" cy="0"/>
          </a:xfrm>
          <a:prstGeom prst="rect">
            <a:avLst/>
          </a:prstGeom>
          <a:noFill/>
          <a:ln/>
        </p:spPr>
        <p:txBody>
          <a:bodyPr wrap="square" lIns="0" tIns="0" rIns="0" bIns="0" rtlCol="0" anchor="t"/>
          <a:lstStyle/>
          <a:p>
            <a:pPr algn="l" indent="0" marL="0">
              <a:lnSpc>
                <a:spcPct val="112000"/>
              </a:lnSpc>
              <a:buNone/>
            </a:pPr>
            <a:r>
              <a:rPr lang="en-US" sz="1050" b="1" dirty="0">
                <a:solidFill>
                  <a:srgbClr val="2F3596"/>
                </a:solidFill>
                <a:latin typeface="Calibri" pitchFamily="34" charset="0"/>
                <a:ea typeface="Calibri" pitchFamily="34" charset="-122"/>
                <a:cs typeface="Calibri" pitchFamily="34" charset="-120"/>
              </a:rPr>
              <a:t>One cluster has all 13 members missing residue 41 — possibly a clade that lost the F41 site, flagged for follow-up.</a:t>
            </a:r>
            <a:endParaRPr lang="en-US" sz="1050" dirty="0"/>
          </a:p>
        </p:txBody>
      </p:sp>
      <p:sp>
        <p:nvSpPr>
          <p:cNvPr id="29" name="Text 25"/>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③  BINS</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Bin boundaries follow the data — the intent is unchanged</a:t>
            </a:r>
            <a:endParaRPr lang="en-US" sz="2600" dirty="0"/>
          </a:p>
        </p:txBody>
      </p:sp>
      <p:sp>
        <p:nvSpPr>
          <p:cNvPr id="4" name="Shape 2"/>
          <p:cNvSpPr/>
          <p:nvPr/>
        </p:nvSpPr>
        <p:spPr>
          <a:xfrm>
            <a:off x="594360" y="1783080"/>
            <a:ext cx="5577840" cy="1691640"/>
          </a:xfrm>
          <a:prstGeom prst="roundRect">
            <a:avLst>
              <a:gd name="adj" fmla="val 3243"/>
            </a:avLst>
          </a:prstGeom>
          <a:solidFill>
            <a:srgbClr val="F7F8FC"/>
          </a:solidFill>
          <a:ln w="12700">
            <a:solidFill>
              <a:srgbClr val="D6DAEE"/>
            </a:solidFill>
            <a:prstDash val="solid"/>
          </a:ln>
        </p:spPr>
      </p:sp>
      <p:sp>
        <p:nvSpPr>
          <p:cNvPr id="5" name="Text 3"/>
          <p:cNvSpPr txBox="1"/>
          <p:nvPr/>
        </p:nvSpPr>
        <p:spPr>
          <a:xfrm>
            <a:off x="868680" y="1947672"/>
            <a:ext cx="5029200" cy="0"/>
          </a:xfrm>
          <a:prstGeom prst="rect">
            <a:avLst/>
          </a:prstGeom>
          <a:noFill/>
          <a:ln/>
        </p:spPr>
        <p:txBody>
          <a:bodyPr wrap="square" lIns="0" tIns="0" rIns="0" bIns="0" rtlCol="0" anchor="t"/>
          <a:lstStyle/>
          <a:p>
            <a:pPr algn="l" indent="0" marL="0">
              <a:lnSpc>
                <a:spcPct val="113000"/>
              </a:lnSpc>
              <a:buNone/>
            </a:pPr>
            <a:r>
              <a:rPr lang="en-US" sz="1200" b="1" dirty="0">
                <a:solidFill>
                  <a:srgbClr val="5C6180"/>
                </a:solidFill>
                <a:latin typeface="Calibri" pitchFamily="34" charset="0"/>
                <a:ea typeface="Calibri" pitchFamily="34" charset="-122"/>
                <a:cs typeface="Calibri" pitchFamily="34" charset="-120"/>
              </a:rPr>
              <a:t>Identity to ChCODH2 across 212 clusters</a:t>
            </a:r>
            <a:endParaRPr lang="en-US" sz="1200" dirty="0"/>
          </a:p>
        </p:txBody>
      </p:sp>
      <p:sp>
        <p:nvSpPr>
          <p:cNvPr id="6" name="Text 4"/>
          <p:cNvSpPr txBox="1"/>
          <p:nvPr/>
        </p:nvSpPr>
        <p:spPr>
          <a:xfrm>
            <a:off x="777240" y="2331720"/>
            <a:ext cx="1261872" cy="429311"/>
          </a:xfrm>
          <a:prstGeom prst="rect">
            <a:avLst/>
          </a:prstGeom>
          <a:noFill/>
          <a:ln/>
        </p:spPr>
        <p:txBody>
          <a:bodyPr wrap="square" lIns="0" tIns="0" rIns="0" bIns="0" rtlCol="0" anchor="ctr"/>
          <a:lstStyle/>
          <a:p>
            <a:pPr algn="ctr" indent="0" marL="0">
              <a:buNone/>
            </a:pPr>
            <a:r>
              <a:rPr lang="en-US" sz="2100" b="1" dirty="0">
                <a:solidFill>
                  <a:srgbClr val="2F3596"/>
                </a:solidFill>
                <a:latin typeface="Calibri" pitchFamily="34" charset="0"/>
                <a:ea typeface="Calibri" pitchFamily="34" charset="-122"/>
                <a:cs typeface="Calibri" pitchFamily="34" charset="-120"/>
              </a:rPr>
              <a:t>0.285</a:t>
            </a:r>
            <a:endParaRPr lang="en-US" sz="2100" dirty="0"/>
          </a:p>
        </p:txBody>
      </p:sp>
      <p:sp>
        <p:nvSpPr>
          <p:cNvPr id="7" name="Text 5"/>
          <p:cNvSpPr txBox="1"/>
          <p:nvPr/>
        </p:nvSpPr>
        <p:spPr>
          <a:xfrm>
            <a:off x="777240" y="2706167"/>
            <a:ext cx="1261872" cy="365760"/>
          </a:xfrm>
          <a:prstGeom prst="rect">
            <a:avLst/>
          </a:prstGeom>
          <a:noFill/>
          <a:ln/>
        </p:spPr>
        <p:txBody>
          <a:bodyPr wrap="square" lIns="0" tIns="0" rIns="0" bIns="0" rtlCol="0" anchor="ctr"/>
          <a:lstStyle/>
          <a:p>
            <a:pPr algn="ctr" indent="0" marL="0">
              <a:lnSpc>
                <a:spcPct val="106000"/>
              </a:lnSpc>
              <a:buNone/>
            </a:pPr>
            <a:r>
              <a:rPr lang="en-US" sz="1000" dirty="0">
                <a:solidFill>
                  <a:srgbClr val="5C6180"/>
                </a:solidFill>
                <a:latin typeface="Calibri" pitchFamily="34" charset="0"/>
                <a:ea typeface="Calibri" pitchFamily="34" charset="-122"/>
                <a:cs typeface="Calibri" pitchFamily="34" charset="-120"/>
              </a:rPr>
              <a:t>minimum</a:t>
            </a:r>
            <a:endParaRPr lang="en-US" sz="1000" dirty="0"/>
          </a:p>
        </p:txBody>
      </p:sp>
      <p:sp>
        <p:nvSpPr>
          <p:cNvPr id="8" name="Text 6"/>
          <p:cNvSpPr txBox="1"/>
          <p:nvPr/>
        </p:nvSpPr>
        <p:spPr>
          <a:xfrm>
            <a:off x="2093976" y="2331720"/>
            <a:ext cx="1261872" cy="429311"/>
          </a:xfrm>
          <a:prstGeom prst="rect">
            <a:avLst/>
          </a:prstGeom>
          <a:noFill/>
          <a:ln/>
        </p:spPr>
        <p:txBody>
          <a:bodyPr wrap="square" lIns="0" tIns="0" rIns="0" bIns="0" rtlCol="0" anchor="ctr"/>
          <a:lstStyle/>
          <a:p>
            <a:pPr algn="ctr" indent="0" marL="0">
              <a:buNone/>
            </a:pPr>
            <a:r>
              <a:rPr lang="en-US" sz="2100" b="1" dirty="0">
                <a:solidFill>
                  <a:srgbClr val="2F3596"/>
                </a:solidFill>
                <a:latin typeface="Calibri" pitchFamily="34" charset="0"/>
                <a:ea typeface="Calibri" pitchFamily="34" charset="-122"/>
                <a:cs typeface="Calibri" pitchFamily="34" charset="-120"/>
              </a:rPr>
              <a:t>0.419</a:t>
            </a:r>
            <a:endParaRPr lang="en-US" sz="2100" dirty="0"/>
          </a:p>
        </p:txBody>
      </p:sp>
      <p:sp>
        <p:nvSpPr>
          <p:cNvPr id="9" name="Text 7"/>
          <p:cNvSpPr txBox="1"/>
          <p:nvPr/>
        </p:nvSpPr>
        <p:spPr>
          <a:xfrm>
            <a:off x="2093976" y="2706167"/>
            <a:ext cx="1261872" cy="365760"/>
          </a:xfrm>
          <a:prstGeom prst="rect">
            <a:avLst/>
          </a:prstGeom>
          <a:noFill/>
          <a:ln/>
        </p:spPr>
        <p:txBody>
          <a:bodyPr wrap="square" lIns="0" tIns="0" rIns="0" bIns="0" rtlCol="0" anchor="ctr"/>
          <a:lstStyle/>
          <a:p>
            <a:pPr algn="ctr" indent="0" marL="0">
              <a:lnSpc>
                <a:spcPct val="106000"/>
              </a:lnSpc>
              <a:buNone/>
            </a:pPr>
            <a:r>
              <a:rPr lang="en-US" sz="1000" dirty="0">
                <a:solidFill>
                  <a:srgbClr val="5C6180"/>
                </a:solidFill>
                <a:latin typeface="Calibri" pitchFamily="34" charset="0"/>
                <a:ea typeface="Calibri" pitchFamily="34" charset="-122"/>
                <a:cs typeface="Calibri" pitchFamily="34" charset="-120"/>
              </a:rPr>
              <a:t>median</a:t>
            </a:r>
            <a:endParaRPr lang="en-US" sz="1000" dirty="0"/>
          </a:p>
        </p:txBody>
      </p:sp>
      <p:sp>
        <p:nvSpPr>
          <p:cNvPr id="10" name="Text 8"/>
          <p:cNvSpPr txBox="1"/>
          <p:nvPr/>
        </p:nvSpPr>
        <p:spPr>
          <a:xfrm>
            <a:off x="3410712" y="2331720"/>
            <a:ext cx="1261872" cy="429311"/>
          </a:xfrm>
          <a:prstGeom prst="rect">
            <a:avLst/>
          </a:prstGeom>
          <a:noFill/>
          <a:ln/>
        </p:spPr>
        <p:txBody>
          <a:bodyPr wrap="square" lIns="0" tIns="0" rIns="0" bIns="0" rtlCol="0" anchor="ctr"/>
          <a:lstStyle/>
          <a:p>
            <a:pPr algn="ctr" indent="0" marL="0">
              <a:buNone/>
            </a:pPr>
            <a:r>
              <a:rPr lang="en-US" sz="2100" b="1" dirty="0">
                <a:solidFill>
                  <a:srgbClr val="2F3596"/>
                </a:solidFill>
                <a:latin typeface="Calibri" pitchFamily="34" charset="0"/>
                <a:ea typeface="Calibri" pitchFamily="34" charset="-122"/>
                <a:cs typeface="Calibri" pitchFamily="34" charset="-120"/>
              </a:rPr>
              <a:t>0.550</a:t>
            </a:r>
            <a:endParaRPr lang="en-US" sz="2100" dirty="0"/>
          </a:p>
        </p:txBody>
      </p:sp>
      <p:sp>
        <p:nvSpPr>
          <p:cNvPr id="11" name="Text 9"/>
          <p:cNvSpPr txBox="1"/>
          <p:nvPr/>
        </p:nvSpPr>
        <p:spPr>
          <a:xfrm>
            <a:off x="3410712" y="2706167"/>
            <a:ext cx="1261872" cy="365760"/>
          </a:xfrm>
          <a:prstGeom prst="rect">
            <a:avLst/>
          </a:prstGeom>
          <a:noFill/>
          <a:ln/>
        </p:spPr>
        <p:txBody>
          <a:bodyPr wrap="square" lIns="0" tIns="0" rIns="0" bIns="0" rtlCol="0" anchor="ctr"/>
          <a:lstStyle/>
          <a:p>
            <a:pPr algn="ctr" indent="0" marL="0">
              <a:lnSpc>
                <a:spcPct val="106000"/>
              </a:lnSpc>
              <a:buNone/>
            </a:pPr>
            <a:r>
              <a:rPr lang="en-US" sz="1000" dirty="0">
                <a:solidFill>
                  <a:srgbClr val="5C6180"/>
                </a:solidFill>
                <a:latin typeface="Calibri" pitchFamily="34" charset="0"/>
                <a:ea typeface="Calibri" pitchFamily="34" charset="-122"/>
                <a:cs typeface="Calibri" pitchFamily="34" charset="-120"/>
              </a:rPr>
              <a:t>95th pct</a:t>
            </a:r>
            <a:endParaRPr lang="en-US" sz="1000" dirty="0"/>
          </a:p>
        </p:txBody>
      </p:sp>
      <p:sp>
        <p:nvSpPr>
          <p:cNvPr id="12" name="Text 10"/>
          <p:cNvSpPr txBox="1"/>
          <p:nvPr/>
        </p:nvSpPr>
        <p:spPr>
          <a:xfrm>
            <a:off x="4727448" y="2331720"/>
            <a:ext cx="1261872" cy="429311"/>
          </a:xfrm>
          <a:prstGeom prst="rect">
            <a:avLst/>
          </a:prstGeom>
          <a:noFill/>
          <a:ln/>
        </p:spPr>
        <p:txBody>
          <a:bodyPr wrap="square" lIns="0" tIns="0" rIns="0" bIns="0" rtlCol="0" anchor="ctr"/>
          <a:lstStyle/>
          <a:p>
            <a:pPr algn="ctr" indent="0" marL="0">
              <a:buNone/>
            </a:pPr>
            <a:r>
              <a:rPr lang="en-US" sz="2100" b="1" dirty="0">
                <a:solidFill>
                  <a:srgbClr val="2F3596"/>
                </a:solidFill>
                <a:latin typeface="Calibri" pitchFamily="34" charset="0"/>
                <a:ea typeface="Calibri" pitchFamily="34" charset="-122"/>
                <a:cs typeface="Calibri" pitchFamily="34" charset="-120"/>
              </a:rPr>
              <a:t>0.748</a:t>
            </a:r>
            <a:endParaRPr lang="en-US" sz="2100" dirty="0"/>
          </a:p>
        </p:txBody>
      </p:sp>
      <p:sp>
        <p:nvSpPr>
          <p:cNvPr id="13" name="Text 11"/>
          <p:cNvSpPr txBox="1"/>
          <p:nvPr/>
        </p:nvSpPr>
        <p:spPr>
          <a:xfrm>
            <a:off x="4727448" y="2706167"/>
            <a:ext cx="1261872" cy="365760"/>
          </a:xfrm>
          <a:prstGeom prst="rect">
            <a:avLst/>
          </a:prstGeom>
          <a:noFill/>
          <a:ln/>
        </p:spPr>
        <p:txBody>
          <a:bodyPr wrap="square" lIns="0" tIns="0" rIns="0" bIns="0" rtlCol="0" anchor="ctr"/>
          <a:lstStyle/>
          <a:p>
            <a:pPr algn="ctr" indent="0" marL="0">
              <a:lnSpc>
                <a:spcPct val="106000"/>
              </a:lnSpc>
              <a:buNone/>
            </a:pPr>
            <a:r>
              <a:rPr lang="en-US" sz="1000" dirty="0">
                <a:solidFill>
                  <a:srgbClr val="5C6180"/>
                </a:solidFill>
                <a:latin typeface="Calibri" pitchFamily="34" charset="0"/>
                <a:ea typeface="Calibri" pitchFamily="34" charset="-122"/>
                <a:cs typeface="Calibri" pitchFamily="34" charset="-120"/>
              </a:rPr>
              <a:t>maximum</a:t>
            </a:r>
            <a:endParaRPr lang="en-US" sz="1000" dirty="0"/>
          </a:p>
        </p:txBody>
      </p:sp>
      <p:sp>
        <p:nvSpPr>
          <p:cNvPr id="14" name="Shape 12"/>
          <p:cNvSpPr/>
          <p:nvPr/>
        </p:nvSpPr>
        <p:spPr>
          <a:xfrm>
            <a:off x="594360" y="3657600"/>
            <a:ext cx="5577840" cy="1234440"/>
          </a:xfrm>
          <a:prstGeom prst="roundRect">
            <a:avLst>
              <a:gd name="adj" fmla="val 4444"/>
            </a:avLst>
          </a:prstGeom>
          <a:solidFill>
            <a:srgbClr val="FBEEE2"/>
          </a:solidFill>
          <a:ln w="12700">
            <a:solidFill>
              <a:srgbClr val="E8C9A8"/>
            </a:solidFill>
            <a:prstDash val="solid"/>
          </a:ln>
        </p:spPr>
      </p:sp>
      <p:sp>
        <p:nvSpPr>
          <p:cNvPr id="15" name="Text 13"/>
          <p:cNvSpPr txBox="1"/>
          <p:nvPr/>
        </p:nvSpPr>
        <p:spPr>
          <a:xfrm>
            <a:off x="868680" y="3858768"/>
            <a:ext cx="5029200" cy="0"/>
          </a:xfrm>
          <a:prstGeom prst="rect">
            <a:avLst/>
          </a:prstGeom>
          <a:noFill/>
          <a:ln/>
        </p:spPr>
        <p:txBody>
          <a:bodyPr wrap="square" lIns="0" tIns="0" rIns="0" bIns="0" rtlCol="0" anchor="t"/>
          <a:lstStyle/>
          <a:p>
            <a:pPr algn="l" indent="0" marL="0">
              <a:lnSpc>
                <a:spcPct val="118000"/>
              </a:lnSpc>
              <a:buNone/>
            </a:pPr>
            <a:r>
              <a:rPr lang="en-US" sz="1250" b="1" dirty="0">
                <a:solidFill>
                  <a:srgbClr val="C0692B"/>
                </a:solidFill>
                <a:latin typeface="Calibri" pitchFamily="34" charset="0"/>
                <a:ea typeface="Calibri" pitchFamily="34" charset="-122"/>
                <a:cs typeface="Calibri" pitchFamily="34" charset="-120"/>
              </a:rPr>
              <a:t>Only 3–4 sequences exceed 90%, and 62.5–72.5% is completely empty.</a:t>
            </a:r>
            <a:endParaRPr lang="en-US" sz="1250" dirty="0"/>
          </a:p>
        </p:txBody>
      </p:sp>
      <p:sp>
        <p:nvSpPr>
          <p:cNvPr id="16" name="Text 14"/>
          <p:cNvSpPr txBox="1"/>
          <p:nvPr/>
        </p:nvSpPr>
        <p:spPr>
          <a:xfrm>
            <a:off x="868680" y="4462272"/>
            <a:ext cx="5029200" cy="0"/>
          </a:xfrm>
          <a:prstGeom prst="rect">
            <a:avLst/>
          </a:prstGeom>
          <a:noFill/>
          <a:ln/>
        </p:spPr>
        <p:txBody>
          <a:bodyPr wrap="square" lIns="0" tIns="0" rIns="0" bIns="0" rtlCol="0" anchor="t"/>
          <a:lstStyle/>
          <a:p>
            <a:pPr algn="l" indent="0" marL="0">
              <a:lnSpc>
                <a:spcPct val="113000"/>
              </a:lnSpc>
              <a:buNone/>
            </a:pPr>
            <a:r>
              <a:rPr lang="en-US" sz="1150" dirty="0">
                <a:solidFill>
                  <a:srgbClr val="1C1E33"/>
                </a:solidFill>
                <a:latin typeface="Calibri" pitchFamily="34" charset="0"/>
                <a:ea typeface="Calibri" pitchFamily="34" charset="-122"/>
                <a:cs typeface="Calibri" pitchFamily="34" charset="-120"/>
              </a:rPr>
              <a:t>This family has almost no close relatives of ChCODH2.</a:t>
            </a:r>
            <a:endParaRPr lang="en-US" sz="1150" dirty="0"/>
          </a:p>
        </p:txBody>
      </p:sp>
      <p:sp>
        <p:nvSpPr>
          <p:cNvPr id="17" name="Text 15"/>
          <p:cNvSpPr txBox="1"/>
          <p:nvPr/>
        </p:nvSpPr>
        <p:spPr>
          <a:xfrm>
            <a:off x="594360" y="5029200"/>
            <a:ext cx="5577840" cy="0"/>
          </a:xfrm>
          <a:prstGeom prst="rect">
            <a:avLst/>
          </a:prstGeom>
          <a:noFill/>
          <a:ln/>
        </p:spPr>
        <p:txBody>
          <a:bodyPr wrap="square" lIns="0" tIns="0" rIns="0" bIns="0" rtlCol="0" anchor="t"/>
          <a:lstStyle/>
          <a:p>
            <a:pPr algn="l" indent="0" marL="0">
              <a:lnSpc>
                <a:spcPct val="118000"/>
              </a:lnSpc>
              <a:buNone/>
            </a:pPr>
            <a:r>
              <a:rPr lang="en-US" sz="1200" b="1" dirty="0">
                <a:solidFill>
                  <a:srgbClr val="1C1E33"/>
                </a:solidFill>
                <a:latin typeface="Calibri" pitchFamily="34" charset="0"/>
                <a:ea typeface="Calibri" pitchFamily="34" charset="-122"/>
                <a:cs typeface="Calibri" pitchFamily="34" charset="-120"/>
              </a:rPr>
              <a:t>Under the original proposal the top four bins would each hold single digits and 1,780 sequences would pile into the last one.</a:t>
            </a:r>
            <a:endParaRPr lang="en-US" sz="1200" dirty="0"/>
          </a:p>
        </p:txBody>
      </p:sp>
      <p:sp>
        <p:nvSpPr>
          <p:cNvPr id="18" name="Text 16"/>
          <p:cNvSpPr txBox="1"/>
          <p:nvPr/>
        </p:nvSpPr>
        <p:spPr>
          <a:xfrm>
            <a:off x="594360" y="5596128"/>
            <a:ext cx="5577840" cy="0"/>
          </a:xfrm>
          <a:prstGeom prst="rect">
            <a:avLst/>
          </a:prstGeom>
          <a:noFill/>
          <a:ln/>
        </p:spPr>
        <p:txBody>
          <a:bodyPr wrap="square" lIns="0" tIns="0" rIns="0" bIns="0" rtlCol="0" anchor="t"/>
          <a:lstStyle/>
          <a:p>
            <a:pPr algn="l" indent="0" marL="0">
              <a:lnSpc>
                <a:spcPct val="118000"/>
              </a:lnSpc>
              <a:buNone/>
            </a:pPr>
            <a:r>
              <a:rPr lang="en-US" sz="1200" b="1" dirty="0">
                <a:solidFill>
                  <a:srgbClr val="2F3596"/>
                </a:solidFill>
                <a:latin typeface="Calibri" pitchFamily="34" charset="0"/>
                <a:ea typeface="Calibri" pitchFamily="34" charset="-122"/>
                <a:cs typeface="Calibri" pitchFamily="34" charset="-120"/>
              </a:rPr>
              <a:t>The intent — training in order of identity — is kept; only the boundaries moved to fit the data.</a:t>
            </a:r>
            <a:endParaRPr lang="en-US" sz="1200" dirty="0"/>
          </a:p>
        </p:txBody>
      </p:sp>
      <p:sp>
        <p:nvSpPr>
          <p:cNvPr id="19" name="Text 17"/>
          <p:cNvSpPr txBox="1"/>
          <p:nvPr/>
        </p:nvSpPr>
        <p:spPr>
          <a:xfrm>
            <a:off x="6720840" y="1783080"/>
            <a:ext cx="2194560" cy="0"/>
          </a:xfrm>
          <a:prstGeom prst="rect">
            <a:avLst/>
          </a:prstGeom>
          <a:noFill/>
          <a:ln/>
        </p:spPr>
        <p:txBody>
          <a:bodyPr wrap="square" lIns="0" tIns="0" rIns="0" bIns="0" rtlCol="0" anchor="t"/>
          <a:lstStyle/>
          <a:p>
            <a:pPr algn="l" indent="0" marL="0">
              <a:lnSpc>
                <a:spcPct val="113000"/>
              </a:lnSpc>
              <a:buNone/>
            </a:pPr>
            <a:r>
              <a:rPr lang="en-US" sz="1250" b="1" dirty="0">
                <a:solidFill>
                  <a:srgbClr val="5C6180"/>
                </a:solidFill>
                <a:latin typeface="Calibri" pitchFamily="34" charset="0"/>
                <a:ea typeface="Calibri" pitchFamily="34" charset="-122"/>
                <a:cs typeface="Calibri" pitchFamily="34" charset="-120"/>
              </a:rPr>
              <a:t>Original</a:t>
            </a:r>
            <a:endParaRPr lang="en-US" sz="1250" dirty="0"/>
          </a:p>
        </p:txBody>
      </p:sp>
      <p:sp>
        <p:nvSpPr>
          <p:cNvPr id="20" name="Text 18"/>
          <p:cNvSpPr txBox="1"/>
          <p:nvPr/>
        </p:nvSpPr>
        <p:spPr>
          <a:xfrm>
            <a:off x="9372600" y="1783080"/>
            <a:ext cx="2194560" cy="0"/>
          </a:xfrm>
          <a:prstGeom prst="rect">
            <a:avLst/>
          </a:prstGeom>
          <a:noFill/>
          <a:ln/>
        </p:spPr>
        <p:txBody>
          <a:bodyPr wrap="square" lIns="0" tIns="0" rIns="0" bIns="0" rtlCol="0" anchor="t"/>
          <a:lstStyle/>
          <a:p>
            <a:pPr algn="l" indent="0" marL="0">
              <a:lnSpc>
                <a:spcPct val="113000"/>
              </a:lnSpc>
              <a:buNone/>
            </a:pPr>
            <a:r>
              <a:rPr lang="en-US" sz="1250" b="1" dirty="0">
                <a:solidFill>
                  <a:srgbClr val="2F3596"/>
                </a:solidFill>
                <a:latin typeface="Calibri" pitchFamily="34" charset="0"/>
                <a:ea typeface="Calibri" pitchFamily="34" charset="-122"/>
                <a:cs typeface="Calibri" pitchFamily="34" charset="-120"/>
              </a:rPr>
              <a:t>Adopted</a:t>
            </a:r>
            <a:endParaRPr lang="en-US" sz="1250" dirty="0"/>
          </a:p>
        </p:txBody>
      </p:sp>
      <p:sp>
        <p:nvSpPr>
          <p:cNvPr id="21" name="Shape 19"/>
          <p:cNvSpPr/>
          <p:nvPr/>
        </p:nvSpPr>
        <p:spPr>
          <a:xfrm>
            <a:off x="6720840" y="2148840"/>
            <a:ext cx="2194560" cy="566928"/>
          </a:xfrm>
          <a:prstGeom prst="roundRect">
            <a:avLst>
              <a:gd name="adj" fmla="val 8065"/>
            </a:avLst>
          </a:prstGeom>
          <a:solidFill>
            <a:srgbClr val="E9EAEF"/>
          </a:solidFill>
          <a:ln/>
        </p:spPr>
      </p:sp>
      <p:sp>
        <p:nvSpPr>
          <p:cNvPr id="22" name="Text 20"/>
          <p:cNvSpPr txBox="1"/>
          <p:nvPr/>
        </p:nvSpPr>
        <p:spPr>
          <a:xfrm>
            <a:off x="6775704" y="2148840"/>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5C6180"/>
                </a:solidFill>
                <a:latin typeface="Calibri" pitchFamily="34" charset="0"/>
                <a:ea typeface="Calibri" pitchFamily="34" charset="-122"/>
                <a:cs typeface="Calibri" pitchFamily="34" charset="-120"/>
              </a:rPr>
              <a:t>90 – 100</a:t>
            </a:r>
            <a:endParaRPr lang="en-US" sz="1200" dirty="0"/>
          </a:p>
        </p:txBody>
      </p:sp>
      <p:sp>
        <p:nvSpPr>
          <p:cNvPr id="23" name="Text 21"/>
          <p:cNvSpPr txBox="1"/>
          <p:nvPr/>
        </p:nvSpPr>
        <p:spPr>
          <a:xfrm>
            <a:off x="8988552" y="2295144"/>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24" name="Shape 22"/>
          <p:cNvSpPr/>
          <p:nvPr/>
        </p:nvSpPr>
        <p:spPr>
          <a:xfrm>
            <a:off x="9372600" y="2148840"/>
            <a:ext cx="2194560" cy="566928"/>
          </a:xfrm>
          <a:prstGeom prst="roundRect">
            <a:avLst>
              <a:gd name="adj" fmla="val 8065"/>
            </a:avLst>
          </a:prstGeom>
          <a:solidFill>
            <a:srgbClr val="EEF0FA"/>
          </a:solidFill>
          <a:ln/>
        </p:spPr>
      </p:sp>
      <p:sp>
        <p:nvSpPr>
          <p:cNvPr id="25" name="Text 23"/>
          <p:cNvSpPr txBox="1"/>
          <p:nvPr/>
        </p:nvSpPr>
        <p:spPr>
          <a:xfrm>
            <a:off x="9427464" y="2148840"/>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2F3596"/>
                </a:solidFill>
                <a:latin typeface="Calibri" pitchFamily="34" charset="0"/>
                <a:ea typeface="Calibri" pitchFamily="34" charset="-122"/>
                <a:cs typeface="Calibri" pitchFamily="34" charset="-120"/>
              </a:rPr>
              <a:t>≥ 60      6 reps</a:t>
            </a:r>
            <a:endParaRPr lang="en-US" sz="1200" dirty="0"/>
          </a:p>
        </p:txBody>
      </p:sp>
      <p:sp>
        <p:nvSpPr>
          <p:cNvPr id="26" name="Shape 24"/>
          <p:cNvSpPr/>
          <p:nvPr/>
        </p:nvSpPr>
        <p:spPr>
          <a:xfrm>
            <a:off x="6720840" y="2898648"/>
            <a:ext cx="2194560" cy="566928"/>
          </a:xfrm>
          <a:prstGeom prst="roundRect">
            <a:avLst>
              <a:gd name="adj" fmla="val 8065"/>
            </a:avLst>
          </a:prstGeom>
          <a:solidFill>
            <a:srgbClr val="E9EAEF"/>
          </a:solidFill>
          <a:ln/>
        </p:spPr>
      </p:sp>
      <p:sp>
        <p:nvSpPr>
          <p:cNvPr id="27" name="Text 25"/>
          <p:cNvSpPr txBox="1"/>
          <p:nvPr/>
        </p:nvSpPr>
        <p:spPr>
          <a:xfrm>
            <a:off x="6775704" y="2898648"/>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5C6180"/>
                </a:solidFill>
                <a:latin typeface="Calibri" pitchFamily="34" charset="0"/>
                <a:ea typeface="Calibri" pitchFamily="34" charset="-122"/>
                <a:cs typeface="Calibri" pitchFamily="34" charset="-120"/>
              </a:rPr>
              <a:t>80 – 90</a:t>
            </a:r>
            <a:endParaRPr lang="en-US" sz="1200" dirty="0"/>
          </a:p>
        </p:txBody>
      </p:sp>
      <p:sp>
        <p:nvSpPr>
          <p:cNvPr id="28" name="Text 26"/>
          <p:cNvSpPr txBox="1"/>
          <p:nvPr/>
        </p:nvSpPr>
        <p:spPr>
          <a:xfrm>
            <a:off x="8988552" y="3044952"/>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29" name="Shape 27"/>
          <p:cNvSpPr/>
          <p:nvPr/>
        </p:nvSpPr>
        <p:spPr>
          <a:xfrm>
            <a:off x="9372600" y="2898648"/>
            <a:ext cx="2194560" cy="566928"/>
          </a:xfrm>
          <a:prstGeom prst="roundRect">
            <a:avLst>
              <a:gd name="adj" fmla="val 8065"/>
            </a:avLst>
          </a:prstGeom>
          <a:solidFill>
            <a:srgbClr val="EEF0FA"/>
          </a:solidFill>
          <a:ln/>
        </p:spPr>
      </p:sp>
      <p:sp>
        <p:nvSpPr>
          <p:cNvPr id="30" name="Text 28"/>
          <p:cNvSpPr txBox="1"/>
          <p:nvPr/>
        </p:nvSpPr>
        <p:spPr>
          <a:xfrm>
            <a:off x="9427464" y="2898648"/>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2F3596"/>
                </a:solidFill>
                <a:latin typeface="Calibri" pitchFamily="34" charset="0"/>
                <a:ea typeface="Calibri" pitchFamily="34" charset="-122"/>
                <a:cs typeface="Calibri" pitchFamily="34" charset="-120"/>
              </a:rPr>
              <a:t>50 – 60      14 reps</a:t>
            </a:r>
            <a:endParaRPr lang="en-US" sz="1200" dirty="0"/>
          </a:p>
        </p:txBody>
      </p:sp>
      <p:sp>
        <p:nvSpPr>
          <p:cNvPr id="31" name="Shape 29"/>
          <p:cNvSpPr/>
          <p:nvPr/>
        </p:nvSpPr>
        <p:spPr>
          <a:xfrm>
            <a:off x="6720840" y="3648456"/>
            <a:ext cx="2194560" cy="566928"/>
          </a:xfrm>
          <a:prstGeom prst="roundRect">
            <a:avLst>
              <a:gd name="adj" fmla="val 8065"/>
            </a:avLst>
          </a:prstGeom>
          <a:solidFill>
            <a:srgbClr val="E9EAEF"/>
          </a:solidFill>
          <a:ln/>
        </p:spPr>
      </p:sp>
      <p:sp>
        <p:nvSpPr>
          <p:cNvPr id="32" name="Text 30"/>
          <p:cNvSpPr txBox="1"/>
          <p:nvPr/>
        </p:nvSpPr>
        <p:spPr>
          <a:xfrm>
            <a:off x="6775704" y="3648456"/>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5C6180"/>
                </a:solidFill>
                <a:latin typeface="Calibri" pitchFamily="34" charset="0"/>
                <a:ea typeface="Calibri" pitchFamily="34" charset="-122"/>
                <a:cs typeface="Calibri" pitchFamily="34" charset="-120"/>
              </a:rPr>
              <a:t>70 – 80</a:t>
            </a:r>
            <a:endParaRPr lang="en-US" sz="1200" dirty="0"/>
          </a:p>
        </p:txBody>
      </p:sp>
      <p:sp>
        <p:nvSpPr>
          <p:cNvPr id="33" name="Text 31"/>
          <p:cNvSpPr txBox="1"/>
          <p:nvPr/>
        </p:nvSpPr>
        <p:spPr>
          <a:xfrm>
            <a:off x="8988552" y="3794760"/>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34" name="Shape 32"/>
          <p:cNvSpPr/>
          <p:nvPr/>
        </p:nvSpPr>
        <p:spPr>
          <a:xfrm>
            <a:off x="9372600" y="3648456"/>
            <a:ext cx="2194560" cy="566928"/>
          </a:xfrm>
          <a:prstGeom prst="roundRect">
            <a:avLst>
              <a:gd name="adj" fmla="val 8065"/>
            </a:avLst>
          </a:prstGeom>
          <a:solidFill>
            <a:srgbClr val="EEF0FA"/>
          </a:solidFill>
          <a:ln/>
        </p:spPr>
      </p:sp>
      <p:sp>
        <p:nvSpPr>
          <p:cNvPr id="35" name="Text 33"/>
          <p:cNvSpPr txBox="1"/>
          <p:nvPr/>
        </p:nvSpPr>
        <p:spPr>
          <a:xfrm>
            <a:off x="9427464" y="3648456"/>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2F3596"/>
                </a:solidFill>
                <a:latin typeface="Calibri" pitchFamily="34" charset="0"/>
                <a:ea typeface="Calibri" pitchFamily="34" charset="-122"/>
                <a:cs typeface="Calibri" pitchFamily="34" charset="-120"/>
              </a:rPr>
              <a:t>40 – 50      107 reps</a:t>
            </a:r>
            <a:endParaRPr lang="en-US" sz="1200" dirty="0"/>
          </a:p>
        </p:txBody>
      </p:sp>
      <p:sp>
        <p:nvSpPr>
          <p:cNvPr id="36" name="Shape 34"/>
          <p:cNvSpPr/>
          <p:nvPr/>
        </p:nvSpPr>
        <p:spPr>
          <a:xfrm>
            <a:off x="6720840" y="4398264"/>
            <a:ext cx="2194560" cy="566928"/>
          </a:xfrm>
          <a:prstGeom prst="roundRect">
            <a:avLst>
              <a:gd name="adj" fmla="val 8065"/>
            </a:avLst>
          </a:prstGeom>
          <a:solidFill>
            <a:srgbClr val="E9EAEF"/>
          </a:solidFill>
          <a:ln/>
        </p:spPr>
      </p:sp>
      <p:sp>
        <p:nvSpPr>
          <p:cNvPr id="37" name="Text 35"/>
          <p:cNvSpPr txBox="1"/>
          <p:nvPr/>
        </p:nvSpPr>
        <p:spPr>
          <a:xfrm>
            <a:off x="6775704" y="4398264"/>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5C6180"/>
                </a:solidFill>
                <a:latin typeface="Calibri" pitchFamily="34" charset="0"/>
                <a:ea typeface="Calibri" pitchFamily="34" charset="-122"/>
                <a:cs typeface="Calibri" pitchFamily="34" charset="-120"/>
              </a:rPr>
              <a:t>60 – 70</a:t>
            </a:r>
            <a:endParaRPr lang="en-US" sz="1200" dirty="0"/>
          </a:p>
        </p:txBody>
      </p:sp>
      <p:sp>
        <p:nvSpPr>
          <p:cNvPr id="38" name="Text 36"/>
          <p:cNvSpPr txBox="1"/>
          <p:nvPr/>
        </p:nvSpPr>
        <p:spPr>
          <a:xfrm>
            <a:off x="8988552" y="4544568"/>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39" name="Shape 37"/>
          <p:cNvSpPr/>
          <p:nvPr/>
        </p:nvSpPr>
        <p:spPr>
          <a:xfrm>
            <a:off x="9372600" y="4398264"/>
            <a:ext cx="2194560" cy="566928"/>
          </a:xfrm>
          <a:prstGeom prst="roundRect">
            <a:avLst>
              <a:gd name="adj" fmla="val 8065"/>
            </a:avLst>
          </a:prstGeom>
          <a:solidFill>
            <a:srgbClr val="EEF0FA"/>
          </a:solidFill>
          <a:ln/>
        </p:spPr>
      </p:sp>
      <p:sp>
        <p:nvSpPr>
          <p:cNvPr id="40" name="Text 38"/>
          <p:cNvSpPr txBox="1"/>
          <p:nvPr/>
        </p:nvSpPr>
        <p:spPr>
          <a:xfrm>
            <a:off x="9427464" y="4398264"/>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2F3596"/>
                </a:solidFill>
                <a:latin typeface="Calibri" pitchFamily="34" charset="0"/>
                <a:ea typeface="Calibri" pitchFamily="34" charset="-122"/>
                <a:cs typeface="Calibri" pitchFamily="34" charset="-120"/>
              </a:rPr>
              <a:t>30 – 40      75 reps</a:t>
            </a:r>
            <a:endParaRPr lang="en-US" sz="1200" dirty="0"/>
          </a:p>
        </p:txBody>
      </p:sp>
      <p:sp>
        <p:nvSpPr>
          <p:cNvPr id="41" name="Shape 39"/>
          <p:cNvSpPr/>
          <p:nvPr/>
        </p:nvSpPr>
        <p:spPr>
          <a:xfrm>
            <a:off x="6720840" y="5148072"/>
            <a:ext cx="2194560" cy="566928"/>
          </a:xfrm>
          <a:prstGeom prst="roundRect">
            <a:avLst>
              <a:gd name="adj" fmla="val 8065"/>
            </a:avLst>
          </a:prstGeom>
          <a:solidFill>
            <a:srgbClr val="E9EAEF"/>
          </a:solidFill>
          <a:ln/>
        </p:spPr>
      </p:sp>
      <p:sp>
        <p:nvSpPr>
          <p:cNvPr id="42" name="Text 40"/>
          <p:cNvSpPr txBox="1"/>
          <p:nvPr/>
        </p:nvSpPr>
        <p:spPr>
          <a:xfrm>
            <a:off x="6775704" y="5148072"/>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5C6180"/>
                </a:solidFill>
                <a:latin typeface="Calibri" pitchFamily="34" charset="0"/>
                <a:ea typeface="Calibri" pitchFamily="34" charset="-122"/>
                <a:cs typeface="Calibri" pitchFamily="34" charset="-120"/>
              </a:rPr>
              <a:t>&lt; 60</a:t>
            </a:r>
            <a:endParaRPr lang="en-US" sz="1200" dirty="0"/>
          </a:p>
        </p:txBody>
      </p:sp>
      <p:sp>
        <p:nvSpPr>
          <p:cNvPr id="43" name="Text 41"/>
          <p:cNvSpPr txBox="1"/>
          <p:nvPr/>
        </p:nvSpPr>
        <p:spPr>
          <a:xfrm>
            <a:off x="8988552" y="5294376"/>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9372600" y="5148072"/>
            <a:ext cx="2194560" cy="566928"/>
          </a:xfrm>
          <a:prstGeom prst="roundRect">
            <a:avLst>
              <a:gd name="adj" fmla="val 8065"/>
            </a:avLst>
          </a:prstGeom>
          <a:solidFill>
            <a:srgbClr val="EEF0FA"/>
          </a:solidFill>
          <a:ln/>
        </p:spPr>
      </p:sp>
      <p:sp>
        <p:nvSpPr>
          <p:cNvPr id="45" name="Text 43"/>
          <p:cNvSpPr txBox="1"/>
          <p:nvPr/>
        </p:nvSpPr>
        <p:spPr>
          <a:xfrm>
            <a:off x="9427464" y="5148072"/>
            <a:ext cx="2084832" cy="566928"/>
          </a:xfrm>
          <a:prstGeom prst="rect">
            <a:avLst/>
          </a:prstGeom>
          <a:noFill/>
          <a:ln/>
        </p:spPr>
        <p:txBody>
          <a:bodyPr wrap="square" lIns="0" tIns="0" rIns="0" bIns="0" rtlCol="0" anchor="ctr"/>
          <a:lstStyle/>
          <a:p>
            <a:pPr algn="ctr" indent="0" marL="0">
              <a:lnSpc>
                <a:spcPct val="103000"/>
              </a:lnSpc>
              <a:buNone/>
            </a:pPr>
            <a:r>
              <a:rPr lang="en-US" sz="1200" b="1" dirty="0">
                <a:solidFill>
                  <a:srgbClr val="2F3596"/>
                </a:solidFill>
                <a:latin typeface="Calibri" pitchFamily="34" charset="0"/>
                <a:ea typeface="Calibri" pitchFamily="34" charset="-122"/>
                <a:cs typeface="Calibri" pitchFamily="34" charset="-120"/>
              </a:rPr>
              <a:t>&lt; 30      10 reps</a:t>
            </a:r>
            <a:endParaRPr lang="en-US" sz="1200" dirty="0"/>
          </a:p>
        </p:txBody>
      </p:sp>
      <p:sp>
        <p:nvSpPr>
          <p:cNvPr id="46" name="Text 44"/>
          <p:cNvSpPr txBox="1"/>
          <p:nvPr/>
        </p:nvSpPr>
        <p:spPr>
          <a:xfrm>
            <a:off x="6720840" y="5943600"/>
            <a:ext cx="4846320" cy="0"/>
          </a:xfrm>
          <a:prstGeom prst="rect">
            <a:avLst/>
          </a:prstGeom>
          <a:noFill/>
          <a:ln/>
        </p:spPr>
        <p:txBody>
          <a:bodyPr wrap="square" lIns="0" tIns="0" rIns="0" bIns="0" rtlCol="0" anchor="t"/>
          <a:lstStyle/>
          <a:p>
            <a:pPr algn="l" indent="0" marL="0">
              <a:lnSpc>
                <a:spcPct val="113000"/>
              </a:lnSpc>
              <a:buNone/>
            </a:pPr>
            <a:r>
              <a:rPr lang="en-US" sz="1100" i="1" dirty="0">
                <a:solidFill>
                  <a:srgbClr val="5C6180"/>
                </a:solidFill>
                <a:latin typeface="Calibri" pitchFamily="34" charset="0"/>
                <a:ea typeface="Calibri" pitchFamily="34" charset="-122"/>
                <a:cs typeface="Calibri" pitchFamily="34" charset="-120"/>
              </a:rPr>
              <a:t>10% width · cluster median fident</a:t>
            </a:r>
            <a:endParaRPr lang="en-US" sz="1100" dirty="0"/>
          </a:p>
        </p:txBody>
      </p:sp>
      <p:sp>
        <p:nvSpPr>
          <p:cNvPr id="48" name="Text 45"/>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③  RESULT</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212 representatives stand in for 98.8% of the family</a:t>
            </a:r>
            <a:endParaRPr lang="en-US" sz="2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6903720" cy="914400"/>
        </p:xfrm>
        <a:graphic>
          <a:graphicData uri="http://schemas.openxmlformats.org/drawingml/2006/table">
            <a:tbl>
              <a:tblPr/>
              <a:tblGrid>
                <a:gridCol w="1143000"/>
                <a:gridCol w="777240"/>
                <a:gridCol w="1234440"/>
                <a:gridCol w="822960"/>
                <a:gridCol w="777240"/>
                <a:gridCol w="777240"/>
                <a:gridCol w="1371600"/>
              </a:tblGrid>
              <a:tr h="3657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Bin</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Reps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Seqs covered</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Train</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Eval</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SF2</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Non-aromatic 41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65760">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 60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50 – 60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96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40 – 50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107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619</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27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30 – 40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897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56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19</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&lt; 30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163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00" b="1" dirty="0">
                          <a:solidFill>
                            <a:srgbClr val="1C1E33"/>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EEF0FA"/>
                    </a:solidFill>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212</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EEF0FA"/>
                    </a:solidFill>
                  </a:tcPr>
                </a:tc>
                <a:tc>
                  <a:txBody>
                    <a:bodyPr/>
                    <a:lstStyle/>
                    <a:p>
                      <a:pPr algn="ctr" indent="0" marL="0">
                        <a:buNone/>
                      </a:pPr>
                      <a:r>
                        <a:rPr lang="en-US" sz="1100" b="1" dirty="0">
                          <a:solidFill>
                            <a:srgbClr val="1C1E33"/>
                          </a:solidFill>
                          <a:latin typeface="Calibri" pitchFamily="34" charset="0"/>
                          <a:ea typeface="Calibri" pitchFamily="34" charset="-122"/>
                          <a:cs typeface="Calibri" pitchFamily="34" charset="-120"/>
                        </a:rPr>
                        <a:t>1,806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EEF0FA"/>
                    </a:solidFill>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157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EEF0FA"/>
                    </a:solidFill>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EEF0FA"/>
                    </a:solidFill>
                  </a:tcPr>
                </a:tc>
                <a:tc>
                  <a:txBody>
                    <a:bodyPr/>
                    <a:lstStyle/>
                    <a:p>
                      <a:pPr algn="ctr" indent="0" marL="0">
                        <a:buNone/>
                      </a:pPr>
                      <a:r>
                        <a:rPr lang="en-US" sz="1100" b="1" dirty="0">
                          <a:solidFill>
                            <a:srgbClr val="1C1E33"/>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EEF0FA"/>
                    </a:solidFill>
                  </a:tcPr>
                </a:tc>
                <a:tc>
                  <a:txBody>
                    <a:bodyPr/>
                    <a:lstStyle/>
                    <a:p>
                      <a:pPr algn="ctr" indent="0" marL="0">
                        <a:buNone/>
                      </a:pPr>
                      <a:r>
                        <a:rPr lang="en-US" sz="1100" b="1" dirty="0">
                          <a:solidFill>
                            <a:srgbClr val="1C1E33"/>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EEF0FA"/>
                    </a:solidFill>
                  </a:tcPr>
                </a:tc>
              </a:tr>
            </a:tbl>
          </a:graphicData>
        </a:graphic>
      </p:graphicFrame>
      <p:sp>
        <p:nvSpPr>
          <p:cNvPr id="5" name="Text 2"/>
          <p:cNvSpPr txBox="1"/>
          <p:nvPr/>
        </p:nvSpPr>
        <p:spPr>
          <a:xfrm>
            <a:off x="594360" y="4709160"/>
            <a:ext cx="6903720" cy="1463040"/>
          </a:xfrm>
          <a:prstGeom prst="rect">
            <a:avLst/>
          </a:prstGeom>
          <a:noFill/>
          <a:ln/>
        </p:spPr>
        <p:txBody>
          <a:bodyPr wrap="square" lIns="0" tIns="0" rIns="0" bIns="0" rtlCol="0" anchor="t"/>
          <a:lstStyle/>
          <a:p>
            <a:pPr indent="0" marL="0">
              <a:lnSpc>
                <a:spcPct val="116000"/>
              </a:lnSpc>
              <a:buNone/>
            </a:pPr>
            <a:r>
              <a:rPr lang="en-US" sz="1150" b="1" dirty="0">
                <a:solidFill>
                  <a:srgbClr val="1C1E33"/>
                </a:solidFill>
                <a:latin typeface="Calibri" pitchFamily="34" charset="0"/>
                <a:ea typeface="Calibri" pitchFamily="34" charset="-122"/>
                <a:cs typeface="Calibri" pitchFamily="34" charset="-120"/>
              </a:rPr>
              <a:t>Both SF2 and non-aromatic position 41 appear only below 50% identity. </a:t>
            </a:r>
            <a:pPr indent="0" marL="0">
              <a:lnSpc>
                <a:spcPct val="116000"/>
              </a:lnSpc>
              <a:spcAft>
                <a:spcPts val="900"/>
              </a:spcAft>
              <a:buNone/>
            </a:pPr>
            <a:r>
              <a:rPr lang="en-US" sz="1150" dirty="0">
                <a:solidFill>
                  <a:srgbClr val="1C1E33"/>
                </a:solidFill>
                <a:latin typeface="Calibri" pitchFamily="34" charset="0"/>
                <a:ea typeface="Calibri" pitchFamily="34" charset="-122"/>
                <a:cs typeface="Calibri" pitchFamily="34" charset="-120"/>
              </a:rPr>
              <a:t>The high-identity bins are not only small, they carry little information — and that region is already covered densely by the 288 variants.</a:t>
            </a:r>
            <a:endParaRPr lang="en-US" sz="1150" dirty="0"/>
          </a:p>
          <a:p>
            <a:pPr indent="0" marL="0">
              <a:lnSpc>
                <a:spcPct val="116000"/>
              </a:lnSpc>
              <a:buNone/>
            </a:pPr>
            <a:r>
              <a:rPr lang="en-US" sz="1150" b="1" dirty="0">
                <a:solidFill>
                  <a:srgbClr val="1C1E33"/>
                </a:solidFill>
                <a:latin typeface="Calibri" pitchFamily="34" charset="0"/>
                <a:ea typeface="Calibri" pitchFamily="34" charset="-122"/>
                <a:cs typeface="Calibri" pitchFamily="34" charset="-120"/>
              </a:rPr>
              <a:t>Zero shared clusters, zero duplicate sequences. </a:t>
            </a:r>
            <a:pPr indent="0" marL="0">
              <a:lnSpc>
                <a:spcPct val="116000"/>
              </a:lnSpc>
              <a:spcAft>
                <a:spcPts val="900"/>
              </a:spcAft>
              <a:buNone/>
            </a:pPr>
            <a:r>
              <a:rPr lang="en-US" sz="1150" dirty="0">
                <a:solidFill>
                  <a:srgbClr val="1C1E33"/>
                </a:solidFill>
                <a:latin typeface="Calibri" pitchFamily="34" charset="0"/>
                <a:ea typeface="Calibri" pitchFamily="34" charset="-122"/>
                <a:cs typeface="Calibri" pitchFamily="34" charset="-120"/>
              </a:rPr>
              <a:t>With one representative per cluster, leakage cannot occur.</a:t>
            </a:r>
            <a:endParaRPr lang="en-US" sz="1150" dirty="0"/>
          </a:p>
        </p:txBody>
      </p:sp>
      <p:sp>
        <p:nvSpPr>
          <p:cNvPr id="6" name="Shape 3"/>
          <p:cNvSpPr/>
          <p:nvPr/>
        </p:nvSpPr>
        <p:spPr>
          <a:xfrm>
            <a:off x="7818120" y="1783080"/>
            <a:ext cx="3749040" cy="1508760"/>
          </a:xfrm>
          <a:prstGeom prst="roundRect">
            <a:avLst>
              <a:gd name="adj" fmla="val 3636"/>
            </a:avLst>
          </a:prstGeom>
          <a:solidFill>
            <a:srgbClr val="F7F8FC"/>
          </a:solidFill>
          <a:ln w="12700">
            <a:solidFill>
              <a:srgbClr val="D6DAEE"/>
            </a:solidFill>
            <a:prstDash val="solid"/>
          </a:ln>
        </p:spPr>
      </p:sp>
      <p:sp>
        <p:nvSpPr>
          <p:cNvPr id="7" name="Text 4"/>
          <p:cNvSpPr txBox="1"/>
          <p:nvPr/>
        </p:nvSpPr>
        <p:spPr>
          <a:xfrm>
            <a:off x="8074152" y="1938528"/>
            <a:ext cx="3236976" cy="0"/>
          </a:xfrm>
          <a:prstGeom prst="rect">
            <a:avLst/>
          </a:prstGeom>
          <a:noFill/>
          <a:ln/>
        </p:spPr>
        <p:txBody>
          <a:bodyPr wrap="square" lIns="0" tIns="0" rIns="0" bIns="0" rtlCol="0" anchor="t"/>
          <a:lstStyle/>
          <a:p>
            <a:pPr algn="ctr" indent="0" marL="0">
              <a:lnSpc>
                <a:spcPct val="113000"/>
              </a:lnSpc>
              <a:buNone/>
            </a:pPr>
            <a:r>
              <a:rPr lang="en-US" sz="1150" b="1" dirty="0">
                <a:solidFill>
                  <a:srgbClr val="5C6180"/>
                </a:solidFill>
                <a:latin typeface="Calibri" pitchFamily="34" charset="0"/>
                <a:ea typeface="Calibri" pitchFamily="34" charset="-122"/>
                <a:cs typeface="Calibri" pitchFamily="34" charset="-120"/>
              </a:rPr>
              <a:t>Family coverage</a:t>
            </a:r>
            <a:endParaRPr lang="en-US" sz="1150" dirty="0"/>
          </a:p>
        </p:txBody>
      </p:sp>
      <p:sp>
        <p:nvSpPr>
          <p:cNvPr id="8" name="Text 5"/>
          <p:cNvSpPr txBox="1"/>
          <p:nvPr/>
        </p:nvSpPr>
        <p:spPr>
          <a:xfrm>
            <a:off x="8074152" y="2240280"/>
            <a:ext cx="3236976" cy="0"/>
          </a:xfrm>
          <a:prstGeom prst="rect">
            <a:avLst/>
          </a:prstGeom>
          <a:noFill/>
          <a:ln/>
        </p:spPr>
        <p:txBody>
          <a:bodyPr wrap="square" lIns="0" tIns="0" rIns="0" bIns="0" rtlCol="0" anchor="t"/>
          <a:lstStyle/>
          <a:p>
            <a:pPr algn="ctr" indent="0" marL="0">
              <a:lnSpc>
                <a:spcPct val="113000"/>
              </a:lnSpc>
              <a:buNone/>
            </a:pPr>
            <a:r>
              <a:rPr lang="en-US" sz="3800" b="1" dirty="0">
                <a:solidFill>
                  <a:srgbClr val="2F3596"/>
                </a:solidFill>
                <a:latin typeface="Calibri" pitchFamily="34" charset="0"/>
                <a:ea typeface="Calibri" pitchFamily="34" charset="-122"/>
                <a:cs typeface="Calibri" pitchFamily="34" charset="-120"/>
              </a:rPr>
              <a:t>98.8%</a:t>
            </a:r>
            <a:endParaRPr lang="en-US" sz="3800" dirty="0"/>
          </a:p>
        </p:txBody>
      </p:sp>
      <p:sp>
        <p:nvSpPr>
          <p:cNvPr id="9" name="Text 6"/>
          <p:cNvSpPr txBox="1"/>
          <p:nvPr/>
        </p:nvSpPr>
        <p:spPr>
          <a:xfrm>
            <a:off x="8074152" y="2880360"/>
            <a:ext cx="3236976" cy="0"/>
          </a:xfrm>
          <a:prstGeom prst="rect">
            <a:avLst/>
          </a:prstGeom>
          <a:noFill/>
          <a:ln/>
        </p:spPr>
        <p:txBody>
          <a:bodyPr wrap="square" lIns="0" tIns="0" rIns="0" bIns="0" rtlCol="0" anchor="t"/>
          <a:lstStyle/>
          <a:p>
            <a:pPr algn="ctr" indent="0" marL="0">
              <a:lnSpc>
                <a:spcPct val="113000"/>
              </a:lnSpc>
              <a:buNone/>
            </a:pPr>
            <a:r>
              <a:rPr lang="en-US" sz="1100" dirty="0">
                <a:solidFill>
                  <a:srgbClr val="5C6180"/>
                </a:solidFill>
                <a:latin typeface="Calibri" pitchFamily="34" charset="0"/>
                <a:ea typeface="Calibri" pitchFamily="34" charset="-122"/>
                <a:cs typeface="Calibri" pitchFamily="34" charset="-120"/>
              </a:rPr>
              <a:t>1,806 of 1,827</a:t>
            </a:r>
            <a:endParaRPr lang="en-US" sz="1100" dirty="0"/>
          </a:p>
        </p:txBody>
      </p:sp>
      <p:sp>
        <p:nvSpPr>
          <p:cNvPr id="10" name="Shape 7"/>
          <p:cNvSpPr/>
          <p:nvPr/>
        </p:nvSpPr>
        <p:spPr>
          <a:xfrm>
            <a:off x="7818120" y="3456432"/>
            <a:ext cx="3749040" cy="1051560"/>
          </a:xfrm>
          <a:prstGeom prst="roundRect">
            <a:avLst>
              <a:gd name="adj" fmla="val 5217"/>
            </a:avLst>
          </a:prstGeom>
          <a:solidFill>
            <a:srgbClr val="EEF0FA"/>
          </a:solidFill>
          <a:ln w="12700">
            <a:solidFill>
              <a:srgbClr val="D6DAEE"/>
            </a:solidFill>
            <a:prstDash val="solid"/>
          </a:ln>
        </p:spPr>
      </p:sp>
      <p:sp>
        <p:nvSpPr>
          <p:cNvPr id="11" name="Text 8"/>
          <p:cNvSpPr txBox="1"/>
          <p:nvPr/>
        </p:nvSpPr>
        <p:spPr>
          <a:xfrm>
            <a:off x="8074152" y="3602736"/>
            <a:ext cx="3236976" cy="0"/>
          </a:xfrm>
          <a:prstGeom prst="rect">
            <a:avLst/>
          </a:prstGeom>
          <a:noFill/>
          <a:ln/>
        </p:spPr>
        <p:txBody>
          <a:bodyPr wrap="square" lIns="0" tIns="0" rIns="0" bIns="0" rtlCol="0" anchor="t"/>
          <a:lstStyle/>
          <a:p>
            <a:pPr algn="l" indent="0" marL="0">
              <a:lnSpc>
                <a:spcPct val="113000"/>
              </a:lnSpc>
              <a:buNone/>
            </a:pPr>
            <a:r>
              <a:rPr lang="en-US" sz="1100" b="1" dirty="0">
                <a:solidFill>
                  <a:srgbClr val="5C6180"/>
                </a:solidFill>
                <a:latin typeface="Calibri" pitchFamily="34" charset="0"/>
                <a:ea typeface="Calibri" pitchFamily="34" charset="-122"/>
                <a:cs typeface="Calibri" pitchFamily="34" charset="-120"/>
              </a:rPr>
              <a:t>Primary metric</a:t>
            </a:r>
            <a:endParaRPr lang="en-US" sz="1100" dirty="0"/>
          </a:p>
        </p:txBody>
      </p:sp>
      <p:sp>
        <p:nvSpPr>
          <p:cNvPr id="12" name="Text 9"/>
          <p:cNvSpPr txBox="1"/>
          <p:nvPr/>
        </p:nvSpPr>
        <p:spPr>
          <a:xfrm>
            <a:off x="8074152" y="3877056"/>
            <a:ext cx="3236976" cy="0"/>
          </a:xfrm>
          <a:prstGeom prst="rect">
            <a:avLst/>
          </a:prstGeom>
          <a:noFill/>
          <a:ln/>
        </p:spPr>
        <p:txBody>
          <a:bodyPr wrap="square" lIns="0" tIns="0" rIns="0" bIns="0" rtlCol="0" anchor="t"/>
          <a:lstStyle/>
          <a:p>
            <a:pPr algn="l" indent="0" marL="0">
              <a:lnSpc>
                <a:spcPct val="113000"/>
              </a:lnSpc>
              <a:buNone/>
            </a:pPr>
            <a:r>
              <a:rPr lang="en-US" sz="1350" b="1" dirty="0">
                <a:solidFill>
                  <a:srgbClr val="2F3596"/>
                </a:solidFill>
                <a:latin typeface="Calibri" pitchFamily="34" charset="0"/>
                <a:ea typeface="Calibri" pitchFamily="34" charset="-122"/>
                <a:cs typeface="Calibri" pitchFamily="34" charset="-120"/>
              </a:rPr>
              <a:t>Spearman over all 55</a:t>
            </a:r>
            <a:endParaRPr lang="en-US" sz="1350" dirty="0"/>
          </a:p>
        </p:txBody>
      </p:sp>
      <p:sp>
        <p:nvSpPr>
          <p:cNvPr id="13" name="Shape 10"/>
          <p:cNvSpPr/>
          <p:nvPr/>
        </p:nvSpPr>
        <p:spPr>
          <a:xfrm>
            <a:off x="7818120" y="4645152"/>
            <a:ext cx="3749040" cy="1527048"/>
          </a:xfrm>
          <a:prstGeom prst="roundRect">
            <a:avLst>
              <a:gd name="adj" fmla="val 3593"/>
            </a:avLst>
          </a:prstGeom>
          <a:solidFill>
            <a:srgbClr val="FBEEE2"/>
          </a:solidFill>
          <a:ln w="12700">
            <a:solidFill>
              <a:srgbClr val="E8C9A8"/>
            </a:solidFill>
            <a:prstDash val="solid"/>
          </a:ln>
        </p:spPr>
      </p:sp>
      <p:sp>
        <p:nvSpPr>
          <p:cNvPr id="14" name="Text 11"/>
          <p:cNvSpPr txBox="1"/>
          <p:nvPr/>
        </p:nvSpPr>
        <p:spPr>
          <a:xfrm>
            <a:off x="8074152" y="4809744"/>
            <a:ext cx="3236976" cy="0"/>
          </a:xfrm>
          <a:prstGeom prst="rect">
            <a:avLst/>
          </a:prstGeom>
          <a:noFill/>
          <a:ln/>
        </p:spPr>
        <p:txBody>
          <a:bodyPr wrap="square" lIns="0" tIns="0" rIns="0" bIns="0" rtlCol="0" anchor="t"/>
          <a:lstStyle/>
          <a:p>
            <a:pPr algn="l" indent="0" marL="0">
              <a:lnSpc>
                <a:spcPct val="113000"/>
              </a:lnSpc>
              <a:buNone/>
            </a:pPr>
            <a:r>
              <a:rPr lang="en-US" sz="1200" b="1" dirty="0">
                <a:solidFill>
                  <a:srgbClr val="C0692B"/>
                </a:solidFill>
                <a:latin typeface="Calibri" pitchFamily="34" charset="0"/>
                <a:ea typeface="Calibri" pitchFamily="34" charset="-122"/>
                <a:cs typeface="Calibri" pitchFamily="34" charset="-120"/>
              </a:rPr>
              <a:t>Per-bin cannot be primary</a:t>
            </a:r>
            <a:endParaRPr lang="en-US" sz="1200" dirty="0"/>
          </a:p>
        </p:txBody>
      </p:sp>
      <p:sp>
        <p:nvSpPr>
          <p:cNvPr id="15" name="Text 12"/>
          <p:cNvSpPr txBox="1"/>
          <p:nvPr/>
        </p:nvSpPr>
        <p:spPr>
          <a:xfrm>
            <a:off x="8074152" y="5102352"/>
            <a:ext cx="3236976" cy="0"/>
          </a:xfrm>
          <a:prstGeom prst="rect">
            <a:avLst/>
          </a:prstGeom>
          <a:noFill/>
          <a:ln/>
        </p:spPr>
        <p:txBody>
          <a:bodyPr wrap="square" lIns="0" tIns="0" rIns="0" bIns="0" rtlCol="0" anchor="t"/>
          <a:lstStyle/>
          <a:p>
            <a:pPr algn="l" indent="0" marL="0">
              <a:lnSpc>
                <a:spcPct val="116000"/>
              </a:lnSpc>
              <a:buNone/>
            </a:pPr>
            <a:r>
              <a:rPr lang="en-US" sz="1000" dirty="0">
                <a:solidFill>
                  <a:srgbClr val="1C1E33"/>
                </a:solidFill>
                <a:latin typeface="Calibri" pitchFamily="34" charset="0"/>
                <a:ea typeface="Calibri" pitchFamily="34" charset="-122"/>
                <a:cs typeface="Calibri" pitchFamily="34" charset="-120"/>
              </a:rPr>
              <a:t>The ≥ 60 bin has 2 evaluation sequences and &lt; 30 has 3. Rank correlations at that size carry intervals far too wide. Only 40–50 (27) and 30–40 (19) are reported separately; the tails are pooled.</a:t>
            </a:r>
            <a:endParaRPr lang="en-US" sz="1000" dirty="0"/>
          </a:p>
        </p:txBody>
      </p:sp>
      <p:sp>
        <p:nvSpPr>
          <p:cNvPr id="17" name="Text 13"/>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③  EXPERIMENTS</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Same training data, same evaluation set — only order, mode and volume differ</a:t>
            </a:r>
            <a:endParaRPr lang="en-US" sz="2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72800" cy="914400"/>
        </p:xfrm>
        <a:graphic>
          <a:graphicData uri="http://schemas.openxmlformats.org/drawingml/2006/table">
            <a:tbl>
              <a:tblPr/>
              <a:tblGrid>
                <a:gridCol w="640080"/>
                <a:gridCol w="2148840"/>
                <a:gridCol w="1691640"/>
                <a:gridCol w="2331720"/>
                <a:gridCol w="3154680"/>
                <a:gridCol w="1005840"/>
              </a:tblGrid>
              <a:tr h="402336">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Order</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Volume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Question answered</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Reps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402336">
                <a:tc>
                  <a:txBody>
                    <a:bodyPr/>
                    <a:lstStyle/>
                    <a:p>
                      <a:pPr algn="l" indent="0" marL="0">
                        <a:buNone/>
                      </a:pPr>
                      <a:r>
                        <a:rPr lang="en-US" sz="1100" b="1" dirty="0">
                          <a:solidFill>
                            <a:srgbClr val="2F3596"/>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sequential (warm-start)</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by identity</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4 → 14 → 94 → 150 → 157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does identity-ordered training help</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402336">
                <a:tc>
                  <a:txBody>
                    <a:bodyPr/>
                    <a:lstStyle/>
                    <a:p>
                      <a:pPr algn="l" indent="0" marL="0">
                        <a:buNone/>
                      </a:pPr>
                      <a:r>
                        <a:rPr lang="en-US" sz="1100" b="1" dirty="0">
                          <a:solidFill>
                            <a:srgbClr val="2F3596"/>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all at once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157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upper baseline, endpoint for A</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402336">
                <a:tc>
                  <a:txBody>
                    <a:bodyPr/>
                    <a:lstStyle/>
                    <a:p>
                      <a:pPr algn="l" indent="0" marL="0">
                        <a:buNone/>
                      </a:pPr>
                      <a:r>
                        <a:rPr lang="en-US" sz="1100" b="1" dirty="0">
                          <a:solidFill>
                            <a:srgbClr val="C0692B"/>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sequential</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random</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same sizes as A</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isolates the contribution of order</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402336">
                <a:tc>
                  <a:txBody>
                    <a:bodyPr/>
                    <a:lstStyle/>
                    <a:p>
                      <a:pPr algn="l" indent="0" marL="0">
                        <a:buNone/>
                      </a:pPr>
                      <a:r>
                        <a:rPr lang="en-US" sz="1100" b="1" dirty="0">
                          <a:solidFill>
                            <a:srgbClr val="2F3596"/>
                          </a:solidFill>
                          <a:latin typeface="Calibri" pitchFamily="34" charset="0"/>
                          <a:ea typeface="Calibri" pitchFamily="34" charset="-122"/>
                          <a:cs typeface="Calibri" pitchFamily="34" charset="-120"/>
                        </a:rPr>
                        <a:t>D1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all at once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random (stratified)</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20 · 40 · … · 157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where data volume saturates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402336">
                <a:tc>
                  <a:txBody>
                    <a:bodyPr/>
                    <a:lstStyle/>
                    <a:p>
                      <a:pPr algn="l" indent="0" marL="0">
                        <a:buNone/>
                      </a:pPr>
                      <a:r>
                        <a:rPr lang="en-US" sz="1100" b="1" dirty="0">
                          <a:solidFill>
                            <a:srgbClr val="2F3596"/>
                          </a:solidFill>
                          <a:latin typeface="Calibri" pitchFamily="34" charset="0"/>
                          <a:ea typeface="Calibri" pitchFamily="34" charset="-122"/>
                          <a:cs typeface="Calibri" pitchFamily="34" charset="-120"/>
                        </a:rPr>
                        <a:t>D2</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all at once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157 + 109 = 266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was one representative enough</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5" name="Shape 2"/>
          <p:cNvSpPr/>
          <p:nvPr/>
        </p:nvSpPr>
        <p:spPr>
          <a:xfrm>
            <a:off x="594360" y="4434840"/>
            <a:ext cx="3520440" cy="1417320"/>
          </a:xfrm>
          <a:prstGeom prst="roundRect">
            <a:avLst>
              <a:gd name="adj" fmla="val 3871"/>
            </a:avLst>
          </a:prstGeom>
          <a:solidFill>
            <a:srgbClr val="FBEEE2"/>
          </a:solidFill>
          <a:ln w="12700">
            <a:solidFill>
              <a:srgbClr val="E8C9A8"/>
            </a:solidFill>
            <a:prstDash val="solid"/>
          </a:ln>
        </p:spPr>
      </p:sp>
      <p:sp>
        <p:nvSpPr>
          <p:cNvPr id="6" name="Text 3"/>
          <p:cNvSpPr txBox="1"/>
          <p:nvPr/>
        </p:nvSpPr>
        <p:spPr>
          <a:xfrm>
            <a:off x="822960" y="4590288"/>
            <a:ext cx="3063240" cy="0"/>
          </a:xfrm>
          <a:prstGeom prst="rect">
            <a:avLst/>
          </a:prstGeom>
          <a:noFill/>
          <a:ln/>
        </p:spPr>
        <p:txBody>
          <a:bodyPr wrap="square" lIns="0" tIns="0" rIns="0" bIns="0" rtlCol="0" anchor="t"/>
          <a:lstStyle/>
          <a:p>
            <a:pPr algn="l" indent="0" marL="0">
              <a:lnSpc>
                <a:spcPct val="113000"/>
              </a:lnSpc>
              <a:buNone/>
            </a:pPr>
            <a:r>
              <a:rPr lang="en-US" sz="1200" b="1" dirty="0">
                <a:solidFill>
                  <a:srgbClr val="C0692B"/>
                </a:solidFill>
                <a:latin typeface="Calibri" pitchFamily="34" charset="0"/>
                <a:ea typeface="Calibri" pitchFamily="34" charset="-122"/>
                <a:cs typeface="Calibri" pitchFamily="34" charset="-120"/>
              </a:rPr>
              <a:t>Why C is indispensable</a:t>
            </a:r>
            <a:endParaRPr lang="en-US" sz="1200" dirty="0"/>
          </a:p>
        </p:txBody>
      </p:sp>
      <p:sp>
        <p:nvSpPr>
          <p:cNvPr id="7" name="Text 4"/>
          <p:cNvSpPr txBox="1"/>
          <p:nvPr/>
        </p:nvSpPr>
        <p:spPr>
          <a:xfrm>
            <a:off x="822960" y="4901184"/>
            <a:ext cx="3063240" cy="0"/>
          </a:xfrm>
          <a:prstGeom prst="rect">
            <a:avLst/>
          </a:prstGeom>
          <a:noFill/>
          <a:ln/>
        </p:spPr>
        <p:txBody>
          <a:bodyPr wrap="square" lIns="0" tIns="0" rIns="0" bIns="0" rtlCol="0" anchor="t"/>
          <a:lstStyle/>
          <a:p>
            <a:pPr algn="l" indent="0" marL="0">
              <a:lnSpc>
                <a:spcPct val="116000"/>
              </a:lnSpc>
              <a:buNone/>
            </a:pPr>
            <a:r>
              <a:rPr lang="en-US" sz="1100" dirty="0">
                <a:solidFill>
                  <a:srgbClr val="1C1E33"/>
                </a:solidFill>
                <a:latin typeface="Calibri" pitchFamily="34" charset="0"/>
                <a:ea typeface="Calibri" pitchFamily="34" charset="-122"/>
                <a:cs typeface="Calibri" pitchFamily="34" charset="-120"/>
              </a:rPr>
              <a:t>Without C, the gap between A and B cannot be attributed to sequencing versus identity ordering.</a:t>
            </a:r>
            <a:endParaRPr lang="en-US" sz="1100" dirty="0"/>
          </a:p>
        </p:txBody>
      </p:sp>
      <p:sp>
        <p:nvSpPr>
          <p:cNvPr id="8" name="Shape 5"/>
          <p:cNvSpPr/>
          <p:nvPr/>
        </p:nvSpPr>
        <p:spPr>
          <a:xfrm>
            <a:off x="4361688" y="4434840"/>
            <a:ext cx="3520440" cy="1417320"/>
          </a:xfrm>
          <a:prstGeom prst="roundRect">
            <a:avLst>
              <a:gd name="adj" fmla="val 3871"/>
            </a:avLst>
          </a:prstGeom>
          <a:solidFill>
            <a:srgbClr val="F7F8FC"/>
          </a:solidFill>
          <a:ln w="12700">
            <a:solidFill>
              <a:srgbClr val="D6DAEE"/>
            </a:solidFill>
            <a:prstDash val="solid"/>
          </a:ln>
        </p:spPr>
      </p:sp>
      <p:sp>
        <p:nvSpPr>
          <p:cNvPr id="9" name="Text 6"/>
          <p:cNvSpPr txBox="1"/>
          <p:nvPr/>
        </p:nvSpPr>
        <p:spPr>
          <a:xfrm>
            <a:off x="4590288" y="4590288"/>
            <a:ext cx="3063240" cy="0"/>
          </a:xfrm>
          <a:prstGeom prst="rect">
            <a:avLst/>
          </a:prstGeom>
          <a:noFill/>
          <a:ln/>
        </p:spPr>
        <p:txBody>
          <a:bodyPr wrap="square" lIns="0" tIns="0" rIns="0" bIns="0" rtlCol="0" anchor="t"/>
          <a:lstStyle/>
          <a:p>
            <a:pPr algn="l" indent="0" marL="0">
              <a:lnSpc>
                <a:spcPct val="113000"/>
              </a:lnSpc>
              <a:buNone/>
            </a:pPr>
            <a:r>
              <a:rPr lang="en-US" sz="1200" b="1" dirty="0">
                <a:solidFill>
                  <a:srgbClr val="2F3596"/>
                </a:solidFill>
                <a:latin typeface="Calibri" pitchFamily="34" charset="0"/>
                <a:ea typeface="Calibri" pitchFamily="34" charset="-122"/>
                <a:cs typeface="Calibri" pitchFamily="34" charset="-120"/>
              </a:rPr>
              <a:t>A requires warm-start training</a:t>
            </a:r>
            <a:endParaRPr lang="en-US" sz="1200" dirty="0"/>
          </a:p>
        </p:txBody>
      </p:sp>
      <p:sp>
        <p:nvSpPr>
          <p:cNvPr id="10" name="Text 7"/>
          <p:cNvSpPr txBox="1"/>
          <p:nvPr/>
        </p:nvSpPr>
        <p:spPr>
          <a:xfrm>
            <a:off x="4590288" y="4901184"/>
            <a:ext cx="3063240" cy="0"/>
          </a:xfrm>
          <a:prstGeom prst="rect">
            <a:avLst/>
          </a:prstGeom>
          <a:noFill/>
          <a:ln/>
        </p:spPr>
        <p:txBody>
          <a:bodyPr wrap="square" lIns="0" tIns="0" rIns="0" bIns="0" rtlCol="0" anchor="t"/>
          <a:lstStyle/>
          <a:p>
            <a:pPr algn="l" indent="0" marL="0">
              <a:lnSpc>
                <a:spcPct val="116000"/>
              </a:lnSpc>
              <a:buNone/>
            </a:pPr>
            <a:r>
              <a:rPr lang="en-US" sz="1100" dirty="0">
                <a:solidFill>
                  <a:srgbClr val="1C1E33"/>
                </a:solidFill>
                <a:latin typeface="Calibri" pitchFamily="34" charset="0"/>
                <a:ea typeface="Calibri" pitchFamily="34" charset="-122"/>
                <a:cs typeface="Calibri" pitchFamily="34" charset="-120"/>
              </a:rPr>
              <a:t>Cumulative retraining would make A's final point identical to B, erasing the contrast. Ridge, SVR and RF have no warm-start notion.</a:t>
            </a:r>
            <a:endParaRPr lang="en-US" sz="1100" dirty="0"/>
          </a:p>
        </p:txBody>
      </p:sp>
      <p:sp>
        <p:nvSpPr>
          <p:cNvPr id="11" name="Shape 8"/>
          <p:cNvSpPr/>
          <p:nvPr/>
        </p:nvSpPr>
        <p:spPr>
          <a:xfrm>
            <a:off x="8129016" y="4434840"/>
            <a:ext cx="3520440" cy="1417320"/>
          </a:xfrm>
          <a:prstGeom prst="roundRect">
            <a:avLst>
              <a:gd name="adj" fmla="val 3871"/>
            </a:avLst>
          </a:prstGeom>
          <a:solidFill>
            <a:srgbClr val="F7F8FC"/>
          </a:solidFill>
          <a:ln w="12700">
            <a:solidFill>
              <a:srgbClr val="D6DAEE"/>
            </a:solidFill>
            <a:prstDash val="solid"/>
          </a:ln>
        </p:spPr>
      </p:sp>
      <p:sp>
        <p:nvSpPr>
          <p:cNvPr id="12" name="Text 9"/>
          <p:cNvSpPr txBox="1"/>
          <p:nvPr/>
        </p:nvSpPr>
        <p:spPr>
          <a:xfrm>
            <a:off x="8357616" y="4590288"/>
            <a:ext cx="3063240" cy="0"/>
          </a:xfrm>
          <a:prstGeom prst="rect">
            <a:avLst/>
          </a:prstGeom>
          <a:noFill/>
          <a:ln/>
        </p:spPr>
        <p:txBody>
          <a:bodyPr wrap="square" lIns="0" tIns="0" rIns="0" bIns="0" rtlCol="0" anchor="t"/>
          <a:lstStyle/>
          <a:p>
            <a:pPr algn="l" indent="0" marL="0">
              <a:lnSpc>
                <a:spcPct val="113000"/>
              </a:lnSpc>
              <a:buNone/>
            </a:pPr>
            <a:r>
              <a:rPr lang="en-US" sz="1200" b="1" dirty="0">
                <a:solidFill>
                  <a:srgbClr val="2F3596"/>
                </a:solidFill>
                <a:latin typeface="Calibri" pitchFamily="34" charset="0"/>
                <a:ea typeface="Calibri" pitchFamily="34" charset="-122"/>
                <a:cs typeface="Calibri" pitchFamily="34" charset="-120"/>
              </a:rPr>
              <a:t>Embeddings computed once</a:t>
            </a:r>
            <a:endParaRPr lang="en-US" sz="1200" dirty="0"/>
          </a:p>
        </p:txBody>
      </p:sp>
      <p:sp>
        <p:nvSpPr>
          <p:cNvPr id="13" name="Text 10"/>
          <p:cNvSpPr txBox="1"/>
          <p:nvPr/>
        </p:nvSpPr>
        <p:spPr>
          <a:xfrm>
            <a:off x="8357616" y="4901184"/>
            <a:ext cx="3063240" cy="0"/>
          </a:xfrm>
          <a:prstGeom prst="rect">
            <a:avLst/>
          </a:prstGeom>
          <a:noFill/>
          <a:ln/>
        </p:spPr>
        <p:txBody>
          <a:bodyPr wrap="square" lIns="0" tIns="0" rIns="0" bIns="0" rtlCol="0" anchor="t"/>
          <a:lstStyle/>
          <a:p>
            <a:pPr algn="l" indent="0" marL="0">
              <a:lnSpc>
                <a:spcPct val="116000"/>
              </a:lnSpc>
              <a:buNone/>
            </a:pPr>
            <a:r>
              <a:rPr lang="en-US" sz="1100" dirty="0">
                <a:solidFill>
                  <a:srgbClr val="1C1E33"/>
                </a:solidFill>
                <a:latin typeface="Calibri" pitchFamily="34" charset="0"/>
                <a:ea typeface="Calibri" pitchFamily="34" charset="-122"/>
                <a:cs typeface="Calibri" pitchFamily="34" charset="-120"/>
              </a:rPr>
              <a:t>72 training runs but only 321 unique sequences. ESM embeddings are cached per sequence.</a:t>
            </a:r>
            <a:endParaRPr lang="en-US" sz="1100" dirty="0"/>
          </a:p>
        </p:txBody>
      </p:sp>
      <p:sp>
        <p:nvSpPr>
          <p:cNvPr id="14" name="Text 11"/>
          <p:cNvSpPr txBox="1"/>
          <p:nvPr/>
        </p:nvSpPr>
        <p:spPr>
          <a:xfrm>
            <a:off x="594360" y="6016752"/>
            <a:ext cx="10972800" cy="0"/>
          </a:xfrm>
          <a:prstGeom prst="rect">
            <a:avLst/>
          </a:prstGeom>
          <a:noFill/>
          <a:ln/>
        </p:spPr>
        <p:txBody>
          <a:bodyPr wrap="square" lIns="0" tIns="0" rIns="0" bIns="0" rtlCol="0" anchor="t"/>
          <a:lstStyle/>
          <a:p>
            <a:pPr algn="l" indent="0" marL="0">
              <a:lnSpc>
                <a:spcPct val="113000"/>
              </a:lnSpc>
              <a:buNone/>
            </a:pPr>
            <a:r>
              <a:rPr lang="en-US" sz="1150" b="1" dirty="0">
                <a:solidFill>
                  <a:srgbClr val="C0692B"/>
                </a:solidFill>
                <a:latin typeface="Calibri" pitchFamily="34" charset="0"/>
                <a:ea typeface="Calibri" pitchFamily="34" charset="-122"/>
                <a:cs typeface="Calibri" pitchFamily="34" charset="-120"/>
              </a:rPr>
              <a:t>OPEN — the structure of the SeekRank regression head must be confirmed; whether experiment A is feasible depends on it.</a:t>
            </a:r>
            <a:endParaRPr lang="en-US" sz="1150" dirty="0"/>
          </a:p>
        </p:txBody>
      </p:sp>
      <p:sp>
        <p:nvSpPr>
          <p:cNvPr id="16" name="Text 12"/>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④  STRUCTURES</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All 321 dimers assembled — references split by architecture</a:t>
            </a:r>
            <a:endParaRPr lang="en-US" sz="2600" dirty="0"/>
          </a:p>
        </p:txBody>
      </p:sp>
      <p:sp>
        <p:nvSpPr>
          <p:cNvPr id="4" name="Text 2"/>
          <p:cNvSpPr txBox="1"/>
          <p:nvPr/>
        </p:nvSpPr>
        <p:spPr>
          <a:xfrm>
            <a:off x="594360" y="1783080"/>
            <a:ext cx="5394960" cy="0"/>
          </a:xfrm>
          <a:prstGeom prst="rect">
            <a:avLst/>
          </a:prstGeom>
          <a:noFill/>
          <a:ln/>
        </p:spPr>
        <p:txBody>
          <a:bodyPr wrap="square" lIns="0" tIns="0" rIns="0" bIns="0" rtlCol="0" anchor="t"/>
          <a:lstStyle/>
          <a:p>
            <a:pPr algn="l" indent="0" marL="0">
              <a:lnSpc>
                <a:spcPct val="113000"/>
              </a:lnSpc>
              <a:buNone/>
            </a:pPr>
            <a:r>
              <a:rPr lang="en-US" sz="1350" b="1" dirty="0">
                <a:solidFill>
                  <a:srgbClr val="1C1E33"/>
                </a:solidFill>
                <a:latin typeface="Calibri" pitchFamily="34" charset="0"/>
                <a:ea typeface="Calibri" pitchFamily="34" charset="-122"/>
                <a:cs typeface="Calibri" pitchFamily="34" charset="-120"/>
              </a:rPr>
              <a:t>Structure sources</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94360" y="2130552"/>
          <a:ext cx="5394960" cy="914400"/>
        </p:xfrm>
        <a:graphic>
          <a:graphicData uri="http://schemas.openxmlformats.org/drawingml/2006/table">
            <a:tbl>
              <a:tblPr/>
              <a:tblGrid>
                <a:gridCol w="1371600"/>
                <a:gridCol w="868680"/>
                <a:gridCol w="3154680"/>
              </a:tblGrid>
              <a:tr h="347472">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Count</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Note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47472">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AFDB</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298</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downloaded</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47472">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ColabFold</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23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A0AB* / A0AC* — not in AFDB</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47472">
                <a:tc>
                  <a:txBody>
                    <a:bodyPr/>
                    <a:lstStyle/>
                    <a:p>
                      <a:pPr algn="l" indent="0" marL="0">
                        <a:buNone/>
                      </a:pPr>
                      <a:r>
                        <a:rPr lang="en-US" sz="1100" b="1" dirty="0">
                          <a:solidFill>
                            <a:srgbClr val="1C1E33"/>
                          </a:solidFill>
                          <a:latin typeface="Calibri" pitchFamily="34" charset="0"/>
                          <a:ea typeface="Calibri" pitchFamily="34" charset="-122"/>
                          <a:cs typeface="Calibri" pitchFamily="34" charset="-120"/>
                        </a:rPr>
                        <a:t>Total</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321</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1C1E33"/>
                          </a:solidFill>
                          <a:latin typeface="Calibri" pitchFamily="34" charset="0"/>
                          <a:ea typeface="Calibri" pitchFamily="34" charset="-122"/>
                          <a:cs typeface="Calibri" pitchFamily="34" charset="-120"/>
                        </a:rPr>
                        <a:t>core 212 + D2 expansion 109</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6" name="Shape 3"/>
          <p:cNvSpPr/>
          <p:nvPr/>
        </p:nvSpPr>
        <p:spPr>
          <a:xfrm>
            <a:off x="594360" y="3703320"/>
            <a:ext cx="5394960" cy="1097280"/>
          </a:xfrm>
          <a:prstGeom prst="roundRect">
            <a:avLst>
              <a:gd name="adj" fmla="val 5000"/>
            </a:avLst>
          </a:prstGeom>
          <a:solidFill>
            <a:srgbClr val="FBEEE2"/>
          </a:solidFill>
          <a:ln w="12700">
            <a:solidFill>
              <a:srgbClr val="E8C9A8"/>
            </a:solidFill>
            <a:prstDash val="solid"/>
          </a:ln>
        </p:spPr>
      </p:sp>
      <p:sp>
        <p:nvSpPr>
          <p:cNvPr id="7" name="Text 4"/>
          <p:cNvSpPr txBox="1"/>
          <p:nvPr/>
        </p:nvSpPr>
        <p:spPr>
          <a:xfrm>
            <a:off x="850392" y="3858768"/>
            <a:ext cx="4882896" cy="0"/>
          </a:xfrm>
          <a:prstGeom prst="rect">
            <a:avLst/>
          </a:prstGeom>
          <a:noFill/>
          <a:ln/>
        </p:spPr>
        <p:txBody>
          <a:bodyPr wrap="square" lIns="0" tIns="0" rIns="0" bIns="0" rtlCol="0" anchor="t"/>
          <a:lstStyle/>
          <a:p>
            <a:pPr algn="l" indent="0" marL="0">
              <a:lnSpc>
                <a:spcPct val="113000"/>
              </a:lnSpc>
              <a:buNone/>
            </a:pPr>
            <a:r>
              <a:rPr lang="en-US" sz="1200" b="1" dirty="0">
                <a:solidFill>
                  <a:srgbClr val="C0692B"/>
                </a:solidFill>
                <a:latin typeface="Calibri" pitchFamily="34" charset="0"/>
                <a:ea typeface="Calibri" pitchFamily="34" charset="-122"/>
                <a:cs typeface="Calibri" pitchFamily="34" charset="-120"/>
              </a:rPr>
              <a:t>Two prediction methods are mixed</a:t>
            </a:r>
            <a:endParaRPr lang="en-US" sz="1200" dirty="0"/>
          </a:p>
        </p:txBody>
      </p:sp>
      <p:sp>
        <p:nvSpPr>
          <p:cNvPr id="8" name="Text 5"/>
          <p:cNvSpPr txBox="1"/>
          <p:nvPr/>
        </p:nvSpPr>
        <p:spPr>
          <a:xfrm>
            <a:off x="850392" y="4160520"/>
            <a:ext cx="4882896" cy="0"/>
          </a:xfrm>
          <a:prstGeom prst="rect">
            <a:avLst/>
          </a:prstGeom>
          <a:noFill/>
          <a:ln/>
        </p:spPr>
        <p:txBody>
          <a:bodyPr wrap="square" lIns="0" tIns="0" rIns="0" bIns="0" rtlCol="0" anchor="t"/>
          <a:lstStyle/>
          <a:p>
            <a:pPr algn="l" indent="0" marL="0">
              <a:lnSpc>
                <a:spcPct val="116000"/>
              </a:lnSpc>
              <a:buNone/>
            </a:pPr>
            <a:r>
              <a:rPr lang="en-US" sz="1100" dirty="0">
                <a:solidFill>
                  <a:srgbClr val="1C1E33"/>
                </a:solidFill>
                <a:latin typeface="Calibri" pitchFamily="34" charset="0"/>
                <a:ea typeface="Calibri" pitchFamily="34" charset="-122"/>
                <a:cs typeface="Calibri" pitchFamily="34" charset="-120"/>
              </a:rPr>
              <a:t>Both are AlphaFold2, but the MSA pipelines differ. Recorded in a struct_source column and checked against score after docking.</a:t>
            </a:r>
            <a:endParaRPr lang="en-US" sz="1100" dirty="0"/>
          </a:p>
        </p:txBody>
      </p:sp>
      <p:sp>
        <p:nvSpPr>
          <p:cNvPr id="9" name="Text 6"/>
          <p:cNvSpPr txBox="1"/>
          <p:nvPr/>
        </p:nvSpPr>
        <p:spPr>
          <a:xfrm>
            <a:off x="594360" y="4956048"/>
            <a:ext cx="5394960" cy="0"/>
          </a:xfrm>
          <a:prstGeom prst="rect">
            <a:avLst/>
          </a:prstGeom>
          <a:noFill/>
          <a:ln/>
        </p:spPr>
        <p:txBody>
          <a:bodyPr wrap="square" lIns="0" tIns="0" rIns="0" bIns="0" rtlCol="0" anchor="t"/>
          <a:lstStyle/>
          <a:p>
            <a:pPr algn="l" indent="0" marL="0">
              <a:lnSpc>
                <a:spcPct val="113000"/>
              </a:lnSpc>
              <a:buNone/>
            </a:pPr>
            <a:r>
              <a:rPr lang="en-US" sz="1350" b="1" dirty="0">
                <a:solidFill>
                  <a:srgbClr val="1C1E33"/>
                </a:solidFill>
                <a:latin typeface="Calibri" pitchFamily="34" charset="0"/>
                <a:ea typeface="Calibri" pitchFamily="34" charset="-122"/>
                <a:cs typeface="Calibri" pitchFamily="34" charset="-120"/>
              </a:rPr>
              <a:t>Assembly quality</a:t>
            </a:r>
            <a:endParaRPr lang="en-US" sz="1350" dirty="0"/>
          </a:p>
        </p:txBody>
      </p:sp>
      <p:sp>
        <p:nvSpPr>
          <p:cNvPr id="10" name="Shape 7"/>
          <p:cNvSpPr/>
          <p:nvPr/>
        </p:nvSpPr>
        <p:spPr>
          <a:xfrm>
            <a:off x="594360" y="5285232"/>
            <a:ext cx="1298448" cy="749808"/>
          </a:xfrm>
          <a:prstGeom prst="roundRect">
            <a:avLst>
              <a:gd name="adj" fmla="val 7317"/>
            </a:avLst>
          </a:prstGeom>
          <a:solidFill>
            <a:srgbClr val="F7F8FC"/>
          </a:solidFill>
          <a:ln w="12700">
            <a:solidFill>
              <a:srgbClr val="D6DAEE"/>
            </a:solidFill>
            <a:prstDash val="solid"/>
          </a:ln>
        </p:spPr>
      </p:sp>
      <p:sp>
        <p:nvSpPr>
          <p:cNvPr id="11" name="Text 8"/>
          <p:cNvSpPr txBox="1"/>
          <p:nvPr/>
        </p:nvSpPr>
        <p:spPr>
          <a:xfrm>
            <a:off x="640080" y="5394960"/>
            <a:ext cx="1207008" cy="0"/>
          </a:xfrm>
          <a:prstGeom prst="rect">
            <a:avLst/>
          </a:prstGeom>
          <a:noFill/>
          <a:ln/>
        </p:spPr>
        <p:txBody>
          <a:bodyPr wrap="square" lIns="0" tIns="0" rIns="0" bIns="0" rtlCol="0" anchor="t"/>
          <a:lstStyle/>
          <a:p>
            <a:pPr algn="ctr" indent="0" marL="0">
              <a:lnSpc>
                <a:spcPct val="113000"/>
              </a:lnSpc>
              <a:buNone/>
            </a:pPr>
            <a:r>
              <a:rPr lang="en-US" sz="1250" b="1" dirty="0">
                <a:solidFill>
                  <a:srgbClr val="2F3596"/>
                </a:solidFill>
                <a:latin typeface="Calibri" pitchFamily="34" charset="0"/>
                <a:ea typeface="Calibri" pitchFamily="34" charset="-122"/>
                <a:cs typeface="Calibri" pitchFamily="34" charset="-120"/>
              </a:rPr>
              <a:t>321 / 321</a:t>
            </a:r>
            <a:endParaRPr lang="en-US" sz="1250" dirty="0"/>
          </a:p>
        </p:txBody>
      </p:sp>
      <p:sp>
        <p:nvSpPr>
          <p:cNvPr id="12" name="Text 9"/>
          <p:cNvSpPr txBox="1"/>
          <p:nvPr/>
        </p:nvSpPr>
        <p:spPr>
          <a:xfrm>
            <a:off x="640080" y="5705856"/>
            <a:ext cx="120700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succeeded</a:t>
            </a:r>
            <a:endParaRPr lang="en-US" sz="900" dirty="0"/>
          </a:p>
        </p:txBody>
      </p:sp>
      <p:sp>
        <p:nvSpPr>
          <p:cNvPr id="13" name="Shape 10"/>
          <p:cNvSpPr/>
          <p:nvPr/>
        </p:nvSpPr>
        <p:spPr>
          <a:xfrm>
            <a:off x="1965960" y="5285232"/>
            <a:ext cx="1298448" cy="749808"/>
          </a:xfrm>
          <a:prstGeom prst="roundRect">
            <a:avLst>
              <a:gd name="adj" fmla="val 7317"/>
            </a:avLst>
          </a:prstGeom>
          <a:solidFill>
            <a:srgbClr val="F7F8FC"/>
          </a:solidFill>
          <a:ln w="12700">
            <a:solidFill>
              <a:srgbClr val="D6DAEE"/>
            </a:solidFill>
            <a:prstDash val="solid"/>
          </a:ln>
        </p:spPr>
      </p:sp>
      <p:sp>
        <p:nvSpPr>
          <p:cNvPr id="14" name="Text 11"/>
          <p:cNvSpPr txBox="1"/>
          <p:nvPr/>
        </p:nvSpPr>
        <p:spPr>
          <a:xfrm>
            <a:off x="2011680" y="5394960"/>
            <a:ext cx="1207008" cy="0"/>
          </a:xfrm>
          <a:prstGeom prst="rect">
            <a:avLst/>
          </a:prstGeom>
          <a:noFill/>
          <a:ln/>
        </p:spPr>
        <p:txBody>
          <a:bodyPr wrap="square" lIns="0" tIns="0" rIns="0" bIns="0" rtlCol="0" anchor="t"/>
          <a:lstStyle/>
          <a:p>
            <a:pPr algn="ctr" indent="0" marL="0">
              <a:lnSpc>
                <a:spcPct val="113000"/>
              </a:lnSpc>
              <a:buNone/>
            </a:pPr>
            <a:r>
              <a:rPr lang="en-US" sz="1250" b="1" dirty="0">
                <a:solidFill>
                  <a:srgbClr val="1C1E33"/>
                </a:solidFill>
                <a:latin typeface="Calibri" pitchFamily="34" charset="0"/>
                <a:ea typeface="Calibri" pitchFamily="34" charset="-122"/>
                <a:cs typeface="Calibri" pitchFamily="34" charset="-120"/>
              </a:rPr>
              <a:t>0.80 – 1.65</a:t>
            </a:r>
            <a:endParaRPr lang="en-US" sz="1250" dirty="0"/>
          </a:p>
        </p:txBody>
      </p:sp>
      <p:sp>
        <p:nvSpPr>
          <p:cNvPr id="15" name="Text 12"/>
          <p:cNvSpPr txBox="1"/>
          <p:nvPr/>
        </p:nvSpPr>
        <p:spPr>
          <a:xfrm>
            <a:off x="2011680" y="5705856"/>
            <a:ext cx="120700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RMSD by bin</a:t>
            </a:r>
            <a:endParaRPr lang="en-US" sz="900" dirty="0"/>
          </a:p>
        </p:txBody>
      </p:sp>
      <p:sp>
        <p:nvSpPr>
          <p:cNvPr id="16" name="Shape 13"/>
          <p:cNvSpPr/>
          <p:nvPr/>
        </p:nvSpPr>
        <p:spPr>
          <a:xfrm>
            <a:off x="3337560" y="5285232"/>
            <a:ext cx="1298448" cy="749808"/>
          </a:xfrm>
          <a:prstGeom prst="roundRect">
            <a:avLst>
              <a:gd name="adj" fmla="val 7317"/>
            </a:avLst>
          </a:prstGeom>
          <a:solidFill>
            <a:srgbClr val="F7F8FC"/>
          </a:solidFill>
          <a:ln w="12700">
            <a:solidFill>
              <a:srgbClr val="D6DAEE"/>
            </a:solidFill>
            <a:prstDash val="solid"/>
          </a:ln>
        </p:spPr>
      </p:sp>
      <p:sp>
        <p:nvSpPr>
          <p:cNvPr id="17" name="Text 14"/>
          <p:cNvSpPr txBox="1"/>
          <p:nvPr/>
        </p:nvSpPr>
        <p:spPr>
          <a:xfrm>
            <a:off x="3383280" y="5394960"/>
            <a:ext cx="1207008" cy="0"/>
          </a:xfrm>
          <a:prstGeom prst="rect">
            <a:avLst/>
          </a:prstGeom>
          <a:noFill/>
          <a:ln/>
        </p:spPr>
        <p:txBody>
          <a:bodyPr wrap="square" lIns="0" tIns="0" rIns="0" bIns="0" rtlCol="0" anchor="t"/>
          <a:lstStyle/>
          <a:p>
            <a:pPr algn="ctr" indent="0" marL="0">
              <a:lnSpc>
                <a:spcPct val="113000"/>
              </a:lnSpc>
              <a:buNone/>
            </a:pPr>
            <a:r>
              <a:rPr lang="en-US" sz="1250" b="1" dirty="0">
                <a:solidFill>
                  <a:srgbClr val="1C1E33"/>
                </a:solidFill>
                <a:latin typeface="Calibri" pitchFamily="34" charset="0"/>
                <a:ea typeface="Calibri" pitchFamily="34" charset="-122"/>
                <a:cs typeface="Calibri" pitchFamily="34" charset="-120"/>
              </a:rPr>
              <a:t>0 – 1.22</a:t>
            </a:r>
            <a:endParaRPr lang="en-US" sz="1250" dirty="0"/>
          </a:p>
        </p:txBody>
      </p:sp>
      <p:sp>
        <p:nvSpPr>
          <p:cNvPr id="18" name="Text 15"/>
          <p:cNvSpPr txBox="1"/>
          <p:nvPr/>
        </p:nvSpPr>
        <p:spPr>
          <a:xfrm>
            <a:off x="3383280" y="5705856"/>
            <a:ext cx="120700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steric clashes</a:t>
            </a:r>
            <a:endParaRPr lang="en-US" sz="900" dirty="0"/>
          </a:p>
        </p:txBody>
      </p:sp>
      <p:sp>
        <p:nvSpPr>
          <p:cNvPr id="19" name="Shape 16"/>
          <p:cNvSpPr/>
          <p:nvPr/>
        </p:nvSpPr>
        <p:spPr>
          <a:xfrm>
            <a:off x="4709160" y="5285232"/>
            <a:ext cx="1298448" cy="749808"/>
          </a:xfrm>
          <a:prstGeom prst="roundRect">
            <a:avLst>
              <a:gd name="adj" fmla="val 7317"/>
            </a:avLst>
          </a:prstGeom>
          <a:solidFill>
            <a:srgbClr val="F7F8FC"/>
          </a:solidFill>
          <a:ln w="12700">
            <a:solidFill>
              <a:srgbClr val="D6DAEE"/>
            </a:solidFill>
            <a:prstDash val="solid"/>
          </a:ln>
        </p:spPr>
      </p:sp>
      <p:sp>
        <p:nvSpPr>
          <p:cNvPr id="20" name="Text 17"/>
          <p:cNvSpPr txBox="1"/>
          <p:nvPr/>
        </p:nvSpPr>
        <p:spPr>
          <a:xfrm>
            <a:off x="4754880" y="5394960"/>
            <a:ext cx="1207008" cy="0"/>
          </a:xfrm>
          <a:prstGeom prst="rect">
            <a:avLst/>
          </a:prstGeom>
          <a:noFill/>
          <a:ln/>
        </p:spPr>
        <p:txBody>
          <a:bodyPr wrap="square" lIns="0" tIns="0" rIns="0" bIns="0" rtlCol="0" anchor="t"/>
          <a:lstStyle/>
          <a:p>
            <a:pPr algn="ctr" indent="0" marL="0">
              <a:lnSpc>
                <a:spcPct val="113000"/>
              </a:lnSpc>
              <a:buNone/>
            </a:pPr>
            <a:r>
              <a:rPr lang="en-US" sz="1250" b="1" dirty="0">
                <a:solidFill>
                  <a:srgbClr val="1C1E33"/>
                </a:solidFill>
                <a:latin typeface="Calibri" pitchFamily="34" charset="0"/>
                <a:ea typeface="Calibri" pitchFamily="34" charset="-122"/>
                <a:cs typeface="Calibri" pitchFamily="34" charset="-120"/>
              </a:rPr>
              <a:t>94.6 – 96.6</a:t>
            </a:r>
            <a:endParaRPr lang="en-US" sz="1250" dirty="0"/>
          </a:p>
        </p:txBody>
      </p:sp>
      <p:sp>
        <p:nvSpPr>
          <p:cNvPr id="21" name="Text 18"/>
          <p:cNvSpPr txBox="1"/>
          <p:nvPr/>
        </p:nvSpPr>
        <p:spPr>
          <a:xfrm>
            <a:off x="4754880" y="5705856"/>
            <a:ext cx="1207008" cy="0"/>
          </a:xfrm>
          <a:prstGeom prst="rect">
            <a:avLst/>
          </a:prstGeom>
          <a:noFill/>
          <a:ln/>
        </p:spPr>
        <p:txBody>
          <a:bodyPr wrap="square" lIns="0" tIns="0" rIns="0" bIns="0" rtlCol="0" anchor="t"/>
          <a:lstStyle/>
          <a:p>
            <a:pPr algn="ctr" indent="0" marL="0">
              <a:lnSpc>
                <a:spcPct val="113000"/>
              </a:lnSpc>
              <a:buNone/>
            </a:pPr>
            <a:r>
              <a:rPr lang="en-US" sz="900" dirty="0">
                <a:solidFill>
                  <a:srgbClr val="5C6180"/>
                </a:solidFill>
                <a:latin typeface="Calibri" pitchFamily="34" charset="0"/>
                <a:ea typeface="Calibri" pitchFamily="34" charset="-122"/>
                <a:cs typeface="Calibri" pitchFamily="34" charset="-120"/>
              </a:rPr>
              <a:t>pLDDT</a:t>
            </a:r>
            <a:endParaRPr lang="en-US" sz="900" dirty="0"/>
          </a:p>
        </p:txBody>
      </p:sp>
      <p:sp>
        <p:nvSpPr>
          <p:cNvPr id="22" name="Text 19"/>
          <p:cNvSpPr txBox="1"/>
          <p:nvPr/>
        </p:nvSpPr>
        <p:spPr>
          <a:xfrm>
            <a:off x="6446520" y="1783080"/>
            <a:ext cx="5120640" cy="0"/>
          </a:xfrm>
          <a:prstGeom prst="rect">
            <a:avLst/>
          </a:prstGeom>
          <a:noFill/>
          <a:ln/>
        </p:spPr>
        <p:txBody>
          <a:bodyPr wrap="square" lIns="0" tIns="0" rIns="0" bIns="0" rtlCol="0" anchor="t"/>
          <a:lstStyle/>
          <a:p>
            <a:pPr algn="l" indent="0" marL="0">
              <a:lnSpc>
                <a:spcPct val="113000"/>
              </a:lnSpc>
              <a:buNone/>
            </a:pPr>
            <a:r>
              <a:rPr lang="en-US" sz="1350" b="1" dirty="0">
                <a:solidFill>
                  <a:srgbClr val="1C1E33"/>
                </a:solidFill>
                <a:latin typeface="Calibri" pitchFamily="34" charset="0"/>
                <a:ea typeface="Calibri" pitchFamily="34" charset="-122"/>
                <a:cs typeface="Calibri" pitchFamily="34" charset="-120"/>
              </a:rPr>
              <a:t>Reference chosen by D-cluster architecture</a:t>
            </a:r>
            <a:endParaRPr lang="en-US" sz="1350" dirty="0"/>
          </a:p>
        </p:txBody>
      </p:sp>
      <p:sp>
        <p:nvSpPr>
          <p:cNvPr id="23" name="Shape 20"/>
          <p:cNvSpPr/>
          <p:nvPr/>
        </p:nvSpPr>
        <p:spPr>
          <a:xfrm>
            <a:off x="6446520" y="2176272"/>
            <a:ext cx="2286000" cy="685800"/>
          </a:xfrm>
          <a:prstGeom prst="roundRect">
            <a:avLst>
              <a:gd name="adj" fmla="val 6667"/>
            </a:avLst>
          </a:prstGeom>
          <a:solidFill>
            <a:srgbClr val="EEF0FA"/>
          </a:solidFill>
          <a:ln/>
        </p:spPr>
      </p:sp>
      <p:sp>
        <p:nvSpPr>
          <p:cNvPr id="24" name="Text 21"/>
          <p:cNvSpPr txBox="1"/>
          <p:nvPr/>
        </p:nvSpPr>
        <p:spPr>
          <a:xfrm>
            <a:off x="6501384" y="2176272"/>
            <a:ext cx="2176272" cy="685800"/>
          </a:xfrm>
          <a:prstGeom prst="rect">
            <a:avLst/>
          </a:prstGeom>
          <a:noFill/>
          <a:ln/>
        </p:spPr>
        <p:txBody>
          <a:bodyPr wrap="square" lIns="0" tIns="0" rIns="0" bIns="0" rtlCol="0" anchor="ctr"/>
          <a:lstStyle/>
          <a:p>
            <a:pPr algn="ctr" indent="0" marL="0">
              <a:lnSpc>
                <a:spcPct val="103000"/>
              </a:lnSpc>
              <a:buNone/>
            </a:pPr>
            <a:r>
              <a:rPr lang="en-US" sz="1200" b="1" dirty="0">
                <a:solidFill>
                  <a:srgbClr val="2F3596"/>
                </a:solidFill>
                <a:latin typeface="Calibri" pitchFamily="34" charset="0"/>
                <a:ea typeface="Calibri" pitchFamily="34" charset="-122"/>
                <a:cs typeface="Calibri" pitchFamily="34" charset="-120"/>
              </a:rPr>
              <a:t>SF4 · SF4v · SFx</a:t>
            </a:r>
            <a:endParaRPr lang="en-US" sz="1200" dirty="0"/>
          </a:p>
        </p:txBody>
      </p:sp>
      <p:sp>
        <p:nvSpPr>
          <p:cNvPr id="25" name="Text 22"/>
          <p:cNvSpPr txBox="1"/>
          <p:nvPr/>
        </p:nvSpPr>
        <p:spPr>
          <a:xfrm>
            <a:off x="8805672" y="2377440"/>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26" name="Shape 23"/>
          <p:cNvSpPr/>
          <p:nvPr/>
        </p:nvSpPr>
        <p:spPr>
          <a:xfrm>
            <a:off x="9189720" y="2176272"/>
            <a:ext cx="2377440" cy="685800"/>
          </a:xfrm>
          <a:prstGeom prst="roundRect">
            <a:avLst>
              <a:gd name="adj" fmla="val 6667"/>
            </a:avLst>
          </a:prstGeom>
          <a:solidFill>
            <a:srgbClr val="16183A"/>
          </a:solidFill>
          <a:ln/>
        </p:spPr>
      </p:sp>
      <p:sp>
        <p:nvSpPr>
          <p:cNvPr id="27" name="Text 24"/>
          <p:cNvSpPr txBox="1"/>
          <p:nvPr/>
        </p:nvSpPr>
        <p:spPr>
          <a:xfrm>
            <a:off x="9244584" y="2176272"/>
            <a:ext cx="2267712" cy="685800"/>
          </a:xfrm>
          <a:prstGeom prst="rect">
            <a:avLst/>
          </a:prstGeom>
          <a:noFill/>
          <a:ln/>
        </p:spPr>
        <p:txBody>
          <a:bodyPr wrap="square" lIns="0" tIns="0" rIns="0" bIns="0" rtlCol="0" anchor="ctr"/>
          <a:lstStyle/>
          <a:p>
            <a:pPr algn="ctr" indent="0" marL="0">
              <a:lnSpc>
                <a:spcPct val="103000"/>
              </a:lnSpc>
              <a:buNone/>
            </a:pPr>
            <a:r>
              <a:rPr lang="en-US" sz="1200" b="1" dirty="0">
                <a:solidFill>
                  <a:srgbClr val="FFFFFF"/>
                </a:solidFill>
                <a:latin typeface="Calibri" pitchFamily="34" charset="0"/>
                <a:ea typeface="Calibri" pitchFamily="34" charset="-122"/>
                <a:cs typeface="Calibri" pitchFamily="34" charset="-120"/>
              </a:rPr>
              <a:t>ChCODH2  (1SU6)</a:t>
            </a:r>
            <a:endParaRPr lang="en-US" sz="1200" dirty="0"/>
          </a:p>
        </p:txBody>
      </p:sp>
      <p:sp>
        <p:nvSpPr>
          <p:cNvPr id="28" name="Shape 25"/>
          <p:cNvSpPr/>
          <p:nvPr/>
        </p:nvSpPr>
        <p:spPr>
          <a:xfrm>
            <a:off x="6446520" y="3044952"/>
            <a:ext cx="2286000" cy="685800"/>
          </a:xfrm>
          <a:prstGeom prst="roundRect">
            <a:avLst>
              <a:gd name="adj" fmla="val 6667"/>
            </a:avLst>
          </a:prstGeom>
          <a:solidFill>
            <a:srgbClr val="EEF0FA"/>
          </a:solidFill>
          <a:ln/>
        </p:spPr>
      </p:sp>
      <p:sp>
        <p:nvSpPr>
          <p:cNvPr id="29" name="Text 26"/>
          <p:cNvSpPr txBox="1"/>
          <p:nvPr/>
        </p:nvSpPr>
        <p:spPr>
          <a:xfrm>
            <a:off x="6501384" y="3044952"/>
            <a:ext cx="2176272" cy="685800"/>
          </a:xfrm>
          <a:prstGeom prst="rect">
            <a:avLst/>
          </a:prstGeom>
          <a:noFill/>
          <a:ln/>
        </p:spPr>
        <p:txBody>
          <a:bodyPr wrap="square" lIns="0" tIns="0" rIns="0" bIns="0" rtlCol="0" anchor="ctr"/>
          <a:lstStyle/>
          <a:p>
            <a:pPr algn="ctr" indent="0" marL="0">
              <a:lnSpc>
                <a:spcPct val="103000"/>
              </a:lnSpc>
              <a:buNone/>
            </a:pPr>
            <a:r>
              <a:rPr lang="en-US" sz="1200" b="1" dirty="0">
                <a:solidFill>
                  <a:srgbClr val="2F3596"/>
                </a:solidFill>
                <a:latin typeface="Calibri" pitchFamily="34" charset="0"/>
                <a:ea typeface="Calibri" pitchFamily="34" charset="-122"/>
                <a:cs typeface="Calibri" pitchFamily="34" charset="-120"/>
              </a:rPr>
              <a:t>SF2</a:t>
            </a:r>
            <a:endParaRPr lang="en-US" sz="1200" dirty="0"/>
          </a:p>
        </p:txBody>
      </p:sp>
      <p:sp>
        <p:nvSpPr>
          <p:cNvPr id="30" name="Text 27"/>
          <p:cNvSpPr txBox="1"/>
          <p:nvPr/>
        </p:nvSpPr>
        <p:spPr>
          <a:xfrm>
            <a:off x="8805672" y="3246120"/>
            <a:ext cx="274320" cy="274320"/>
          </a:xfrm>
          <a:prstGeom prst="rect">
            <a:avLst/>
          </a:prstGeom>
          <a:noFill/>
          <a:ln/>
        </p:spPr>
        <p:txBody>
          <a:bodyPr wrap="square" lIns="0" tIns="0" rIns="0" bIns="0" rtlCol="0" anchor="ctr"/>
          <a:lstStyle/>
          <a:p>
            <a:pPr algn="ctr" indent="0" marL="0">
              <a:buNone/>
            </a:pPr>
            <a:r>
              <a:rPr lang="en-US" sz="1500" b="1" dirty="0">
                <a:solidFill>
                  <a:srgbClr val="6A72CE"/>
                </a:solidFill>
                <a:latin typeface="Calibri" pitchFamily="34" charset="0"/>
                <a:ea typeface="Calibri" pitchFamily="34" charset="-122"/>
                <a:cs typeface="Calibri" pitchFamily="34" charset="-120"/>
              </a:rPr>
              <a:t>→</a:t>
            </a:r>
            <a:endParaRPr lang="en-US" sz="1500" dirty="0"/>
          </a:p>
        </p:txBody>
      </p:sp>
      <p:sp>
        <p:nvSpPr>
          <p:cNvPr id="31" name="Shape 28"/>
          <p:cNvSpPr/>
          <p:nvPr/>
        </p:nvSpPr>
        <p:spPr>
          <a:xfrm>
            <a:off x="9189720" y="3044952"/>
            <a:ext cx="2377440" cy="685800"/>
          </a:xfrm>
          <a:prstGeom prst="roundRect">
            <a:avLst>
              <a:gd name="adj" fmla="val 6667"/>
            </a:avLst>
          </a:prstGeom>
          <a:solidFill>
            <a:srgbClr val="16183A"/>
          </a:solidFill>
          <a:ln/>
        </p:spPr>
      </p:sp>
      <p:sp>
        <p:nvSpPr>
          <p:cNvPr id="32" name="Text 29"/>
          <p:cNvSpPr txBox="1"/>
          <p:nvPr/>
        </p:nvSpPr>
        <p:spPr>
          <a:xfrm>
            <a:off x="9244584" y="3044952"/>
            <a:ext cx="2267712" cy="685800"/>
          </a:xfrm>
          <a:prstGeom prst="rect">
            <a:avLst/>
          </a:prstGeom>
          <a:noFill/>
          <a:ln/>
        </p:spPr>
        <p:txBody>
          <a:bodyPr wrap="square" lIns="0" tIns="0" rIns="0" bIns="0" rtlCol="0" anchor="ctr"/>
          <a:lstStyle/>
          <a:p>
            <a:pPr algn="ctr" indent="0" marL="0">
              <a:lnSpc>
                <a:spcPct val="103000"/>
              </a:lnSpc>
              <a:buNone/>
            </a:pPr>
            <a:r>
              <a:rPr lang="en-US" sz="1200" b="1" dirty="0">
                <a:solidFill>
                  <a:srgbClr val="FFFFFF"/>
                </a:solidFill>
                <a:latin typeface="Calibri" pitchFamily="34" charset="0"/>
                <a:ea typeface="Calibri" pitchFamily="34" charset="-122"/>
                <a:cs typeface="Calibri" pitchFamily="34" charset="-120"/>
              </a:rPr>
              <a:t>DvCODH  (6OND)</a:t>
            </a:r>
            <a:endParaRPr lang="en-US" sz="1200" dirty="0"/>
          </a:p>
        </p:txBody>
      </p:sp>
      <p:sp>
        <p:nvSpPr>
          <p:cNvPr id="33" name="Shape 30"/>
          <p:cNvSpPr/>
          <p:nvPr/>
        </p:nvSpPr>
        <p:spPr>
          <a:xfrm>
            <a:off x="6446520" y="3950208"/>
            <a:ext cx="5120640" cy="868680"/>
          </a:xfrm>
          <a:prstGeom prst="roundRect">
            <a:avLst>
              <a:gd name="adj" fmla="val 6316"/>
            </a:avLst>
          </a:prstGeom>
          <a:solidFill>
            <a:srgbClr val="F7F8FC"/>
          </a:solidFill>
          <a:ln w="12700">
            <a:solidFill>
              <a:srgbClr val="D6DAEE"/>
            </a:solidFill>
            <a:prstDash val="solid"/>
          </a:ln>
        </p:spPr>
      </p:sp>
      <p:sp>
        <p:nvSpPr>
          <p:cNvPr id="34" name="Text 31"/>
          <p:cNvSpPr txBox="1"/>
          <p:nvPr/>
        </p:nvSpPr>
        <p:spPr>
          <a:xfrm>
            <a:off x="6702552" y="4160520"/>
            <a:ext cx="4608576" cy="0"/>
          </a:xfrm>
          <a:prstGeom prst="rect">
            <a:avLst/>
          </a:prstGeom>
          <a:noFill/>
          <a:ln/>
        </p:spPr>
        <p:txBody>
          <a:bodyPr wrap="square" lIns="0" tIns="0" rIns="0" bIns="0" rtlCol="0" anchor="t"/>
          <a:lstStyle/>
          <a:p>
            <a:pPr algn="l" indent="0" marL="0">
              <a:lnSpc>
                <a:spcPct val="118000"/>
              </a:lnSpc>
              <a:buNone/>
            </a:pPr>
            <a:r>
              <a:rPr lang="en-US" sz="1150" dirty="0">
                <a:solidFill>
                  <a:srgbClr val="1C1E33"/>
                </a:solidFill>
                <a:latin typeface="Calibri" pitchFamily="34" charset="0"/>
                <a:ea typeface="Calibri" pitchFamily="34" charset="-122"/>
                <a:cs typeface="Calibri" pitchFamily="34" charset="-120"/>
              </a:rPr>
              <a:t>Both global and local superposition modes were tried; the one minimising (clashes, RMSD) was kept.</a:t>
            </a:r>
            <a:endParaRPr lang="en-US" sz="1150" dirty="0"/>
          </a:p>
        </p:txBody>
      </p:sp>
      <p:sp>
        <p:nvSpPr>
          <p:cNvPr id="35" name="Shape 32"/>
          <p:cNvSpPr/>
          <p:nvPr/>
        </p:nvSpPr>
        <p:spPr>
          <a:xfrm>
            <a:off x="6446520" y="4956048"/>
            <a:ext cx="5120640" cy="1188720"/>
          </a:xfrm>
          <a:prstGeom prst="roundRect">
            <a:avLst>
              <a:gd name="adj" fmla="val 4615"/>
            </a:avLst>
          </a:prstGeom>
          <a:solidFill>
            <a:srgbClr val="EEF0FA"/>
          </a:solidFill>
          <a:ln w="12700">
            <a:solidFill>
              <a:srgbClr val="D6DAEE"/>
            </a:solidFill>
            <a:prstDash val="solid"/>
          </a:ln>
        </p:spPr>
      </p:sp>
      <p:sp>
        <p:nvSpPr>
          <p:cNvPr id="36" name="Text 33"/>
          <p:cNvSpPr txBox="1"/>
          <p:nvPr/>
        </p:nvSpPr>
        <p:spPr>
          <a:xfrm>
            <a:off x="6702552" y="5138928"/>
            <a:ext cx="4608576" cy="0"/>
          </a:xfrm>
          <a:prstGeom prst="rect">
            <a:avLst/>
          </a:prstGeom>
          <a:noFill/>
          <a:ln/>
        </p:spPr>
        <p:txBody>
          <a:bodyPr wrap="square" lIns="0" tIns="0" rIns="0" bIns="0" rtlCol="0" anchor="t"/>
          <a:lstStyle/>
          <a:p>
            <a:pPr algn="l" indent="0" marL="0">
              <a:lnSpc>
                <a:spcPct val="113000"/>
              </a:lnSpc>
              <a:buNone/>
            </a:pPr>
            <a:r>
              <a:rPr lang="en-US" sz="1250" b="1" dirty="0">
                <a:solidFill>
                  <a:srgbClr val="2F3596"/>
                </a:solidFill>
                <a:latin typeface="Calibri" pitchFamily="34" charset="0"/>
                <a:ea typeface="Calibri" pitchFamily="34" charset="-122"/>
                <a:cs typeface="Calibri" pitchFamily="34" charset="-120"/>
              </a:rPr>
              <a:t>Steric clashes stay flat across bins</a:t>
            </a:r>
            <a:endParaRPr lang="en-US" sz="1250" dirty="0"/>
          </a:p>
        </p:txBody>
      </p:sp>
      <p:sp>
        <p:nvSpPr>
          <p:cNvPr id="37" name="Text 34"/>
          <p:cNvSpPr txBox="1"/>
          <p:nvPr/>
        </p:nvSpPr>
        <p:spPr>
          <a:xfrm>
            <a:off x="6702552" y="5449824"/>
            <a:ext cx="4608576" cy="0"/>
          </a:xfrm>
          <a:prstGeom prst="rect">
            <a:avLst/>
          </a:prstGeom>
          <a:noFill/>
          <a:ln/>
        </p:spPr>
        <p:txBody>
          <a:bodyPr wrap="square" lIns="0" tIns="0" rIns="0" bIns="0" rtlCol="0" anchor="t"/>
          <a:lstStyle/>
          <a:p>
            <a:pPr algn="l" indent="0" marL="0">
              <a:lnSpc>
                <a:spcPct val="116000"/>
              </a:lnSpc>
              <a:buNone/>
            </a:pPr>
            <a:r>
              <a:rPr lang="en-US" sz="1100" dirty="0">
                <a:solidFill>
                  <a:srgbClr val="1C1E33"/>
                </a:solidFill>
                <a:latin typeface="Calibri" pitchFamily="34" charset="0"/>
                <a:ea typeface="Calibri" pitchFamily="34" charset="-122"/>
                <a:cs typeface="Calibri" pitchFamily="34" charset="-120"/>
              </a:rPr>
              <a:t>RMSD rises with decreasing identity but clashes do not — the physical plausibility of the assembly does not track identity.</a:t>
            </a:r>
            <a:endParaRPr lang="en-US" sz="1100" dirty="0"/>
          </a:p>
        </p:txBody>
      </p:sp>
      <p:sp>
        <p:nvSpPr>
          <p:cNvPr id="39" name="Text 35"/>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DECISION ④  VALIDATION</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The assembly procedure does not distort docking scores</a:t>
            </a:r>
            <a:endParaRPr lang="en-US" sz="2600" dirty="0"/>
          </a:p>
        </p:txBody>
      </p:sp>
      <p:sp>
        <p:nvSpPr>
          <p:cNvPr id="4" name="Shape 2"/>
          <p:cNvSpPr/>
          <p:nvPr/>
        </p:nvSpPr>
        <p:spPr>
          <a:xfrm>
            <a:off x="594360" y="1874520"/>
            <a:ext cx="5257800" cy="1920240"/>
          </a:xfrm>
          <a:prstGeom prst="roundRect">
            <a:avLst>
              <a:gd name="adj" fmla="val 2857"/>
            </a:avLst>
          </a:prstGeom>
          <a:solidFill>
            <a:srgbClr val="F7F8FC"/>
          </a:solidFill>
          <a:ln w="12700">
            <a:solidFill>
              <a:srgbClr val="D6DAEE"/>
            </a:solidFill>
            <a:prstDash val="solid"/>
          </a:ln>
        </p:spPr>
      </p:sp>
      <p:sp>
        <p:nvSpPr>
          <p:cNvPr id="5" name="Text 3"/>
          <p:cNvSpPr txBox="1"/>
          <p:nvPr/>
        </p:nvSpPr>
        <p:spPr>
          <a:xfrm>
            <a:off x="868680" y="2084832"/>
            <a:ext cx="4709160" cy="0"/>
          </a:xfrm>
          <a:prstGeom prst="rect">
            <a:avLst/>
          </a:prstGeom>
          <a:noFill/>
          <a:ln/>
        </p:spPr>
        <p:txBody>
          <a:bodyPr wrap="square" lIns="0" tIns="0" rIns="0" bIns="0" rtlCol="0" anchor="t"/>
          <a:lstStyle/>
          <a:p>
            <a:pPr algn="l" indent="0" marL="0">
              <a:lnSpc>
                <a:spcPct val="113000"/>
              </a:lnSpc>
              <a:buNone/>
            </a:pPr>
            <a:r>
              <a:rPr lang="en-US" sz="1200" b="1" dirty="0">
                <a:solidFill>
                  <a:srgbClr val="5C6180"/>
                </a:solidFill>
                <a:latin typeface="Calibri" pitchFamily="34" charset="0"/>
                <a:ea typeface="Calibri" pitchFamily="34" charset="-122"/>
                <a:cs typeface="Calibri" pitchFamily="34" charset="-120"/>
              </a:rPr>
              <a:t>Wildtype re-dock — pipeline consistency check</a:t>
            </a:r>
            <a:endParaRPr lang="en-US" sz="1200" dirty="0"/>
          </a:p>
        </p:txBody>
      </p:sp>
      <p:sp>
        <p:nvSpPr>
          <p:cNvPr id="6" name="Text 4"/>
          <p:cNvSpPr txBox="1"/>
          <p:nvPr/>
        </p:nvSpPr>
        <p:spPr>
          <a:xfrm>
            <a:off x="868680" y="2395728"/>
            <a:ext cx="2377440" cy="0"/>
          </a:xfrm>
          <a:prstGeom prst="rect">
            <a:avLst/>
          </a:prstGeom>
          <a:noFill/>
          <a:ln/>
        </p:spPr>
        <p:txBody>
          <a:bodyPr wrap="square" lIns="0" tIns="0" rIns="0" bIns="0" rtlCol="0" anchor="t"/>
          <a:lstStyle/>
          <a:p>
            <a:pPr algn="l" indent="0" marL="0">
              <a:lnSpc>
                <a:spcPct val="113000"/>
              </a:lnSpc>
              <a:buNone/>
            </a:pPr>
            <a:r>
              <a:rPr lang="en-US" sz="3600" b="1" dirty="0">
                <a:solidFill>
                  <a:srgbClr val="2F3596"/>
                </a:solidFill>
                <a:latin typeface="Calibri" pitchFamily="34" charset="0"/>
                <a:ea typeface="Calibri" pitchFamily="34" charset="-122"/>
                <a:cs typeface="Calibri" pitchFamily="34" charset="-120"/>
              </a:rPr>
              <a:t>−4.380</a:t>
            </a:r>
            <a:endParaRPr lang="en-US" sz="3600" dirty="0"/>
          </a:p>
        </p:txBody>
      </p:sp>
      <p:sp>
        <p:nvSpPr>
          <p:cNvPr id="7" name="Text 5"/>
          <p:cNvSpPr txBox="1"/>
          <p:nvPr/>
        </p:nvSpPr>
        <p:spPr>
          <a:xfrm>
            <a:off x="3291840" y="2697480"/>
            <a:ext cx="2286000" cy="0"/>
          </a:xfrm>
          <a:prstGeom prst="rect">
            <a:avLst/>
          </a:prstGeom>
          <a:noFill/>
          <a:ln/>
        </p:spPr>
        <p:txBody>
          <a:bodyPr wrap="square" lIns="0" tIns="0" rIns="0" bIns="0" rtlCol="0" anchor="t"/>
          <a:lstStyle/>
          <a:p>
            <a:pPr algn="l" indent="0" marL="0">
              <a:lnSpc>
                <a:spcPct val="113000"/>
              </a:lnSpc>
              <a:buNone/>
            </a:pPr>
            <a:r>
              <a:rPr lang="en-US" sz="1300" b="1" dirty="0">
                <a:solidFill>
                  <a:srgbClr val="2F3596"/>
                </a:solidFill>
                <a:latin typeface="Calibri" pitchFamily="34" charset="0"/>
                <a:ea typeface="Calibri" pitchFamily="34" charset="-122"/>
                <a:cs typeface="Calibri" pitchFamily="34" charset="-120"/>
              </a:rPr>
              <a:t>Δ vs reference  0.000</a:t>
            </a:r>
            <a:endParaRPr lang="en-US" sz="1300" dirty="0"/>
          </a:p>
        </p:txBody>
      </p:sp>
      <p:sp>
        <p:nvSpPr>
          <p:cNvPr id="8" name="Text 6"/>
          <p:cNvSpPr txBox="1"/>
          <p:nvPr/>
        </p:nvSpPr>
        <p:spPr>
          <a:xfrm>
            <a:off x="868680" y="3127248"/>
            <a:ext cx="2377440" cy="0"/>
          </a:xfrm>
          <a:prstGeom prst="rect">
            <a:avLst/>
          </a:prstGeom>
          <a:noFill/>
          <a:ln/>
        </p:spPr>
        <p:txBody>
          <a:bodyPr wrap="square" lIns="0" tIns="0" rIns="0" bIns="0" rtlCol="0" anchor="t"/>
          <a:lstStyle/>
          <a:p>
            <a:pPr algn="l" indent="0" marL="0">
              <a:lnSpc>
                <a:spcPct val="113000"/>
              </a:lnSpc>
              <a:buNone/>
            </a:pPr>
            <a:r>
              <a:rPr lang="en-US" sz="1050" dirty="0">
                <a:solidFill>
                  <a:srgbClr val="5C6180"/>
                </a:solidFill>
                <a:latin typeface="Calibri" pitchFamily="34" charset="0"/>
                <a:ea typeface="Calibri" pitchFamily="34" charset="-122"/>
                <a:cs typeface="Calibri" pitchFamily="34" charset="-120"/>
              </a:rPr>
              <a:t>kcal/mol</a:t>
            </a:r>
            <a:endParaRPr lang="en-US" sz="1050" dirty="0"/>
          </a:p>
        </p:txBody>
      </p:sp>
      <p:sp>
        <p:nvSpPr>
          <p:cNvPr id="9" name="Shape 7"/>
          <p:cNvSpPr/>
          <p:nvPr/>
        </p:nvSpPr>
        <p:spPr>
          <a:xfrm>
            <a:off x="6263640" y="1874520"/>
            <a:ext cx="5303520" cy="1920240"/>
          </a:xfrm>
          <a:prstGeom prst="roundRect">
            <a:avLst>
              <a:gd name="adj" fmla="val 2857"/>
            </a:avLst>
          </a:prstGeom>
          <a:solidFill>
            <a:srgbClr val="FBEEE2"/>
          </a:solidFill>
          <a:ln w="12700">
            <a:solidFill>
              <a:srgbClr val="E8C9A8"/>
            </a:solidFill>
            <a:prstDash val="solid"/>
          </a:ln>
        </p:spPr>
      </p:sp>
      <p:sp>
        <p:nvSpPr>
          <p:cNvPr id="10" name="Text 8"/>
          <p:cNvSpPr txBox="1"/>
          <p:nvPr/>
        </p:nvSpPr>
        <p:spPr>
          <a:xfrm>
            <a:off x="6537960" y="2084832"/>
            <a:ext cx="4754880" cy="0"/>
          </a:xfrm>
          <a:prstGeom prst="rect">
            <a:avLst/>
          </a:prstGeom>
          <a:noFill/>
          <a:ln/>
        </p:spPr>
        <p:txBody>
          <a:bodyPr wrap="square" lIns="0" tIns="0" rIns="0" bIns="0" rtlCol="0" anchor="t"/>
          <a:lstStyle/>
          <a:p>
            <a:pPr algn="l" indent="0" marL="0">
              <a:lnSpc>
                <a:spcPct val="113000"/>
              </a:lnSpc>
              <a:buNone/>
            </a:pPr>
            <a:r>
              <a:rPr lang="en-US" sz="1200" b="1" dirty="0">
                <a:solidFill>
                  <a:srgbClr val="5C6180"/>
                </a:solidFill>
                <a:latin typeface="Calibri" pitchFamily="34" charset="0"/>
                <a:ea typeface="Calibri" pitchFamily="34" charset="-122"/>
                <a:cs typeface="Calibri" pitchFamily="34" charset="-120"/>
              </a:rPr>
              <a:t>Assembled ChCODH2 dimer</a:t>
            </a:r>
            <a:endParaRPr lang="en-US" sz="1200" dirty="0"/>
          </a:p>
        </p:txBody>
      </p:sp>
      <p:sp>
        <p:nvSpPr>
          <p:cNvPr id="11" name="Text 9"/>
          <p:cNvSpPr txBox="1"/>
          <p:nvPr/>
        </p:nvSpPr>
        <p:spPr>
          <a:xfrm>
            <a:off x="6537960" y="2395728"/>
            <a:ext cx="2377440" cy="0"/>
          </a:xfrm>
          <a:prstGeom prst="rect">
            <a:avLst/>
          </a:prstGeom>
          <a:noFill/>
          <a:ln/>
        </p:spPr>
        <p:txBody>
          <a:bodyPr wrap="square" lIns="0" tIns="0" rIns="0" bIns="0" rtlCol="0" anchor="t"/>
          <a:lstStyle/>
          <a:p>
            <a:pPr algn="l" indent="0" marL="0">
              <a:lnSpc>
                <a:spcPct val="113000"/>
              </a:lnSpc>
              <a:buNone/>
            </a:pPr>
            <a:r>
              <a:rPr lang="en-US" sz="3600" b="1" dirty="0">
                <a:solidFill>
                  <a:srgbClr val="C0692B"/>
                </a:solidFill>
                <a:latin typeface="Calibri" pitchFamily="34" charset="0"/>
                <a:ea typeface="Calibri" pitchFamily="34" charset="-122"/>
                <a:cs typeface="Calibri" pitchFamily="34" charset="-120"/>
              </a:rPr>
              <a:t>−4.30</a:t>
            </a:r>
            <a:endParaRPr lang="en-US" sz="3600" dirty="0"/>
          </a:p>
        </p:txBody>
      </p:sp>
      <p:sp>
        <p:nvSpPr>
          <p:cNvPr id="12" name="Text 10"/>
          <p:cNvSpPr txBox="1"/>
          <p:nvPr/>
        </p:nvSpPr>
        <p:spPr>
          <a:xfrm>
            <a:off x="9098280" y="2697480"/>
            <a:ext cx="2194560" cy="0"/>
          </a:xfrm>
          <a:prstGeom prst="rect">
            <a:avLst/>
          </a:prstGeom>
          <a:noFill/>
          <a:ln/>
        </p:spPr>
        <p:txBody>
          <a:bodyPr wrap="square" lIns="0" tIns="0" rIns="0" bIns="0" rtlCol="0" anchor="t"/>
          <a:lstStyle/>
          <a:p>
            <a:pPr algn="l" indent="0" marL="0">
              <a:lnSpc>
                <a:spcPct val="113000"/>
              </a:lnSpc>
              <a:buNone/>
            </a:pPr>
            <a:r>
              <a:rPr lang="en-US" sz="1300" b="1" dirty="0">
                <a:solidFill>
                  <a:srgbClr val="C0692B"/>
                </a:solidFill>
                <a:latin typeface="Calibri" pitchFamily="34" charset="0"/>
                <a:ea typeface="Calibri" pitchFamily="34" charset="-122"/>
                <a:cs typeface="Calibri" pitchFamily="34" charset="-120"/>
              </a:rPr>
              <a:t>Δ  +0.080</a:t>
            </a:r>
            <a:endParaRPr lang="en-US" sz="1300" dirty="0"/>
          </a:p>
        </p:txBody>
      </p:sp>
      <p:sp>
        <p:nvSpPr>
          <p:cNvPr id="13" name="Text 11"/>
          <p:cNvSpPr txBox="1"/>
          <p:nvPr/>
        </p:nvSpPr>
        <p:spPr>
          <a:xfrm>
            <a:off x="6537960" y="3127248"/>
            <a:ext cx="2377440" cy="0"/>
          </a:xfrm>
          <a:prstGeom prst="rect">
            <a:avLst/>
          </a:prstGeom>
          <a:noFill/>
          <a:ln/>
        </p:spPr>
        <p:txBody>
          <a:bodyPr wrap="square" lIns="0" tIns="0" rIns="0" bIns="0" rtlCol="0" anchor="t"/>
          <a:lstStyle/>
          <a:p>
            <a:pPr algn="l" indent="0" marL="0">
              <a:lnSpc>
                <a:spcPct val="113000"/>
              </a:lnSpc>
              <a:buNone/>
            </a:pPr>
            <a:r>
              <a:rPr lang="en-US" sz="1050" dirty="0">
                <a:solidFill>
                  <a:srgbClr val="5C6180"/>
                </a:solidFill>
                <a:latin typeface="Calibri" pitchFamily="34" charset="0"/>
                <a:ea typeface="Calibri" pitchFamily="34" charset="-122"/>
                <a:cs typeface="Calibri" pitchFamily="34" charset="-120"/>
              </a:rPr>
              <a:t>kcal/mol</a:t>
            </a:r>
            <a:endParaRPr lang="en-US" sz="1050" dirty="0"/>
          </a:p>
        </p:txBody>
      </p:sp>
      <p:sp>
        <p:nvSpPr>
          <p:cNvPr id="14" name="Shape 12"/>
          <p:cNvSpPr/>
          <p:nvPr/>
        </p:nvSpPr>
        <p:spPr>
          <a:xfrm>
            <a:off x="594360" y="4023360"/>
            <a:ext cx="10972800" cy="1051560"/>
          </a:xfrm>
          <a:prstGeom prst="roundRect">
            <a:avLst>
              <a:gd name="adj" fmla="val 5217"/>
            </a:avLst>
          </a:prstGeom>
          <a:solidFill>
            <a:srgbClr val="EEF0FA"/>
          </a:solidFill>
          <a:ln w="12700">
            <a:solidFill>
              <a:srgbClr val="D6DAEE"/>
            </a:solidFill>
            <a:prstDash val="solid"/>
          </a:ln>
        </p:spPr>
      </p:sp>
      <p:sp>
        <p:nvSpPr>
          <p:cNvPr id="15" name="Text 13"/>
          <p:cNvSpPr txBox="1"/>
          <p:nvPr/>
        </p:nvSpPr>
        <p:spPr>
          <a:xfrm>
            <a:off x="914400" y="4224528"/>
            <a:ext cx="10332720" cy="0"/>
          </a:xfrm>
          <a:prstGeom prst="rect">
            <a:avLst/>
          </a:prstGeom>
          <a:noFill/>
          <a:ln/>
        </p:spPr>
        <p:txBody>
          <a:bodyPr wrap="square" lIns="0" tIns="0" rIns="0" bIns="0" rtlCol="0" anchor="t"/>
          <a:lstStyle/>
          <a:p>
            <a:pPr algn="l" indent="0" marL="0">
              <a:lnSpc>
                <a:spcPct val="113000"/>
              </a:lnSpc>
              <a:buNone/>
            </a:pPr>
            <a:r>
              <a:rPr lang="en-US" sz="1650" b="1" dirty="0">
                <a:solidFill>
                  <a:srgbClr val="2F3596"/>
                </a:solidFill>
                <a:latin typeface="Calibri" pitchFamily="34" charset="0"/>
                <a:ea typeface="Calibri" pitchFamily="34" charset="-122"/>
                <a:cs typeface="Calibri" pitchFamily="34" charset="-120"/>
              </a:rPr>
              <a:t>The 0.080 assembly effect is smaller than the crystal's own 50-run range of 0.11.</a:t>
            </a:r>
            <a:endParaRPr lang="en-US" sz="1650" dirty="0"/>
          </a:p>
        </p:txBody>
      </p:sp>
      <p:sp>
        <p:nvSpPr>
          <p:cNvPr id="16" name="Text 14"/>
          <p:cNvSpPr txBox="1"/>
          <p:nvPr/>
        </p:nvSpPr>
        <p:spPr>
          <a:xfrm>
            <a:off x="914400" y="4590288"/>
            <a:ext cx="10332720" cy="0"/>
          </a:xfrm>
          <a:prstGeom prst="rect">
            <a:avLst/>
          </a:prstGeom>
          <a:noFill/>
          <a:ln/>
        </p:spPr>
        <p:txBody>
          <a:bodyPr wrap="square" lIns="0" tIns="0" rIns="0" bIns="0" rtlCol="0" anchor="t"/>
          <a:lstStyle/>
          <a:p>
            <a:pPr algn="l" indent="0" marL="0">
              <a:lnSpc>
                <a:spcPct val="113000"/>
              </a:lnSpc>
              <a:buNone/>
            </a:pPr>
            <a:r>
              <a:rPr lang="en-US" sz="1200" dirty="0">
                <a:solidFill>
                  <a:srgbClr val="1C1E33"/>
                </a:solidFill>
                <a:latin typeface="Calibri" pitchFamily="34" charset="0"/>
                <a:ea typeface="Calibri" pitchFamily="34" charset="-122"/>
                <a:cs typeface="Calibri" pitchFamily="34" charset="-120"/>
              </a:rPr>
              <a:t>In other words, the difference introduced by assembly is buried in the run-to-run variation of docking itself.</a:t>
            </a:r>
            <a:endParaRPr lang="en-US" sz="1200" dirty="0"/>
          </a:p>
        </p:txBody>
      </p:sp>
      <p:sp>
        <p:nvSpPr>
          <p:cNvPr id="17" name="Text 15"/>
          <p:cNvSpPr txBox="1"/>
          <p:nvPr/>
        </p:nvSpPr>
        <p:spPr>
          <a:xfrm>
            <a:off x="594360" y="5212080"/>
            <a:ext cx="10972800" cy="1188720"/>
          </a:xfrm>
          <a:prstGeom prst="rect">
            <a:avLst/>
          </a:prstGeom>
          <a:noFill/>
          <a:ln/>
        </p:spPr>
        <p:txBody>
          <a:bodyPr wrap="square" lIns="0" tIns="0" rIns="0" bIns="0" rtlCol="0" anchor="t"/>
          <a:lstStyle/>
          <a:p>
            <a:pPr indent="0" marL="0">
              <a:lnSpc>
                <a:spcPct val="116000"/>
              </a:lnSpc>
              <a:buNone/>
            </a:pPr>
            <a:r>
              <a:rPr lang="en-US" sz="1150" b="1" dirty="0">
                <a:solidFill>
                  <a:srgbClr val="1C1E33"/>
                </a:solidFill>
                <a:latin typeface="Calibri" pitchFamily="34" charset="0"/>
                <a:ea typeface="Calibri" pitchFamily="34" charset="-122"/>
                <a:cs typeface="Calibri" pitchFamily="34" charset="-120"/>
              </a:rPr>
              <a:t>The reproduction check also passed. </a:t>
            </a:r>
            <a:pPr indent="0" marL="0">
              <a:lnSpc>
                <a:spcPct val="116000"/>
              </a:lnSpc>
              <a:spcAft>
                <a:spcPts val="800"/>
              </a:spcAft>
              <a:buNone/>
            </a:pPr>
            <a:r>
              <a:rPr lang="en-US" sz="1150" dirty="0">
                <a:solidFill>
                  <a:srgbClr val="1C1E33"/>
                </a:solidFill>
                <a:latin typeface="Calibri" pitchFamily="34" charset="0"/>
                <a:ea typeface="Calibri" pitchFamily="34" charset="-122"/>
                <a:cs typeface="Calibri" pitchFamily="34" charset="-120"/>
              </a:rPr>
              <a:t>D63A_A559W was re-docked with the CE2 center at npts 80 and every sorted energy matched the stored result to atol = 1e-3 before the batch was started.</a:t>
            </a:r>
            <a:endParaRPr lang="en-US" sz="1150" dirty="0"/>
          </a:p>
          <a:p>
            <a:pPr indent="0" marL="0">
              <a:lnSpc>
                <a:spcPct val="116000"/>
              </a:lnSpc>
              <a:buNone/>
            </a:pPr>
            <a:r>
              <a:rPr lang="en-US" sz="1150" b="1" dirty="0">
                <a:solidFill>
                  <a:srgbClr val="1C1E33"/>
                </a:solidFill>
                <a:latin typeface="Calibri" pitchFamily="34" charset="0"/>
                <a:ea typeface="Calibri" pitchFamily="34" charset="-122"/>
                <a:cs typeface="Calibri" pitchFamily="34" charset="-120"/>
              </a:rPr>
              <a:t>The reference score is Wildtype ad_med_ds = −4.38 with IQR 0.09. </a:t>
            </a:r>
            <a:pPr indent="0" marL="0">
              <a:lnSpc>
                <a:spcPct val="116000"/>
              </a:lnSpc>
              <a:spcAft>
                <a:spcPts val="800"/>
              </a:spcAft>
              <a:buNone/>
            </a:pPr>
            <a:r>
              <a:rPr lang="en-US" sz="1150" dirty="0">
                <a:solidFill>
                  <a:srgbClr val="1C1E33"/>
                </a:solidFill>
                <a:latin typeface="Calibri" pitchFamily="34" charset="0"/>
                <a:ea typeface="Calibri" pitchFamily="34" charset="-122"/>
                <a:cs typeface="Calibri" pitchFamily="34" charset="-120"/>
              </a:rPr>
              <a:t>All homolog scores are read against it.</a:t>
            </a:r>
            <a:endParaRPr lang="en-US" sz="1150" dirty="0"/>
          </a:p>
        </p:txBody>
      </p:sp>
      <p:sp>
        <p:nvSpPr>
          <p:cNvPr id="19" name="Text 16"/>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IN PROGRESS ⑤</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Next: dock 321 structures and measure the noise floor</a:t>
            </a:r>
            <a:endParaRPr lang="en-US" sz="2600" dirty="0"/>
          </a:p>
        </p:txBody>
      </p:sp>
      <p:sp>
        <p:nvSpPr>
          <p:cNvPr id="4" name="Text 2"/>
          <p:cNvSpPr txBox="1"/>
          <p:nvPr/>
        </p:nvSpPr>
        <p:spPr>
          <a:xfrm>
            <a:off x="594360" y="1755648"/>
            <a:ext cx="5669280" cy="0"/>
          </a:xfrm>
          <a:prstGeom prst="rect">
            <a:avLst/>
          </a:prstGeom>
          <a:noFill/>
          <a:ln/>
        </p:spPr>
        <p:txBody>
          <a:bodyPr wrap="square" lIns="0" tIns="0" rIns="0" bIns="0" rtlCol="0" anchor="t"/>
          <a:lstStyle/>
          <a:p>
            <a:pPr algn="l" indent="0" marL="0">
              <a:lnSpc>
                <a:spcPct val="113000"/>
              </a:lnSpc>
              <a:buNone/>
            </a:pPr>
            <a:r>
              <a:rPr lang="en-US" sz="1350" b="1" dirty="0">
                <a:solidFill>
                  <a:srgbClr val="1C1E33"/>
                </a:solidFill>
                <a:latin typeface="Calibri" pitchFamily="34" charset="0"/>
                <a:ea typeface="Calibri" pitchFamily="34" charset="-122"/>
                <a:cs typeface="Calibri" pitchFamily="34" charset="-120"/>
              </a:rPr>
              <a:t>Why a noise floor is needed — the noise sources changed</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94360" y="2121408"/>
          <a:ext cx="5669280" cy="914400"/>
        </p:xfrm>
        <a:graphic>
          <a:graphicData uri="http://schemas.openxmlformats.org/drawingml/2006/table">
            <a:tbl>
              <a:tblPr/>
              <a:tblGrid>
                <a:gridCol w="1234440"/>
                <a:gridCol w="2148840"/>
                <a:gridCol w="2286000"/>
              </a:tblGrid>
              <a:tr h="365760">
                <a:tc>
                  <a:txBody>
                    <a:bodyPr/>
                    <a:lstStyle/>
                    <a:p>
                      <a:pPr algn="ctr" indent="0" marL="0">
                        <a:buNone/>
                      </a:pP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288 variants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321 homologs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65760">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Backbone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one shared 1SU6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predicted separately</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Assembly</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not required</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assembled separately</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65760">
                <a:tc>
                  <a:txBody>
                    <a:bodyPr/>
                    <a:lstStyle/>
                    <a:p>
                      <a:pPr algn="l" indent="0" marL="0">
                        <a:buNone/>
                      </a:pPr>
                      <a:r>
                        <a:rPr lang="en-US" sz="1100" b="1" dirty="0">
                          <a:solidFill>
                            <a:srgbClr val="1C1E33"/>
                          </a:solidFill>
                          <a:latin typeface="Calibri" pitchFamily="34" charset="0"/>
                          <a:ea typeface="Calibri" pitchFamily="34" charset="-122"/>
                          <a:cs typeface="Calibri" pitchFamily="34" charset="-120"/>
                        </a:rPr>
                        <a:t>Noise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run-to-run only (IQR 0.09)</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C0692B"/>
                          </a:solidFill>
                          <a:latin typeface="Calibri" pitchFamily="34" charset="0"/>
                          <a:ea typeface="Calibri" pitchFamily="34" charset="-122"/>
                          <a:cs typeface="Calibri" pitchFamily="34" charset="-120"/>
                        </a:rPr>
                        <a:t>run + prediction + assembly</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6" name="Shape 3"/>
          <p:cNvSpPr/>
          <p:nvPr/>
        </p:nvSpPr>
        <p:spPr>
          <a:xfrm>
            <a:off x="594360" y="3749040"/>
            <a:ext cx="5669280" cy="914400"/>
          </a:xfrm>
          <a:prstGeom prst="roundRect">
            <a:avLst>
              <a:gd name="adj" fmla="val 6000"/>
            </a:avLst>
          </a:prstGeom>
          <a:solidFill>
            <a:srgbClr val="FBEEE2"/>
          </a:solidFill>
          <a:ln w="12700">
            <a:solidFill>
              <a:srgbClr val="E8C9A8"/>
            </a:solidFill>
            <a:prstDash val="solid"/>
          </a:ln>
        </p:spPr>
      </p:sp>
      <p:sp>
        <p:nvSpPr>
          <p:cNvPr id="7" name="Text 4"/>
          <p:cNvSpPr txBox="1"/>
          <p:nvPr/>
        </p:nvSpPr>
        <p:spPr>
          <a:xfrm>
            <a:off x="850392" y="3913632"/>
            <a:ext cx="5157216" cy="0"/>
          </a:xfrm>
          <a:prstGeom prst="rect">
            <a:avLst/>
          </a:prstGeom>
          <a:noFill/>
          <a:ln/>
        </p:spPr>
        <p:txBody>
          <a:bodyPr wrap="square" lIns="0" tIns="0" rIns="0" bIns="0" rtlCol="0" anchor="t"/>
          <a:lstStyle/>
          <a:p>
            <a:pPr algn="l" indent="0" marL="0">
              <a:lnSpc>
                <a:spcPct val="113000"/>
              </a:lnSpc>
              <a:buNone/>
            </a:pPr>
            <a:r>
              <a:rPr lang="en-US" sz="1250" b="1" dirty="0">
                <a:solidFill>
                  <a:srgbClr val="C0692B"/>
                </a:solidFill>
                <a:latin typeface="Calibri" pitchFamily="34" charset="0"/>
                <a:ea typeface="Calibri" pitchFamily="34" charset="-122"/>
                <a:cs typeface="Calibri" pitchFamily="34" charset="-120"/>
              </a:rPr>
              <a:t>The SNR of the 288 set cannot be carried over.</a:t>
            </a:r>
            <a:endParaRPr lang="en-US" sz="1250" dirty="0"/>
          </a:p>
        </p:txBody>
      </p:sp>
      <p:sp>
        <p:nvSpPr>
          <p:cNvPr id="8" name="Text 5"/>
          <p:cNvSpPr txBox="1"/>
          <p:nvPr/>
        </p:nvSpPr>
        <p:spPr>
          <a:xfrm>
            <a:off x="850392" y="4224528"/>
            <a:ext cx="5157216" cy="0"/>
          </a:xfrm>
          <a:prstGeom prst="rect">
            <a:avLst/>
          </a:prstGeom>
          <a:noFill/>
          <a:ln/>
        </p:spPr>
        <p:txBody>
          <a:bodyPr wrap="square" lIns="0" tIns="0" rIns="0" bIns="0" rtlCol="0" anchor="t"/>
          <a:lstStyle/>
          <a:p>
            <a:pPr algn="l" indent="0" marL="0">
              <a:lnSpc>
                <a:spcPct val="113000"/>
              </a:lnSpc>
              <a:buNone/>
            </a:pPr>
            <a:r>
              <a:rPr lang="en-US" sz="1150" dirty="0">
                <a:solidFill>
                  <a:srgbClr val="1C1E33"/>
                </a:solidFill>
                <a:latin typeface="Calibri" pitchFamily="34" charset="0"/>
                <a:ea typeface="Calibri" pitchFamily="34" charset="-122"/>
                <a:cs typeface="Calibri" pitchFamily="34" charset="-120"/>
              </a:rPr>
              <a:t>No difference smaller than the instrument's own noise can be claimed.</a:t>
            </a:r>
            <a:endParaRPr lang="en-US" sz="1150" dirty="0"/>
          </a:p>
        </p:txBody>
      </p:sp>
      <p:sp>
        <p:nvSpPr>
          <p:cNvPr id="9" name="Text 6"/>
          <p:cNvSpPr txBox="1"/>
          <p:nvPr/>
        </p:nvSpPr>
        <p:spPr>
          <a:xfrm>
            <a:off x="594360" y="4773168"/>
            <a:ext cx="5669280" cy="0"/>
          </a:xfrm>
          <a:prstGeom prst="rect">
            <a:avLst/>
          </a:prstGeom>
          <a:noFill/>
          <a:ln/>
        </p:spPr>
        <p:txBody>
          <a:bodyPr wrap="square" lIns="0" tIns="0" rIns="0" bIns="0" rtlCol="0" anchor="t"/>
          <a:lstStyle/>
          <a:p>
            <a:pPr algn="l" indent="0" marL="0">
              <a:lnSpc>
                <a:spcPct val="118000"/>
              </a:lnSpc>
              <a:buNone/>
            </a:pPr>
            <a:r>
              <a:rPr lang="en-US" sz="1150" b="1" dirty="0">
                <a:solidFill>
                  <a:srgbClr val="1C1E33"/>
                </a:solidFill>
                <a:latin typeface="Calibri" pitchFamily="34" charset="0"/>
                <a:ea typeface="Calibri" pitchFamily="34" charset="-122"/>
                <a:cs typeface="Calibri" pitchFamily="34" charset="-120"/>
              </a:rPr>
              <a:t>How it is measured — each of the 109 expansion sequences is the second member of a training cluster, paired with its representative.</a:t>
            </a:r>
            <a:endParaRPr lang="en-US" sz="1150" dirty="0"/>
          </a:p>
        </p:txBody>
      </p:sp>
      <p:sp>
        <p:nvSpPr>
          <p:cNvPr id="10" name="Shape 7"/>
          <p:cNvSpPr/>
          <p:nvPr/>
        </p:nvSpPr>
        <p:spPr>
          <a:xfrm>
            <a:off x="594360" y="5285232"/>
            <a:ext cx="5669280" cy="868680"/>
          </a:xfrm>
          <a:prstGeom prst="roundRect">
            <a:avLst>
              <a:gd name="adj" fmla="val 6316"/>
            </a:avLst>
          </a:prstGeom>
          <a:solidFill>
            <a:srgbClr val="EEF0FA"/>
          </a:solidFill>
          <a:ln w="12700">
            <a:solidFill>
              <a:srgbClr val="D6DAEE"/>
            </a:solidFill>
            <a:prstDash val="solid"/>
          </a:ln>
        </p:spPr>
      </p:sp>
      <p:sp>
        <p:nvSpPr>
          <p:cNvPr id="11" name="Text 8"/>
          <p:cNvSpPr txBox="1"/>
          <p:nvPr/>
        </p:nvSpPr>
        <p:spPr>
          <a:xfrm>
            <a:off x="850392" y="5413248"/>
            <a:ext cx="5157216" cy="0"/>
          </a:xfrm>
          <a:prstGeom prst="rect">
            <a:avLst/>
          </a:prstGeom>
          <a:noFill/>
          <a:ln/>
        </p:spPr>
        <p:txBody>
          <a:bodyPr wrap="square" lIns="0" tIns="0" rIns="0" bIns="0" rtlCol="0" anchor="t"/>
          <a:lstStyle/>
          <a:p>
            <a:pPr algn="l" indent="0" marL="0">
              <a:lnSpc>
                <a:spcPct val="113000"/>
              </a:lnSpc>
              <a:buNone/>
            </a:pPr>
            <a:r>
              <a:rPr lang="en-US" sz="1200" b="1" dirty="0">
                <a:solidFill>
                  <a:srgbClr val="2F3596"/>
                </a:solidFill>
                <a:latin typeface="Calibri" pitchFamily="34" charset="0"/>
                <a:ea typeface="Calibri" pitchFamily="34" charset="-122"/>
                <a:cs typeface="Calibri" pitchFamily="34" charset="-120"/>
              </a:rPr>
              <a:t>within(c) = | med(representative) − med(second member) |</a:t>
            </a:r>
            <a:endParaRPr lang="en-US" sz="1200" dirty="0"/>
          </a:p>
        </p:txBody>
      </p:sp>
      <p:sp>
        <p:nvSpPr>
          <p:cNvPr id="12" name="Text 9"/>
          <p:cNvSpPr txBox="1"/>
          <p:nvPr/>
        </p:nvSpPr>
        <p:spPr>
          <a:xfrm>
            <a:off x="850392" y="5742432"/>
            <a:ext cx="5157216" cy="0"/>
          </a:xfrm>
          <a:prstGeom prst="rect">
            <a:avLst/>
          </a:prstGeom>
          <a:noFill/>
          <a:ln/>
        </p:spPr>
        <p:txBody>
          <a:bodyPr wrap="square" lIns="0" tIns="0" rIns="0" bIns="0" rtlCol="0" anchor="t"/>
          <a:lstStyle/>
          <a:p>
            <a:pPr algn="l" indent="0" marL="0">
              <a:lnSpc>
                <a:spcPct val="113000"/>
              </a:lnSpc>
              <a:buNone/>
            </a:pPr>
            <a:r>
              <a:rPr lang="en-US" sz="1200" b="1" dirty="0">
                <a:solidFill>
                  <a:srgbClr val="2F3596"/>
                </a:solidFill>
                <a:latin typeface="Calibri" pitchFamily="34" charset="0"/>
                <a:ea typeface="Calibri" pitchFamily="34" charset="-122"/>
                <a:cs typeface="Calibri" pitchFamily="34" charset="-120"/>
              </a:rPr>
              <a:t>SNR = Var(between clusters) / mean(within²)</a:t>
            </a:r>
            <a:endParaRPr lang="en-US" sz="1200" dirty="0"/>
          </a:p>
        </p:txBody>
      </p:sp>
      <p:sp>
        <p:nvSpPr>
          <p:cNvPr id="13" name="Text 10"/>
          <p:cNvSpPr txBox="1"/>
          <p:nvPr/>
        </p:nvSpPr>
        <p:spPr>
          <a:xfrm>
            <a:off x="6720840" y="1755648"/>
            <a:ext cx="4846320" cy="0"/>
          </a:xfrm>
          <a:prstGeom prst="rect">
            <a:avLst/>
          </a:prstGeom>
          <a:noFill/>
          <a:ln/>
        </p:spPr>
        <p:txBody>
          <a:bodyPr wrap="square" lIns="0" tIns="0" rIns="0" bIns="0" rtlCol="0" anchor="t"/>
          <a:lstStyle/>
          <a:p>
            <a:pPr algn="l" indent="0" marL="0">
              <a:lnSpc>
                <a:spcPct val="113000"/>
              </a:lnSpc>
              <a:buNone/>
            </a:pPr>
            <a:r>
              <a:rPr lang="en-US" sz="1350" b="1" dirty="0">
                <a:solidFill>
                  <a:srgbClr val="1C1E33"/>
                </a:solidFill>
                <a:latin typeface="Calibri" pitchFamily="34" charset="0"/>
                <a:ea typeface="Calibri" pitchFamily="34" charset="-122"/>
                <a:cs typeface="Calibri" pitchFamily="34" charset="-120"/>
              </a:rPr>
              <a:t>Decision thresholds fixed in advance</a:t>
            </a:r>
            <a:endParaRPr lang="en-US" sz="1350" dirty="0"/>
          </a:p>
        </p:txBody>
      </p:sp>
      <p:graphicFrame>
        <p:nvGraphicFramePr>
          <p:cNvPr id="37" name="Table 1"/>
          <p:cNvGraphicFramePr>
            <a:graphicFrameLocks noGrp="1"/>
          </p:cNvGraphicFramePr>
          <p:nvPr>
            <p:extLst>
              <p:ext uri="{D42A27DB-BD31-4B8C-83A1-F6EECF244321}">
                <p14:modId xmlns:p14="http://schemas.microsoft.com/office/powerpoint/2010/main" val="1579011935"/>
              </p:ext>
            </p:extLst>
          </p:nvPr>
        </p:nvGraphicFramePr>
        <p:xfrm>
          <a:off x="6720840" y="2121408"/>
          <a:ext cx="4846320" cy="914400"/>
        </p:xfrm>
        <a:graphic>
          <a:graphicData uri="http://schemas.openxmlformats.org/drawingml/2006/table">
            <a:tbl>
              <a:tblPr/>
              <a:tblGrid>
                <a:gridCol w="1371600"/>
                <a:gridCol w="731520"/>
                <a:gridCol w="2743200"/>
              </a:tblGrid>
              <a:tr h="33375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Median within</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SNR</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33756">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 0.05</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use labels as they are</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 0.30</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b="1" dirty="0">
                          <a:solidFill>
                            <a:srgbClr val="2F3596"/>
                          </a:solidFill>
                          <a:latin typeface="Calibri" pitchFamily="34" charset="0"/>
                          <a:ea typeface="Calibri" pitchFamily="34" charset="-122"/>
                          <a:cs typeface="Calibri" pitchFamily="34" charset="-120"/>
                        </a:rPr>
                        <a:t>comparable to 288. proceed</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 0.80</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2.5</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borderline. average repeat assemblies</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 1.50</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1.3</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C0692B"/>
                          </a:solidFill>
                          <a:latin typeface="Calibri" pitchFamily="34" charset="0"/>
                          <a:ea typeface="Calibri" pitchFamily="34" charset="-122"/>
                          <a:cs typeface="Calibri" pitchFamily="34" charset="-120"/>
                        </a:rPr>
                        <a:t>labels buried in noise. redesign</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15" name="Text 11"/>
          <p:cNvSpPr txBox="1"/>
          <p:nvPr/>
        </p:nvSpPr>
        <p:spPr>
          <a:xfrm>
            <a:off x="6720840" y="3840480"/>
            <a:ext cx="4846320" cy="0"/>
          </a:xfrm>
          <a:prstGeom prst="rect">
            <a:avLst/>
          </a:prstGeom>
          <a:noFill/>
          <a:ln/>
        </p:spPr>
        <p:txBody>
          <a:bodyPr wrap="square" lIns="0" tIns="0" rIns="0" bIns="0" rtlCol="0" anchor="t"/>
          <a:lstStyle/>
          <a:p>
            <a:pPr algn="l" indent="0" marL="0">
              <a:lnSpc>
                <a:spcPct val="113000"/>
              </a:lnSpc>
              <a:buNone/>
            </a:pPr>
            <a:r>
              <a:rPr lang="en-US" sz="1150" b="1" dirty="0">
                <a:solidFill>
                  <a:srgbClr val="2F3596"/>
                </a:solidFill>
                <a:latin typeface="Calibri" pitchFamily="34" charset="0"/>
                <a:ea typeface="Calibri" pitchFamily="34" charset="-122"/>
                <a:cs typeface="Calibri" pitchFamily="34" charset="-120"/>
              </a:rPr>
              <a:t>The D2 expansion is docked in the same batch, so the added cost is zero.</a:t>
            </a:r>
            <a:endParaRPr lang="en-US" sz="1150" dirty="0"/>
          </a:p>
        </p:txBody>
      </p:sp>
      <p:sp>
        <p:nvSpPr>
          <p:cNvPr id="16" name="Text 12"/>
          <p:cNvSpPr txBox="1"/>
          <p:nvPr/>
        </p:nvSpPr>
        <p:spPr>
          <a:xfrm>
            <a:off x="6720840" y="4297680"/>
            <a:ext cx="4846320" cy="0"/>
          </a:xfrm>
          <a:prstGeom prst="rect">
            <a:avLst/>
          </a:prstGeom>
          <a:noFill/>
          <a:ln/>
        </p:spPr>
        <p:txBody>
          <a:bodyPr wrap="square" lIns="0" tIns="0" rIns="0" bIns="0" rtlCol="0" anchor="t"/>
          <a:lstStyle/>
          <a:p>
            <a:pPr algn="l" indent="0" marL="0">
              <a:lnSpc>
                <a:spcPct val="113000"/>
              </a:lnSpc>
              <a:buNone/>
            </a:pPr>
            <a:r>
              <a:rPr lang="en-US" sz="1350" b="1" dirty="0">
                <a:solidFill>
                  <a:srgbClr val="1C1E33"/>
                </a:solidFill>
                <a:latin typeface="Calibri" pitchFamily="34" charset="0"/>
                <a:ea typeface="Calibri" pitchFamily="34" charset="-122"/>
                <a:cs typeface="Calibri" pitchFamily="34" charset="-120"/>
              </a:rPr>
              <a:t>Schedule</a:t>
            </a:r>
            <a:endParaRPr lang="en-US" sz="1350" dirty="0"/>
          </a:p>
        </p:txBody>
      </p:sp>
      <p:sp>
        <p:nvSpPr>
          <p:cNvPr id="17" name="Shape 13"/>
          <p:cNvSpPr/>
          <p:nvPr/>
        </p:nvSpPr>
        <p:spPr>
          <a:xfrm>
            <a:off x="6720840" y="4645152"/>
            <a:ext cx="237744" cy="237744"/>
          </a:xfrm>
          <a:prstGeom prst="ellipse">
            <a:avLst/>
          </a:prstGeom>
          <a:solidFill>
            <a:srgbClr val="C0692B"/>
          </a:solidFill>
          <a:ln/>
        </p:spPr>
      </p:sp>
      <p:sp>
        <p:nvSpPr>
          <p:cNvPr id="18" name="Text 14"/>
          <p:cNvSpPr txBox="1"/>
          <p:nvPr/>
        </p:nvSpPr>
        <p:spPr>
          <a:xfrm>
            <a:off x="6720840" y="4645152"/>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9" name="Text 15"/>
          <p:cNvSpPr txBox="1"/>
          <p:nvPr/>
        </p:nvSpPr>
        <p:spPr>
          <a:xfrm>
            <a:off x="7068312" y="4654296"/>
            <a:ext cx="4498848" cy="0"/>
          </a:xfrm>
          <a:prstGeom prst="rect">
            <a:avLst/>
          </a:prstGeom>
          <a:noFill/>
          <a:ln/>
        </p:spPr>
        <p:txBody>
          <a:bodyPr wrap="square" lIns="0" tIns="0" rIns="0" bIns="0" rtlCol="0" anchor="t"/>
          <a:lstStyle/>
          <a:p>
            <a:pPr algn="l" indent="0" marL="0">
              <a:lnSpc>
                <a:spcPct val="113000"/>
              </a:lnSpc>
              <a:buNone/>
            </a:pPr>
            <a:r>
              <a:rPr lang="en-US" sz="1100" dirty="0">
                <a:solidFill>
                  <a:srgbClr val="1C1E33"/>
                </a:solidFill>
                <a:latin typeface="Calibri" pitchFamily="34" charset="0"/>
                <a:ea typeface="Calibri" pitchFamily="34" charset="-122"/>
                <a:cs typeface="Calibri" pitchFamily="34" charset="-120"/>
              </a:rPr>
              <a:t>Dock 321  (core 212 + expansion 109 together)</a:t>
            </a:r>
            <a:endParaRPr lang="en-US" sz="1100" dirty="0"/>
          </a:p>
        </p:txBody>
      </p:sp>
      <p:sp>
        <p:nvSpPr>
          <p:cNvPr id="20" name="Shape 16"/>
          <p:cNvSpPr/>
          <p:nvPr/>
        </p:nvSpPr>
        <p:spPr>
          <a:xfrm>
            <a:off x="6720840" y="4974336"/>
            <a:ext cx="237744" cy="237744"/>
          </a:xfrm>
          <a:prstGeom prst="ellipse">
            <a:avLst/>
          </a:prstGeom>
          <a:solidFill>
            <a:srgbClr val="6A72CE"/>
          </a:solidFill>
          <a:ln/>
        </p:spPr>
      </p:sp>
      <p:sp>
        <p:nvSpPr>
          <p:cNvPr id="21" name="Text 17"/>
          <p:cNvSpPr txBox="1"/>
          <p:nvPr/>
        </p:nvSpPr>
        <p:spPr>
          <a:xfrm>
            <a:off x="6720840" y="4974336"/>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2" name="Text 18"/>
          <p:cNvSpPr txBox="1"/>
          <p:nvPr/>
        </p:nvSpPr>
        <p:spPr>
          <a:xfrm>
            <a:off x="7068312" y="4983480"/>
            <a:ext cx="4498848" cy="0"/>
          </a:xfrm>
          <a:prstGeom prst="rect">
            <a:avLst/>
          </a:prstGeom>
          <a:noFill/>
          <a:ln/>
        </p:spPr>
        <p:txBody>
          <a:bodyPr wrap="square" lIns="0" tIns="0" rIns="0" bIns="0" rtlCol="0" anchor="t"/>
          <a:lstStyle/>
          <a:p>
            <a:pPr algn="l" indent="0" marL="0">
              <a:lnSpc>
                <a:spcPct val="113000"/>
              </a:lnSpc>
              <a:buNone/>
            </a:pPr>
            <a:r>
              <a:rPr lang="en-US" sz="1100" dirty="0">
                <a:solidFill>
                  <a:srgbClr val="1C1E33"/>
                </a:solidFill>
                <a:latin typeface="Calibri" pitchFamily="34" charset="0"/>
                <a:ea typeface="Calibri" pitchFamily="34" charset="-122"/>
                <a:cs typeface="Calibri" pitchFamily="34" charset="-120"/>
              </a:rPr>
              <a:t>Measure the noise floor → SNR verdict</a:t>
            </a:r>
            <a:endParaRPr lang="en-US" sz="1100" dirty="0"/>
          </a:p>
        </p:txBody>
      </p:sp>
      <p:sp>
        <p:nvSpPr>
          <p:cNvPr id="23" name="Shape 19"/>
          <p:cNvSpPr/>
          <p:nvPr/>
        </p:nvSpPr>
        <p:spPr>
          <a:xfrm>
            <a:off x="6720840" y="5303520"/>
            <a:ext cx="237744" cy="237744"/>
          </a:xfrm>
          <a:prstGeom prst="ellipse">
            <a:avLst/>
          </a:prstGeom>
          <a:solidFill>
            <a:srgbClr val="6A72CE"/>
          </a:solidFill>
          <a:ln/>
        </p:spPr>
      </p:sp>
      <p:sp>
        <p:nvSpPr>
          <p:cNvPr id="24" name="Text 20"/>
          <p:cNvSpPr txBox="1"/>
          <p:nvPr/>
        </p:nvSpPr>
        <p:spPr>
          <a:xfrm>
            <a:off x="6720840" y="5303520"/>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1"/>
          <p:cNvSpPr txBox="1"/>
          <p:nvPr/>
        </p:nvSpPr>
        <p:spPr>
          <a:xfrm>
            <a:off x="7068312" y="5312664"/>
            <a:ext cx="4498848" cy="0"/>
          </a:xfrm>
          <a:prstGeom prst="rect">
            <a:avLst/>
          </a:prstGeom>
          <a:noFill/>
          <a:ln/>
        </p:spPr>
        <p:txBody>
          <a:bodyPr wrap="square" lIns="0" tIns="0" rIns="0" bIns="0" rtlCol="0" anchor="t"/>
          <a:lstStyle/>
          <a:p>
            <a:pPr algn="l" indent="0" marL="0">
              <a:lnSpc>
                <a:spcPct val="113000"/>
              </a:lnSpc>
              <a:buNone/>
            </a:pPr>
            <a:r>
              <a:rPr lang="en-US" sz="1100" dirty="0">
                <a:solidFill>
                  <a:srgbClr val="1C1E33"/>
                </a:solidFill>
                <a:latin typeface="Calibri" pitchFamily="34" charset="0"/>
                <a:ea typeface="Calibri" pitchFamily="34" charset="-122"/>
                <a:cs typeface="Calibri" pitchFamily="34" charset="-120"/>
              </a:rPr>
              <a:t>Covariate regression  struct_source · mode · clashes · pLDDT</a:t>
            </a:r>
            <a:endParaRPr lang="en-US" sz="1100" dirty="0"/>
          </a:p>
        </p:txBody>
      </p:sp>
      <p:sp>
        <p:nvSpPr>
          <p:cNvPr id="26" name="Shape 22"/>
          <p:cNvSpPr/>
          <p:nvPr/>
        </p:nvSpPr>
        <p:spPr>
          <a:xfrm>
            <a:off x="6720840" y="5632704"/>
            <a:ext cx="237744" cy="237744"/>
          </a:xfrm>
          <a:prstGeom prst="ellipse">
            <a:avLst/>
          </a:prstGeom>
          <a:solidFill>
            <a:srgbClr val="6A72CE"/>
          </a:solidFill>
          <a:ln/>
        </p:spPr>
      </p:sp>
      <p:sp>
        <p:nvSpPr>
          <p:cNvPr id="27" name="Text 23"/>
          <p:cNvSpPr txBox="1"/>
          <p:nvPr/>
        </p:nvSpPr>
        <p:spPr>
          <a:xfrm>
            <a:off x="6720840" y="5632704"/>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4"/>
          <p:cNvSpPr txBox="1"/>
          <p:nvPr/>
        </p:nvSpPr>
        <p:spPr>
          <a:xfrm>
            <a:off x="7068312" y="5641848"/>
            <a:ext cx="4498848" cy="0"/>
          </a:xfrm>
          <a:prstGeom prst="rect">
            <a:avLst/>
          </a:prstGeom>
          <a:noFill/>
          <a:ln/>
        </p:spPr>
        <p:txBody>
          <a:bodyPr wrap="square" lIns="0" tIns="0" rIns="0" bIns="0" rtlCol="0" anchor="t"/>
          <a:lstStyle/>
          <a:p>
            <a:pPr algn="l" indent="0" marL="0">
              <a:lnSpc>
                <a:spcPct val="113000"/>
              </a:lnSpc>
              <a:buNone/>
            </a:pPr>
            <a:r>
              <a:rPr lang="en-US" sz="1100" dirty="0">
                <a:solidFill>
                  <a:srgbClr val="1C1E33"/>
                </a:solidFill>
                <a:latin typeface="Calibri" pitchFamily="34" charset="0"/>
                <a:ea typeface="Calibri" pitchFamily="34" charset="-122"/>
                <a:cs typeface="Calibri" pitchFamily="34" charset="-120"/>
              </a:rPr>
              <a:t>Attach labels  FASTA header fident → med score</a:t>
            </a:r>
            <a:endParaRPr lang="en-US" sz="1100" dirty="0"/>
          </a:p>
        </p:txBody>
      </p:sp>
      <p:sp>
        <p:nvSpPr>
          <p:cNvPr id="29" name="Shape 25"/>
          <p:cNvSpPr/>
          <p:nvPr/>
        </p:nvSpPr>
        <p:spPr>
          <a:xfrm>
            <a:off x="6720840" y="5961888"/>
            <a:ext cx="237744" cy="237744"/>
          </a:xfrm>
          <a:prstGeom prst="ellipse">
            <a:avLst/>
          </a:prstGeom>
          <a:solidFill>
            <a:srgbClr val="6A72CE"/>
          </a:solidFill>
          <a:ln/>
        </p:spPr>
      </p:sp>
      <p:sp>
        <p:nvSpPr>
          <p:cNvPr id="30" name="Text 26"/>
          <p:cNvSpPr txBox="1"/>
          <p:nvPr/>
        </p:nvSpPr>
        <p:spPr>
          <a:xfrm>
            <a:off x="6720840" y="5961888"/>
            <a:ext cx="237744"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7"/>
          <p:cNvSpPr txBox="1"/>
          <p:nvPr/>
        </p:nvSpPr>
        <p:spPr>
          <a:xfrm>
            <a:off x="7068312" y="5971032"/>
            <a:ext cx="4498848" cy="0"/>
          </a:xfrm>
          <a:prstGeom prst="rect">
            <a:avLst/>
          </a:prstGeom>
          <a:noFill/>
          <a:ln/>
        </p:spPr>
        <p:txBody>
          <a:bodyPr wrap="square" lIns="0" tIns="0" rIns="0" bIns="0" rtlCol="0" anchor="t"/>
          <a:lstStyle/>
          <a:p>
            <a:pPr algn="l" indent="0" marL="0">
              <a:lnSpc>
                <a:spcPct val="113000"/>
              </a:lnSpc>
              <a:buNone/>
            </a:pPr>
            <a:r>
              <a:rPr lang="en-US" sz="1100" dirty="0">
                <a:solidFill>
                  <a:srgbClr val="1C1E33"/>
                </a:solidFill>
                <a:latin typeface="Calibri" pitchFamily="34" charset="0"/>
                <a:ea typeface="Calibri" pitchFamily="34" charset="-122"/>
                <a:cs typeface="Calibri" pitchFamily="34" charset="-120"/>
              </a:rPr>
              <a:t>Train  A / B / C / D1 / D2</a:t>
            </a:r>
            <a:endParaRPr lang="en-US" sz="1100" dirty="0"/>
          </a:p>
        </p:txBody>
      </p:sp>
      <p:sp>
        <p:nvSpPr>
          <p:cNvPr id="33" name="Text 28"/>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6183A"/>
        </a:solidFill>
      </p:bgPr>
    </p:bg>
    <p:spTree>
      <p:nvGrpSpPr>
        <p:cNvPr id="1" name=""/>
        <p:cNvGrpSpPr/>
        <p:nvPr/>
      </p:nvGrpSpPr>
      <p:grpSpPr>
        <a:xfrm>
          <a:off x="0" y="0"/>
          <a:ext cx="0" cy="0"/>
          <a:chOff x="0" y="0"/>
          <a:chExt cx="0" cy="0"/>
        </a:xfrm>
      </p:grpSpPr>
      <p:sp>
        <p:nvSpPr>
          <p:cNvPr id="2" name="Text 0"/>
          <p:cNvSpPr txBox="1"/>
          <p:nvPr/>
        </p:nvSpPr>
        <p:spPr>
          <a:xfrm>
            <a:off x="594360" y="2788920"/>
            <a:ext cx="10972800" cy="320040"/>
          </a:xfrm>
          <a:prstGeom prst="rect">
            <a:avLst/>
          </a:prstGeom>
          <a:noFill/>
          <a:ln/>
        </p:spPr>
        <p:txBody>
          <a:bodyPr wrap="square" lIns="0" tIns="0" rIns="0" bIns="0" rtlCol="0" anchor="ctr"/>
          <a:lstStyle/>
          <a:p>
            <a:pPr indent="0" marL="0">
              <a:buNone/>
            </a:pPr>
            <a:r>
              <a:rPr lang="en-US" sz="1300" b="1" spc="220" kern="0" dirty="0">
                <a:solidFill>
                  <a:srgbClr val="C0692B"/>
                </a:solidFill>
                <a:latin typeface="Calibri" pitchFamily="34" charset="0"/>
                <a:ea typeface="Calibri" pitchFamily="34" charset="-122"/>
                <a:cs typeface="Calibri" pitchFamily="34" charset="-120"/>
              </a:rPr>
              <a:t>BACKUP</a:t>
            </a:r>
            <a:endParaRPr lang="en-US" sz="1300" dirty="0"/>
          </a:p>
        </p:txBody>
      </p:sp>
      <p:sp>
        <p:nvSpPr>
          <p:cNvPr id="3" name="Text 1"/>
          <p:cNvSpPr txBox="1"/>
          <p:nvPr/>
        </p:nvSpPr>
        <p:spPr>
          <a:xfrm>
            <a:off x="594360" y="3154680"/>
            <a:ext cx="10972800" cy="64008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Backup slides</a:t>
            </a:r>
            <a:endParaRPr lang="en-US" sz="3400" dirty="0"/>
          </a:p>
        </p:txBody>
      </p:sp>
      <p:sp>
        <p:nvSpPr>
          <p:cNvPr id="4" name="Text 2"/>
          <p:cNvSpPr txBox="1"/>
          <p:nvPr/>
        </p:nvSpPr>
        <p:spPr>
          <a:xfrm>
            <a:off x="594360" y="3931920"/>
            <a:ext cx="10424160" cy="365760"/>
          </a:xfrm>
          <a:prstGeom prst="rect">
            <a:avLst/>
          </a:prstGeom>
          <a:noFill/>
          <a:ln/>
        </p:spPr>
        <p:txBody>
          <a:bodyPr wrap="square" lIns="0" tIns="0" rIns="0" bIns="0" rtlCol="0" anchor="ctr"/>
          <a:lstStyle/>
          <a:p>
            <a:pPr indent="0" marL="0">
              <a:buNone/>
            </a:pPr>
            <a:r>
              <a:rPr lang="en-US" sz="1250" dirty="0">
                <a:solidFill>
                  <a:srgbClr val="A8AECF"/>
                </a:solidFill>
                <a:latin typeface="Calibri" pitchFamily="34" charset="0"/>
                <a:ea typeface="Calibri" pitchFamily="34" charset="-122"/>
                <a:cs typeface="Calibri" pitchFamily="34" charset="-120"/>
              </a:rPr>
              <a:t>B1 orientation dependence  ·  B2 choice of primary metric  ·  B3 simple descriptors  ·  B4 fixed constants  ·  B5 limitations  ·  B6 interpretive scope</a:t>
            </a:r>
            <a:endParaRPr lang="en-US" sz="1250" dirty="0"/>
          </a:p>
        </p:txBody>
      </p:sp>
      <p:sp>
        <p:nvSpPr>
          <p:cNvPr id="5" name="Text 3"/>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A8AECF"/>
                </a:solidFill>
                <a:latin typeface="Calibri" pitchFamily="34" charset="0"/>
                <a:ea typeface="Calibri" pitchFamily="34" charset="-122"/>
                <a:cs typeface="Calibri"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BACKUP  B1</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At 15 Å the ranking is independent of orientation</a:t>
            </a:r>
            <a:endParaRPr lang="en-US" sz="2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6675120" cy="914400"/>
        </p:xfrm>
        <a:graphic>
          <a:graphicData uri="http://schemas.openxmlformats.org/drawingml/2006/table">
            <a:tbl>
              <a:tblPr/>
              <a:tblGrid>
                <a:gridCol w="1188720"/>
                <a:gridCol w="1371600"/>
                <a:gridCol w="1280160"/>
                <a:gridCol w="1005840"/>
                <a:gridCol w="182880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Half-width</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Rotation control</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Seed control</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Gap</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Verdict</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84048">
                <a:tc>
                  <a:txBody>
                    <a:bodyPr/>
                    <a:lstStyle/>
                    <a:p>
                      <a:pPr algn="l" indent="0" marL="0">
                        <a:buNone/>
                      </a:pPr>
                      <a:r>
                        <a:rPr lang="en-US" sz="1100" b="1" dirty="0">
                          <a:solidFill>
                            <a:srgbClr val="1C1E33"/>
                          </a:solidFill>
                          <a:latin typeface="Calibri" pitchFamily="34" charset="0"/>
                          <a:ea typeface="Calibri" pitchFamily="34" charset="-122"/>
                          <a:cs typeface="Calibri" pitchFamily="34" charset="-120"/>
                        </a:rPr>
                        <a:t>15.000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0.905</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0.927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−0.022</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orientation-free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18.000</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0.897</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0.979</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C0692B"/>
                          </a:solidFill>
                          <a:latin typeface="Calibri" pitchFamily="34" charset="0"/>
                          <a:ea typeface="Calibri" pitchFamily="34" charset="-122"/>
                          <a:cs typeface="Calibri" pitchFamily="34" charset="-120"/>
                        </a:rPr>
                        <a:t>−0.082</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C0692B"/>
                          </a:solidFill>
                          <a:latin typeface="Calibri" pitchFamily="34" charset="0"/>
                          <a:ea typeface="Calibri" pitchFamily="34" charset="-122"/>
                          <a:cs typeface="Calibri" pitchFamily="34" charset="-120"/>
                        </a:rPr>
                        <a:t>orientation-dependent</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5" name="Text 2"/>
          <p:cNvSpPr txBox="1"/>
          <p:nvPr/>
        </p:nvSpPr>
        <p:spPr>
          <a:xfrm>
            <a:off x="594360" y="3127248"/>
            <a:ext cx="6675120" cy="0"/>
          </a:xfrm>
          <a:prstGeom prst="rect">
            <a:avLst/>
          </a:prstGeom>
          <a:noFill/>
          <a:ln/>
        </p:spPr>
        <p:txBody>
          <a:bodyPr wrap="square" lIns="0" tIns="0" rIns="0" bIns="0" rtlCol="0" anchor="t"/>
          <a:lstStyle/>
          <a:p>
            <a:pPr algn="l" indent="0" marL="0">
              <a:lnSpc>
                <a:spcPct val="113000"/>
              </a:lnSpc>
              <a:buNone/>
            </a:pPr>
            <a:r>
              <a:rPr lang="en-US" sz="1100" i="1" dirty="0">
                <a:solidFill>
                  <a:srgbClr val="5C6180"/>
                </a:solidFill>
                <a:latin typeface="Calibri" pitchFamily="34" charset="0"/>
                <a:ea typeface="Calibri" pitchFamily="34" charset="-122"/>
                <a:cs typeface="Calibri" pitchFamily="34" charset="-120"/>
              </a:rPr>
              <a:t>med, within position · receptor rotated about the grid center (zyx 37/23/51°) and re-docked</a:t>
            </a:r>
            <a:endParaRPr lang="en-US" sz="1100" dirty="0"/>
          </a:p>
        </p:txBody>
      </p:sp>
      <p:sp>
        <p:nvSpPr>
          <p:cNvPr id="6" name="Text 3"/>
          <p:cNvSpPr txBox="1"/>
          <p:nvPr/>
        </p:nvSpPr>
        <p:spPr>
          <a:xfrm>
            <a:off x="594360" y="3547872"/>
            <a:ext cx="6675120" cy="2011680"/>
          </a:xfrm>
          <a:prstGeom prst="rect">
            <a:avLst/>
          </a:prstGeom>
          <a:noFill/>
          <a:ln/>
        </p:spPr>
        <p:txBody>
          <a:bodyPr wrap="square" lIns="0" tIns="0" rIns="0" bIns="0" rtlCol="0" anchor="t"/>
          <a:lstStyle/>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A seed control is mandatory. </a:t>
            </a:r>
            <a:pPr indent="0" marL="0">
              <a:lnSpc>
                <a:spcPct val="116000"/>
              </a:lnSpc>
              <a:spcAft>
                <a:spcPts val="1000"/>
              </a:spcAft>
              <a:buNone/>
            </a:pPr>
            <a:r>
              <a:rPr lang="en-US" sz="1200" dirty="0">
                <a:solidFill>
                  <a:srgbClr val="1C1E33"/>
                </a:solidFill>
                <a:latin typeface="Calibri" pitchFamily="34" charset="0"/>
                <a:ea typeface="Calibri" pitchFamily="34" charset="-122"/>
                <a:cs typeface="Calibri" pitchFamily="34" charset="-120"/>
              </a:rPr>
              <a:t>Rotation changes the search trajectory itself, so without a yardstick for “a different search under equivalent conditions” the result cannot be interpreted.</a:t>
            </a:r>
            <a:endParaRPr lang="en-US" sz="1200" dirty="0"/>
          </a:p>
          <a:p>
            <a:pPr indent="0" marL="0">
              <a:lnSpc>
                <a:spcPct val="116000"/>
              </a:lnSpc>
              <a:buNone/>
            </a:pPr>
            <a:r>
              <a:rPr lang="en-US" sz="1200" b="1" dirty="0">
                <a:solidFill>
                  <a:srgbClr val="C0692B"/>
                </a:solidFill>
                <a:latin typeface="Calibri" pitchFamily="34" charset="0"/>
                <a:ea typeface="Calibri" pitchFamily="34" charset="-122"/>
                <a:cs typeface="Calibri" pitchFamily="34" charset="-120"/>
              </a:rPr>
              <a:t>The 0.520 maximum shift is not negligible. </a:t>
            </a:r>
            <a:pPr indent="0" marL="0">
              <a:lnSpc>
                <a:spcPct val="116000"/>
              </a:lnSpc>
              <a:spcAft>
                <a:spcPts val="1000"/>
              </a:spcAft>
              <a:buNone/>
            </a:pPr>
            <a:r>
              <a:rPr lang="en-US" sz="1200" dirty="0">
                <a:solidFill>
                  <a:srgbClr val="C0692B"/>
                </a:solidFill>
                <a:latin typeface="Calibri" pitchFamily="34" charset="0"/>
                <a:ea typeface="Calibri" pitchFamily="34" charset="-122"/>
                <a:cs typeface="Calibri" pitchFamily="34" charset="-120"/>
              </a:rPr>
              <a:t>That is 1.7σ against the 0.298 standard deviation across 288. The mean difference is 0.005, so there is no bias — a few structures simply move a lot. Ranking survives; absolute values do not.</a:t>
            </a:r>
            <a:endParaRPr lang="en-US" sz="1200" dirty="0"/>
          </a:p>
        </p:txBody>
      </p:sp>
      <p:sp>
        <p:nvSpPr>
          <p:cNvPr id="7" name="Shape 4"/>
          <p:cNvSpPr/>
          <p:nvPr/>
        </p:nvSpPr>
        <p:spPr>
          <a:xfrm>
            <a:off x="7543800" y="1783080"/>
            <a:ext cx="4023360" cy="4023360"/>
          </a:xfrm>
          <a:prstGeom prst="roundRect">
            <a:avLst>
              <a:gd name="adj" fmla="val 1364"/>
            </a:avLst>
          </a:prstGeom>
          <a:solidFill>
            <a:srgbClr val="F7F8FC"/>
          </a:solidFill>
          <a:ln w="12700">
            <a:solidFill>
              <a:srgbClr val="D6DAEE"/>
            </a:solidFill>
            <a:prstDash val="solid"/>
          </a:ln>
        </p:spPr>
      </p:sp>
      <p:sp>
        <p:nvSpPr>
          <p:cNvPr id="8" name="Text 5"/>
          <p:cNvSpPr txBox="1"/>
          <p:nvPr/>
        </p:nvSpPr>
        <p:spPr>
          <a:xfrm>
            <a:off x="7818120" y="1965960"/>
            <a:ext cx="3474720" cy="0"/>
          </a:xfrm>
          <a:prstGeom prst="rect">
            <a:avLst/>
          </a:prstGeom>
          <a:noFill/>
          <a:ln/>
        </p:spPr>
        <p:txBody>
          <a:bodyPr wrap="square" lIns="0" tIns="0" rIns="0" bIns="0" rtlCol="0" anchor="t"/>
          <a:lstStyle/>
          <a:p>
            <a:pPr algn="l" indent="0" marL="0">
              <a:lnSpc>
                <a:spcPct val="113000"/>
              </a:lnSpc>
              <a:buNone/>
            </a:pPr>
            <a:r>
              <a:rPr lang="en-US" sz="1200" b="1" dirty="0">
                <a:solidFill>
                  <a:srgbClr val="C0692B"/>
                </a:solidFill>
                <a:latin typeface="Calibri" pitchFamily="34" charset="0"/>
                <a:ea typeface="Calibri" pitchFamily="34" charset="-122"/>
                <a:cs typeface="Calibri" pitchFamily="34" charset="-120"/>
              </a:rPr>
              <a:t>Paradox</a:t>
            </a:r>
            <a:endParaRPr lang="en-US" sz="1200" dirty="0"/>
          </a:p>
        </p:txBody>
      </p:sp>
      <p:sp>
        <p:nvSpPr>
          <p:cNvPr id="9" name="Text 6"/>
          <p:cNvSpPr txBox="1"/>
          <p:nvPr/>
        </p:nvSpPr>
        <p:spPr>
          <a:xfrm>
            <a:off x="7818120" y="2267712"/>
            <a:ext cx="3474720" cy="0"/>
          </a:xfrm>
          <a:prstGeom prst="rect">
            <a:avLst/>
          </a:prstGeom>
          <a:noFill/>
          <a:ln/>
        </p:spPr>
        <p:txBody>
          <a:bodyPr wrap="square" lIns="0" tIns="0" rIns="0" bIns="0" rtlCol="0" anchor="t"/>
          <a:lstStyle/>
          <a:p>
            <a:pPr algn="l" indent="0" marL="0">
              <a:lnSpc>
                <a:spcPct val="113000"/>
              </a:lnSpc>
              <a:buNone/>
            </a:pPr>
            <a:r>
              <a:rPr lang="en-US" sz="1400" b="1" dirty="0">
                <a:solidFill>
                  <a:srgbClr val="1C1E33"/>
                </a:solidFill>
                <a:latin typeface="Calibri" pitchFamily="34" charset="0"/>
                <a:ea typeface="Calibri" pitchFamily="34" charset="-122"/>
                <a:cs typeface="Calibri" pitchFamily="34" charset="-120"/>
              </a:rPr>
              <a:t>High reproducibility is not correctness</a:t>
            </a:r>
            <a:endParaRPr lang="en-US" sz="1400" dirty="0"/>
          </a:p>
        </p:txBody>
      </p:sp>
      <p:sp>
        <p:nvSpPr>
          <p:cNvPr id="10" name="Text 7"/>
          <p:cNvSpPr txBox="1"/>
          <p:nvPr/>
        </p:nvSpPr>
        <p:spPr>
          <a:xfrm>
            <a:off x="7818120" y="2788920"/>
            <a:ext cx="3474720" cy="0"/>
          </a:xfrm>
          <a:prstGeom prst="rect">
            <a:avLst/>
          </a:prstGeom>
          <a:noFill/>
          <a:ln/>
        </p:spPr>
        <p:txBody>
          <a:bodyPr wrap="square" lIns="0" tIns="0" rIns="0" bIns="0" rtlCol="0" anchor="t"/>
          <a:lstStyle/>
          <a:p>
            <a:pPr algn="l" indent="0" marL="0">
              <a:lnSpc>
                <a:spcPct val="118000"/>
              </a:lnSpc>
              <a:buNone/>
            </a:pPr>
            <a:r>
              <a:rPr lang="en-US" sz="1100" dirty="0">
                <a:solidFill>
                  <a:srgbClr val="1C1E33"/>
                </a:solidFill>
                <a:latin typeface="Calibri" pitchFamily="34" charset="0"/>
                <a:ea typeface="Calibri" pitchFamily="34" charset="-122"/>
                <a:cs typeface="Calibri" pitchFamily="34" charset="-120"/>
              </a:rPr>
              <a:t>In the seed control, 18 Å (0.979) reproduces better than 15 Å (0.927). At 18 Å, 79% of poses are stuck in a single cluster, so changing the seed barely moves the median. At 15 Å several clusters compete at nearly equal energy, so it wobbles.</a:t>
            </a:r>
            <a:endParaRPr lang="en-US" sz="1100" dirty="0"/>
          </a:p>
        </p:txBody>
      </p:sp>
      <p:sp>
        <p:nvSpPr>
          <p:cNvPr id="11" name="Shape 8"/>
          <p:cNvSpPr/>
          <p:nvPr/>
        </p:nvSpPr>
        <p:spPr>
          <a:xfrm>
            <a:off x="7818120" y="4480560"/>
            <a:ext cx="3474720" cy="1143000"/>
          </a:xfrm>
          <a:prstGeom prst="roundRect">
            <a:avLst>
              <a:gd name="adj" fmla="val 4800"/>
            </a:avLst>
          </a:prstGeom>
          <a:solidFill>
            <a:srgbClr val="FBEEE2"/>
          </a:solidFill>
          <a:ln w="12700">
            <a:solidFill>
              <a:srgbClr val="E8C9A8"/>
            </a:solidFill>
            <a:prstDash val="solid"/>
          </a:ln>
        </p:spPr>
      </p:sp>
      <p:sp>
        <p:nvSpPr>
          <p:cNvPr id="12" name="Text 9"/>
          <p:cNvSpPr txBox="1"/>
          <p:nvPr/>
        </p:nvSpPr>
        <p:spPr>
          <a:xfrm>
            <a:off x="8019288" y="4681728"/>
            <a:ext cx="3072384" cy="0"/>
          </a:xfrm>
          <a:prstGeom prst="rect">
            <a:avLst/>
          </a:prstGeom>
          <a:noFill/>
          <a:ln/>
        </p:spPr>
        <p:txBody>
          <a:bodyPr wrap="square" lIns="0" tIns="0" rIns="0" bIns="0" rtlCol="0" anchor="t"/>
          <a:lstStyle/>
          <a:p>
            <a:pPr algn="l" indent="0" marL="0">
              <a:lnSpc>
                <a:spcPct val="118000"/>
              </a:lnSpc>
              <a:buNone/>
            </a:pPr>
            <a:r>
              <a:rPr lang="en-US" sz="1150" b="1" dirty="0">
                <a:solidFill>
                  <a:srgbClr val="C0692B"/>
                </a:solidFill>
                <a:latin typeface="Calibri" pitchFamily="34" charset="0"/>
                <a:ea typeface="Calibri" pitchFamily="34" charset="-122"/>
                <a:cs typeface="Calibri" pitchFamily="34" charset="-120"/>
              </a:rPr>
              <a:t>Measuring the wrong thing stably is worse than measuring the right thing with some wobble.</a:t>
            </a:r>
            <a:endParaRPr lang="en-US" sz="1150" dirty="0"/>
          </a:p>
        </p:txBody>
      </p:sp>
      <p:sp>
        <p:nvSpPr>
          <p:cNvPr id="13" name="Text 10"/>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BACKUP  B2</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med is the primary metric because it survives box perturbation</a:t>
            </a:r>
            <a:endParaRPr lang="en-US" sz="2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94360" y="1874520"/>
          <a:ext cx="6400800" cy="914400"/>
        </p:xfrm>
        <a:graphic>
          <a:graphicData uri="http://schemas.openxmlformats.org/drawingml/2006/table">
            <a:tbl>
              <a:tblPr/>
              <a:tblGrid>
                <a:gridCol w="2743200"/>
                <a:gridCol w="3657600"/>
              </a:tblGrid>
              <a:tr h="4114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Metric</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ρ within position  (15 → 18 Å, CE2 center)</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411480">
                <a:tc>
                  <a:txBody>
                    <a:bodyPr/>
                    <a:lstStyle/>
                    <a:p>
                      <a:pPr algn="l" indent="0" marL="0">
                        <a:buNone/>
                      </a:pPr>
                      <a:r>
                        <a:rPr lang="en-US" sz="1200" b="1" dirty="0">
                          <a:solidFill>
                            <a:srgbClr val="2F3596"/>
                          </a:solidFill>
                          <a:latin typeface="Calibri" pitchFamily="34" charset="0"/>
                          <a:ea typeface="Calibri" pitchFamily="34" charset="-122"/>
                          <a:cs typeface="Calibri" pitchFamily="34" charset="-120"/>
                        </a:rPr>
                        <a:t>med  (median of 50 runs)</a:t>
                      </a:r>
                      <a:endParaRPr lang="en-US" sz="12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200" b="1" dirty="0">
                          <a:solidFill>
                            <a:srgbClr val="2F3596"/>
                          </a:solidFill>
                          <a:latin typeface="Calibri" pitchFamily="34" charset="0"/>
                          <a:ea typeface="Calibri" pitchFamily="34" charset="-122"/>
                          <a:cs typeface="Calibri" pitchFamily="34" charset="-120"/>
                        </a:rPr>
                        <a:t>0.918  /  0.943</a:t>
                      </a:r>
                      <a:endParaRPr lang="en-US" sz="12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411480">
                <a:tc>
                  <a:txBody>
                    <a:bodyPr/>
                    <a:lstStyle/>
                    <a:p>
                      <a:pPr algn="l" indent="0" marL="0">
                        <a:buNone/>
                      </a:pPr>
                      <a:r>
                        <a:rPr lang="en-US" sz="1200" dirty="0">
                          <a:solidFill>
                            <a:srgbClr val="1C1E33"/>
                          </a:solidFill>
                          <a:latin typeface="Calibri" pitchFamily="34" charset="0"/>
                          <a:ea typeface="Calibri" pitchFamily="34" charset="-122"/>
                          <a:cs typeface="Calibri" pitchFamily="34" charset="-120"/>
                        </a:rPr>
                        <a:t>best  (single extreme value)</a:t>
                      </a:r>
                      <a:endParaRPr lang="en-US" sz="12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200" dirty="0">
                          <a:solidFill>
                            <a:srgbClr val="C0692B"/>
                          </a:solidFill>
                          <a:latin typeface="Calibri" pitchFamily="34" charset="0"/>
                          <a:ea typeface="Calibri" pitchFamily="34" charset="-122"/>
                          <a:cs typeface="Calibri" pitchFamily="34" charset="-120"/>
                        </a:rPr>
                        <a:t>0.674  /  0.691</a:t>
                      </a:r>
                      <a:endParaRPr lang="en-US" sz="12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5" name="Text 2"/>
          <p:cNvSpPr txBox="1"/>
          <p:nvPr/>
        </p:nvSpPr>
        <p:spPr>
          <a:xfrm>
            <a:off x="594360" y="3520440"/>
            <a:ext cx="6400800" cy="2194560"/>
          </a:xfrm>
          <a:prstGeom prst="rect">
            <a:avLst/>
          </a:prstGeom>
          <a:noFill/>
          <a:ln/>
        </p:spPr>
        <p:txBody>
          <a:bodyPr wrap="square" lIns="0" tIns="0" rIns="0" bIns="0" rtlCol="0" anchor="t"/>
          <a:lstStyle/>
          <a:p>
            <a:pPr indent="0" marL="0">
              <a:lnSpc>
                <a:spcPct val="116000"/>
              </a:lnSpc>
              <a:buNone/>
            </a:pPr>
            <a:r>
              <a:rPr lang="en-US" sz="1250" b="1" dirty="0">
                <a:solidFill>
                  <a:srgbClr val="1C1E33"/>
                </a:solidFill>
                <a:latin typeface="Calibri" pitchFamily="34" charset="0"/>
                <a:ea typeface="Calibri" pitchFamily="34" charset="-122"/>
                <a:cs typeface="Calibri" pitchFamily="34" charset="-120"/>
              </a:rPr>
              <a:t>best jumps the moment a new minimum appears. </a:t>
            </a:r>
            <a:pPr indent="0" marL="0">
              <a:lnSpc>
                <a:spcPct val="116000"/>
              </a:lnSpc>
              <a:spcAft>
                <a:spcPts val="1200"/>
              </a:spcAft>
              <a:buNone/>
            </a:pPr>
            <a:r>
              <a:rPr lang="en-US" sz="1250" dirty="0">
                <a:solidFill>
                  <a:srgbClr val="1C1E33"/>
                </a:solidFill>
                <a:latin typeface="Calibri" pitchFamily="34" charset="0"/>
                <a:ea typeface="Calibri" pitchFamily="34" charset="-122"/>
                <a:cs typeface="Calibri" pitchFamily="34" charset="-120"/>
              </a:rPr>
              <a:t>med is a robust statistic over the 50-run ensemble, so it holds its ranking when the landscape shifts slightly.</a:t>
            </a:r>
            <a:endParaRPr lang="en-US" sz="1250" dirty="0"/>
          </a:p>
          <a:p>
            <a:pPr indent="0" marL="0">
              <a:lnSpc>
                <a:spcPct val="116000"/>
              </a:lnSpc>
              <a:buNone/>
            </a:pPr>
            <a:r>
              <a:rPr lang="en-US" sz="1250" b="1" dirty="0">
                <a:solidFill>
                  <a:srgbClr val="1C1E33"/>
                </a:solidFill>
                <a:latin typeface="Calibri" pitchFamily="34" charset="0"/>
                <a:ea typeface="Calibri" pitchFamily="34" charset="-122"/>
                <a:cs typeface="Calibri" pitchFamily="34" charset="-120"/>
              </a:rPr>
              <a:t>Choosing a metric on n = 27 would be overfitting. </a:t>
            </a:r>
            <a:pPr indent="0" marL="0">
              <a:lnSpc>
                <a:spcPct val="116000"/>
              </a:lnSpc>
              <a:spcAft>
                <a:spcPts val="1200"/>
              </a:spcAft>
              <a:buNone/>
            </a:pPr>
            <a:r>
              <a:rPr lang="en-US" sz="1250" dirty="0">
                <a:solidFill>
                  <a:srgbClr val="1C1E33"/>
                </a:solidFill>
                <a:latin typeface="Calibri" pitchFamily="34" charset="0"/>
                <a:ea typeface="Calibri" pitchFamily="34" charset="-122"/>
                <a:cs typeface="Calibri" pitchFamily="34" charset="-120"/>
              </a:rPr>
              <a:t>Instead of selecting by correlation with measured Km, the question was answered with an independent criterion: stability under box perturbation.</a:t>
            </a:r>
            <a:endParaRPr lang="en-US" sz="1250" dirty="0"/>
          </a:p>
          <a:p>
            <a:pPr indent="0" marL="0">
              <a:lnSpc>
                <a:spcPct val="116000"/>
              </a:lnSpc>
              <a:buNone/>
            </a:pPr>
            <a:r>
              <a:rPr lang="en-US" sz="1250" b="1" dirty="0">
                <a:solidFill>
                  <a:srgbClr val="2F3596"/>
                </a:solidFill>
                <a:latin typeface="Calibri" pitchFamily="34" charset="0"/>
                <a:ea typeface="Calibri" pitchFamily="34" charset="-122"/>
                <a:cs typeface="Calibri" pitchFamily="34" charset="-120"/>
              </a:rPr>
              <a:t>med = −median(50 runs), reported with IQR. </a:t>
            </a:r>
            <a:pPr indent="0" marL="0">
              <a:lnSpc>
                <a:spcPct val="116000"/>
              </a:lnSpc>
              <a:spcAft>
                <a:spcPts val="1200"/>
              </a:spcAft>
              <a:buNone/>
            </a:pPr>
            <a:r>
              <a:rPr lang="en-US" sz="1250" dirty="0">
                <a:solidFill>
                  <a:srgbClr val="2F3596"/>
                </a:solidFill>
                <a:latin typeface="Calibri" pitchFamily="34" charset="0"/>
                <a:ea typeface="Calibri" pitchFamily="34" charset="-122"/>
                <a:cs typeface="Calibri" pitchFamily="34" charset="-120"/>
              </a:rPr>
              <a:t>Spread is quoted alongside the value everywhere.</a:t>
            </a:r>
            <a:endParaRPr lang="en-US" sz="1250" dirty="0"/>
          </a:p>
        </p:txBody>
      </p:sp>
      <p:sp>
        <p:nvSpPr>
          <p:cNvPr id="6" name="Shape 3"/>
          <p:cNvSpPr/>
          <p:nvPr/>
        </p:nvSpPr>
        <p:spPr>
          <a:xfrm>
            <a:off x="7360920" y="1874520"/>
            <a:ext cx="4206240" cy="2148840"/>
          </a:xfrm>
          <a:prstGeom prst="roundRect">
            <a:avLst>
              <a:gd name="adj" fmla="val 2553"/>
            </a:avLst>
          </a:prstGeom>
          <a:solidFill>
            <a:srgbClr val="F7F8FC"/>
          </a:solidFill>
          <a:ln w="12700">
            <a:solidFill>
              <a:srgbClr val="D6DAEE"/>
            </a:solidFill>
            <a:prstDash val="solid"/>
          </a:ln>
        </p:spPr>
      </p:sp>
      <p:sp>
        <p:nvSpPr>
          <p:cNvPr id="7" name="Text 4"/>
          <p:cNvSpPr txBox="1"/>
          <p:nvPr/>
        </p:nvSpPr>
        <p:spPr>
          <a:xfrm>
            <a:off x="7635240" y="2084832"/>
            <a:ext cx="3657600" cy="0"/>
          </a:xfrm>
          <a:prstGeom prst="rect">
            <a:avLst/>
          </a:prstGeom>
          <a:noFill/>
          <a:ln/>
        </p:spPr>
        <p:txBody>
          <a:bodyPr wrap="square" lIns="0" tIns="0" rIns="0" bIns="0" rtlCol="0" anchor="t"/>
          <a:lstStyle/>
          <a:p>
            <a:pPr algn="ctr" indent="0" marL="0">
              <a:lnSpc>
                <a:spcPct val="113000"/>
              </a:lnSpc>
              <a:buNone/>
            </a:pPr>
            <a:r>
              <a:rPr lang="en-US" sz="1200" b="1" dirty="0">
                <a:solidFill>
                  <a:srgbClr val="5C6180"/>
                </a:solidFill>
                <a:latin typeface="Calibri" pitchFamily="34" charset="0"/>
                <a:ea typeface="Calibri" pitchFamily="34" charset="-122"/>
                <a:cs typeface="Calibri" pitchFamily="34" charset="-120"/>
              </a:rPr>
              <a:t>50-run energy range</a:t>
            </a:r>
            <a:endParaRPr lang="en-US" sz="1200" dirty="0"/>
          </a:p>
        </p:txBody>
      </p:sp>
      <p:sp>
        <p:nvSpPr>
          <p:cNvPr id="8" name="Text 5"/>
          <p:cNvSpPr txBox="1"/>
          <p:nvPr/>
        </p:nvSpPr>
        <p:spPr>
          <a:xfrm>
            <a:off x="7635240" y="2395728"/>
            <a:ext cx="3657600" cy="0"/>
          </a:xfrm>
          <a:prstGeom prst="rect">
            <a:avLst/>
          </a:prstGeom>
          <a:noFill/>
          <a:ln/>
        </p:spPr>
        <p:txBody>
          <a:bodyPr wrap="square" lIns="0" tIns="0" rIns="0" bIns="0" rtlCol="0" anchor="t"/>
          <a:lstStyle/>
          <a:p>
            <a:pPr algn="ctr" indent="0" marL="0">
              <a:lnSpc>
                <a:spcPct val="113000"/>
              </a:lnSpc>
              <a:buNone/>
            </a:pPr>
            <a:r>
              <a:rPr lang="en-US" sz="4000" b="1" dirty="0">
                <a:solidFill>
                  <a:srgbClr val="2F3596"/>
                </a:solidFill>
                <a:latin typeface="Calibri" pitchFamily="34" charset="0"/>
                <a:ea typeface="Calibri" pitchFamily="34" charset="-122"/>
                <a:cs typeface="Calibri" pitchFamily="34" charset="-120"/>
              </a:rPr>
              <a:t>0.22</a:t>
            </a:r>
            <a:endParaRPr lang="en-US" sz="4000" dirty="0"/>
          </a:p>
        </p:txBody>
      </p:sp>
      <p:sp>
        <p:nvSpPr>
          <p:cNvPr id="9" name="Text 6"/>
          <p:cNvSpPr txBox="1"/>
          <p:nvPr/>
        </p:nvSpPr>
        <p:spPr>
          <a:xfrm>
            <a:off x="7635240" y="3035808"/>
            <a:ext cx="3657600" cy="0"/>
          </a:xfrm>
          <a:prstGeom prst="rect">
            <a:avLst/>
          </a:prstGeom>
          <a:noFill/>
          <a:ln/>
        </p:spPr>
        <p:txBody>
          <a:bodyPr wrap="square" lIns="0" tIns="0" rIns="0" bIns="0" rtlCol="0" anchor="t"/>
          <a:lstStyle/>
          <a:p>
            <a:pPr algn="ctr" indent="0" marL="0">
              <a:lnSpc>
                <a:spcPct val="113000"/>
              </a:lnSpc>
              <a:buNone/>
            </a:pPr>
            <a:r>
              <a:rPr lang="en-US" sz="1150" dirty="0">
                <a:solidFill>
                  <a:srgbClr val="5C6180"/>
                </a:solidFill>
                <a:latin typeface="Calibri" pitchFamily="34" charset="0"/>
                <a:ea typeface="Calibri" pitchFamily="34" charset="-122"/>
                <a:cs typeface="Calibri" pitchFamily="34" charset="-120"/>
              </a:rPr>
              <a:t>kcal/mol  at 15 Å</a:t>
            </a:r>
            <a:endParaRPr lang="en-US" sz="1150" dirty="0"/>
          </a:p>
        </p:txBody>
      </p:sp>
      <p:sp>
        <p:nvSpPr>
          <p:cNvPr id="10" name="Text 7"/>
          <p:cNvSpPr txBox="1"/>
          <p:nvPr/>
        </p:nvSpPr>
        <p:spPr>
          <a:xfrm>
            <a:off x="7635240" y="3383280"/>
            <a:ext cx="3657600" cy="0"/>
          </a:xfrm>
          <a:prstGeom prst="rect">
            <a:avLst/>
          </a:prstGeom>
          <a:noFill/>
          <a:ln/>
        </p:spPr>
        <p:txBody>
          <a:bodyPr wrap="square" lIns="0" tIns="0" rIns="0" bIns="0" rtlCol="0" anchor="t"/>
          <a:lstStyle/>
          <a:p>
            <a:pPr algn="ctr" indent="0" marL="0">
              <a:lnSpc>
                <a:spcPct val="113000"/>
              </a:lnSpc>
              <a:buNone/>
            </a:pPr>
            <a:r>
              <a:rPr lang="en-US" sz="1100" i="1" dirty="0">
                <a:solidFill>
                  <a:srgbClr val="5C6180"/>
                </a:solidFill>
                <a:latin typeface="Calibri" pitchFamily="34" charset="0"/>
                <a:ea typeface="Calibri" pitchFamily="34" charset="-122"/>
                <a:cs typeface="Calibri" pitchFamily="34" charset="-120"/>
              </a:rPr>
              <a:t>The landscape is flat — no basis for trusting a single extreme.</a:t>
            </a:r>
            <a:endParaRPr lang="en-US" sz="1100" dirty="0"/>
          </a:p>
        </p:txBody>
      </p:sp>
      <p:sp>
        <p:nvSpPr>
          <p:cNvPr id="11" name="Shape 8"/>
          <p:cNvSpPr/>
          <p:nvPr/>
        </p:nvSpPr>
        <p:spPr>
          <a:xfrm>
            <a:off x="7360920" y="4206240"/>
            <a:ext cx="4206240" cy="1508760"/>
          </a:xfrm>
          <a:prstGeom prst="roundRect">
            <a:avLst>
              <a:gd name="adj" fmla="val 3636"/>
            </a:avLst>
          </a:prstGeom>
          <a:solidFill>
            <a:srgbClr val="EEF0FA"/>
          </a:solidFill>
          <a:ln w="12700">
            <a:solidFill>
              <a:srgbClr val="D6DAEE"/>
            </a:solidFill>
            <a:prstDash val="solid"/>
          </a:ln>
        </p:spPr>
      </p:sp>
      <p:sp>
        <p:nvSpPr>
          <p:cNvPr id="12" name="Text 9"/>
          <p:cNvSpPr txBox="1"/>
          <p:nvPr/>
        </p:nvSpPr>
        <p:spPr>
          <a:xfrm>
            <a:off x="7635240" y="4389120"/>
            <a:ext cx="3657600" cy="0"/>
          </a:xfrm>
          <a:prstGeom prst="rect">
            <a:avLst/>
          </a:prstGeom>
          <a:noFill/>
          <a:ln/>
        </p:spPr>
        <p:txBody>
          <a:bodyPr wrap="square" lIns="0" tIns="0" rIns="0" bIns="0" rtlCol="0" anchor="t"/>
          <a:lstStyle/>
          <a:p>
            <a:pPr algn="l" indent="0" marL="0">
              <a:lnSpc>
                <a:spcPct val="113000"/>
              </a:lnSpc>
              <a:buNone/>
            </a:pPr>
            <a:r>
              <a:rPr lang="en-US" sz="1200" b="1" dirty="0">
                <a:solidFill>
                  <a:srgbClr val="2F3596"/>
                </a:solidFill>
                <a:latin typeface="Calibri" pitchFamily="34" charset="0"/>
                <a:ea typeface="Calibri" pitchFamily="34" charset="-122"/>
                <a:cs typeface="Calibri" pitchFamily="34" charset="-120"/>
              </a:rPr>
              <a:t>Run flags (required for reproducibility)</a:t>
            </a:r>
            <a:endParaRPr lang="en-US" sz="1200" dirty="0"/>
          </a:p>
        </p:txBody>
      </p:sp>
      <p:sp>
        <p:nvSpPr>
          <p:cNvPr id="13" name="Text 10"/>
          <p:cNvSpPr txBox="1"/>
          <p:nvPr/>
        </p:nvSpPr>
        <p:spPr>
          <a:xfrm>
            <a:off x="7635240" y="4709160"/>
            <a:ext cx="3657600" cy="0"/>
          </a:xfrm>
          <a:prstGeom prst="rect">
            <a:avLst/>
          </a:prstGeom>
          <a:noFill/>
          <a:ln/>
        </p:spPr>
        <p:txBody>
          <a:bodyPr wrap="square" lIns="0" tIns="0" rIns="0" bIns="0" rtlCol="0" anchor="t"/>
          <a:lstStyle/>
          <a:p>
            <a:pPr algn="l" indent="0" marL="0">
              <a:lnSpc>
                <a:spcPct val="122000"/>
              </a:lnSpc>
              <a:buNone/>
            </a:pPr>
            <a:r>
              <a:rPr lang="en-US" sz="1200" dirty="0">
                <a:solidFill>
                  <a:srgbClr val="1C1E33"/>
                </a:solidFill>
                <a:latin typeface="Calibri" pitchFamily="34" charset="0"/>
                <a:ea typeface="Calibri" pitchFamily="34" charset="-122"/>
                <a:cs typeface="Calibri" pitchFamily="34" charset="-120"/>
              </a:rPr>
              <a:t>--nrun 50 --seed 1</a:t>
            </a:r>
            <a:endParaRPr lang="en-US" sz="1200" dirty="0"/>
          </a:p>
          <a:p>
            <a:pPr algn="l" indent="0" marL="0">
              <a:lnSpc>
                <a:spcPct val="122000"/>
              </a:lnSpc>
              <a:buNone/>
            </a:pPr>
            <a:r>
              <a:rPr lang="en-US" sz="1200" dirty="0">
                <a:solidFill>
                  <a:srgbClr val="1C1E33"/>
                </a:solidFill>
                <a:latin typeface="Calibri" pitchFamily="34" charset="0"/>
                <a:ea typeface="Calibri" pitchFamily="34" charset="-122"/>
                <a:cs typeface="Calibri" pitchFamily="34" charset="-120"/>
              </a:rPr>
              <a:t>--heuristics 0 --autostop 0</a:t>
            </a:r>
            <a:endParaRPr lang="en-US" sz="1200" dirty="0"/>
          </a:p>
        </p:txBody>
      </p:sp>
      <p:sp>
        <p:nvSpPr>
          <p:cNvPr id="14" name="Text 11"/>
          <p:cNvSpPr txBox="1"/>
          <p:nvPr/>
        </p:nvSpPr>
        <p:spPr>
          <a:xfrm>
            <a:off x="7635240" y="5349240"/>
            <a:ext cx="3657600" cy="0"/>
          </a:xfrm>
          <a:prstGeom prst="rect">
            <a:avLst/>
          </a:prstGeom>
          <a:noFill/>
          <a:ln/>
        </p:spPr>
        <p:txBody>
          <a:bodyPr wrap="square" lIns="0" tIns="0" rIns="0" bIns="0" rtlCol="0" anchor="t"/>
          <a:lstStyle/>
          <a:p>
            <a:pPr algn="l" indent="0" marL="0">
              <a:lnSpc>
                <a:spcPct val="113000"/>
              </a:lnSpc>
              <a:buNone/>
            </a:pPr>
            <a:r>
              <a:rPr lang="en-US" sz="1000" dirty="0">
                <a:solidFill>
                  <a:srgbClr val="5C6180"/>
                </a:solidFill>
                <a:latin typeface="Calibri" pitchFamily="34" charset="0"/>
                <a:ea typeface="Calibri" pitchFamily="34" charset="-122"/>
                <a:cs typeface="Calibri" pitchFamily="34" charset="-120"/>
              </a:rPr>
              <a:t>Drop the last two and the run count becomes variable, collapsing reproducibility.</a:t>
            </a:r>
            <a:endParaRPr lang="en-US" sz="1000" dirty="0"/>
          </a:p>
        </p:txBody>
      </p:sp>
      <p:sp>
        <p:nvSpPr>
          <p:cNvPr id="15" name="Text 12"/>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BACKUP  B3</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Docking leads the simple descriptors, but at n = 21 the margin is not decisive</a:t>
            </a:r>
            <a:endParaRPr lang="en-US" sz="2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6217920" cy="914400"/>
        </p:xfrm>
        <a:graphic>
          <a:graphicData uri="http://schemas.openxmlformats.org/drawingml/2006/table">
            <a:tbl>
              <a:tblPr/>
              <a:tblGrid>
                <a:gridCol w="2834640"/>
                <a:gridCol w="1828800"/>
                <a:gridCol w="1554480"/>
              </a:tblGrid>
              <a:tr h="333756">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Descriptor</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ρ with measured Km</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Applies to homologs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33756">
                <a:tc>
                  <a:txBody>
                    <a:bodyPr/>
                    <a:lstStyle/>
                    <a:p>
                      <a:pPr algn="l" indent="0" marL="0">
                        <a:buNone/>
                      </a:pPr>
                      <a:r>
                        <a:rPr lang="en-US" sz="1100" b="1" dirty="0">
                          <a:solidFill>
                            <a:srgbClr val="2F3596"/>
                          </a:solidFill>
                          <a:latin typeface="Calibri" pitchFamily="34" charset="0"/>
                          <a:ea typeface="Calibri" pitchFamily="34" charset="-122"/>
                          <a:cs typeface="Calibri" pitchFamily="34" charset="-120"/>
                        </a:rPr>
                        <a:t>ad_med_lig  (docking)</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2F3596"/>
                          </a:solidFill>
                          <a:latin typeface="Calibri" pitchFamily="34" charset="0"/>
                          <a:ea typeface="Calibri" pitchFamily="34" charset="-122"/>
                          <a:cs typeface="Calibri" pitchFamily="34" charset="-120"/>
                        </a:rPr>
                        <a:t>0.903</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ad_best_ds  (docking)</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0.876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ad_med_ds  (docking)</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0.856</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b="1" dirty="0">
                          <a:solidFill>
                            <a:srgbClr val="C0692B"/>
                          </a:solidFill>
                          <a:latin typeface="Calibri" pitchFamily="34" charset="0"/>
                          <a:ea typeface="Calibri" pitchFamily="34" charset="-122"/>
                          <a:cs typeface="Calibri" pitchFamily="34" charset="-120"/>
                        </a:rPr>
                        <a:t>dchg  (mutation charge change)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b="1" dirty="0">
                          <a:solidFill>
                            <a:srgbClr val="C0692B"/>
                          </a:solidFill>
                          <a:latin typeface="Calibri" pitchFamily="34" charset="0"/>
                          <a:ea typeface="Calibri" pitchFamily="34" charset="-122"/>
                          <a:cs typeface="Calibri" pitchFamily="34" charset="-120"/>
                        </a:rPr>
                        <a:t>0.815</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C0692B"/>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cdock  (C-Docker)</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0.719</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chg</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0.594</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ev_dist</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0.465</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33756">
                <a:tc>
                  <a:txBody>
                    <a:bodyPr/>
                    <a:lstStyle/>
                    <a:p>
                      <a:pPr algn="l" indent="0" marL="0">
                        <a:buNone/>
                      </a:pPr>
                      <a:r>
                        <a:rPr lang="en-US" sz="1100" dirty="0">
                          <a:solidFill>
                            <a:srgbClr val="1C1E33"/>
                          </a:solidFill>
                          <a:latin typeface="Calibri" pitchFamily="34" charset="0"/>
                          <a:ea typeface="Calibri" pitchFamily="34" charset="-122"/>
                          <a:cs typeface="Calibri" pitchFamily="34" charset="-120"/>
                        </a:rPr>
                        <a:t>dvol / vol</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0.458 / 0.439</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100" dirty="0">
                          <a:solidFill>
                            <a:srgbClr val="1C1E33"/>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5" name="Text 2"/>
          <p:cNvSpPr txBox="1"/>
          <p:nvPr/>
        </p:nvSpPr>
        <p:spPr>
          <a:xfrm>
            <a:off x="7086600" y="1783080"/>
            <a:ext cx="4480560" cy="2377440"/>
          </a:xfrm>
          <a:prstGeom prst="rect">
            <a:avLst/>
          </a:prstGeom>
          <a:noFill/>
          <a:ln/>
        </p:spPr>
        <p:txBody>
          <a:bodyPr wrap="square" lIns="0" tIns="0" rIns="0" bIns="0" rtlCol="0" anchor="t"/>
          <a:lstStyle/>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dchg cannot be applied to homologs. </a:t>
            </a:r>
            <a:pPr indent="0" marL="0">
              <a:lnSpc>
                <a:spcPct val="116000"/>
              </a:lnSpc>
              <a:spcAft>
                <a:spcPts val="1200"/>
              </a:spcAft>
              <a:buNone/>
            </a:pPr>
            <a:r>
              <a:rPr lang="en-US" sz="1200" dirty="0">
                <a:solidFill>
                  <a:srgbClr val="1C1E33"/>
                </a:solidFill>
                <a:latin typeface="Calibri" pitchFamily="34" charset="0"/>
                <a:ea typeface="Calibri" pitchFamily="34" charset="-122"/>
                <a:cs typeface="Calibri" pitchFamily="34" charset="-120"/>
              </a:rPr>
              <a:t>It is defined only for variants, so extending to the whole family requires docking.</a:t>
            </a:r>
            <a:endParaRPr lang="en-US" sz="1200" dirty="0"/>
          </a:p>
          <a:p>
            <a:pPr indent="0" marL="0">
              <a:lnSpc>
                <a:spcPct val="116000"/>
              </a:lnSpc>
              <a:buNone/>
            </a:pPr>
            <a:r>
              <a:rPr lang="en-US" sz="1200" b="1" dirty="0">
                <a:solidFill>
                  <a:srgbClr val="C0692B"/>
                </a:solidFill>
                <a:latin typeface="Calibri" pitchFamily="34" charset="0"/>
                <a:ea typeface="Calibri" pitchFamily="34" charset="-122"/>
                <a:cs typeface="Calibri" pitchFamily="34" charset="-120"/>
              </a:rPr>
              <a:t>Whether docking carries information beyond charge is unverified. </a:t>
            </a:r>
            <a:pPr indent="0" marL="0">
              <a:lnSpc>
                <a:spcPct val="116000"/>
              </a:lnSpc>
              <a:spcAft>
                <a:spcPts val="1200"/>
              </a:spcAft>
              <a:buNone/>
            </a:pPr>
            <a:r>
              <a:rPr lang="en-US" sz="1200" dirty="0">
                <a:solidFill>
                  <a:srgbClr val="C0692B"/>
                </a:solidFill>
                <a:latin typeface="Calibri" pitchFamily="34" charset="0"/>
                <a:ea typeface="Calibri" pitchFamily="34" charset="-122"/>
                <a:cs typeface="Calibri" pitchFamily="34" charset="-120"/>
              </a:rPr>
              <a:t>Its incremental explanatory power after controlling for dchg should be measured across all 288 — the computation is straightforward but has not been run.</a:t>
            </a:r>
            <a:endParaRPr lang="en-US" sz="1200" dirty="0"/>
          </a:p>
        </p:txBody>
      </p:sp>
      <p:sp>
        <p:nvSpPr>
          <p:cNvPr id="6" name="Shape 3"/>
          <p:cNvSpPr/>
          <p:nvPr/>
        </p:nvSpPr>
        <p:spPr>
          <a:xfrm>
            <a:off x="7086600" y="4160520"/>
            <a:ext cx="4480560" cy="1691640"/>
          </a:xfrm>
          <a:prstGeom prst="roundRect">
            <a:avLst>
              <a:gd name="adj" fmla="val 3243"/>
            </a:avLst>
          </a:prstGeom>
          <a:solidFill>
            <a:srgbClr val="F7F8FC"/>
          </a:solidFill>
          <a:ln w="12700">
            <a:solidFill>
              <a:srgbClr val="D6DAEE"/>
            </a:solidFill>
            <a:prstDash val="solid"/>
          </a:ln>
        </p:spPr>
      </p:sp>
      <p:sp>
        <p:nvSpPr>
          <p:cNvPr id="7" name="Text 4"/>
          <p:cNvSpPr txBox="1"/>
          <p:nvPr/>
        </p:nvSpPr>
        <p:spPr>
          <a:xfrm>
            <a:off x="7360920" y="4343400"/>
            <a:ext cx="3931920" cy="0"/>
          </a:xfrm>
          <a:prstGeom prst="rect">
            <a:avLst/>
          </a:prstGeom>
          <a:noFill/>
          <a:ln/>
        </p:spPr>
        <p:txBody>
          <a:bodyPr wrap="square" lIns="0" tIns="0" rIns="0" bIns="0" rtlCol="0" anchor="t"/>
          <a:lstStyle/>
          <a:p>
            <a:pPr algn="l" indent="0" marL="0">
              <a:lnSpc>
                <a:spcPct val="113000"/>
              </a:lnSpc>
              <a:buNone/>
            </a:pPr>
            <a:r>
              <a:rPr lang="en-US" sz="1200" b="1" dirty="0">
                <a:solidFill>
                  <a:srgbClr val="2F3596"/>
                </a:solidFill>
                <a:latin typeface="Calibri" pitchFamily="34" charset="0"/>
                <a:ea typeface="Calibri" pitchFamily="34" charset="-122"/>
                <a:cs typeface="Calibri" pitchFamily="34" charset="-120"/>
              </a:rPr>
              <a:t>8X9F geometry (for reference)</a:t>
            </a:r>
            <a:endParaRPr lang="en-US" sz="1200" dirty="0"/>
          </a:p>
        </p:txBody>
      </p:sp>
      <p:sp>
        <p:nvSpPr>
          <p:cNvPr id="8" name="Text 5"/>
          <p:cNvSpPr txBox="1"/>
          <p:nvPr/>
        </p:nvSpPr>
        <p:spPr>
          <a:xfrm>
            <a:off x="7360920" y="4663440"/>
            <a:ext cx="3931920" cy="0"/>
          </a:xfrm>
          <a:prstGeom prst="rect">
            <a:avLst/>
          </a:prstGeom>
          <a:noFill/>
          <a:ln/>
        </p:spPr>
        <p:txBody>
          <a:bodyPr wrap="square" lIns="0" tIns="0" rIns="0" bIns="0" rtlCol="0" anchor="t"/>
          <a:lstStyle/>
          <a:p>
            <a:pPr algn="l" indent="0" marL="0">
              <a:lnSpc>
                <a:spcPct val="118000"/>
              </a:lnSpc>
              <a:buNone/>
            </a:pPr>
            <a:r>
              <a:rPr lang="en-US" sz="1100" dirty="0">
                <a:solidFill>
                  <a:srgbClr val="1C1E33"/>
                </a:solidFill>
                <a:latin typeface="Calibri" pitchFamily="34" charset="0"/>
                <a:ea typeface="Calibri" pitchFamily="34" charset="-122"/>
                <a:cs typeface="Calibri" pitchFamily="34" charset="-120"/>
              </a:rPr>
              <a:t>The EV centroid of chain A sits 12.65 Å from the grid center and chain A-2 sits at 16.89 Å. The two EV copies are 28.03 Å apart, placing the grid center between them. CA RMSD on superposition to 1SU6 protomer 1 is 0.28 Å.</a:t>
            </a:r>
            <a:endParaRPr lang="en-US" sz="1100" dirty="0"/>
          </a:p>
        </p:txBody>
      </p:sp>
      <p:sp>
        <p:nvSpPr>
          <p:cNvPr id="9" name="Text 6"/>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BACKUP  B4</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Fixed constants — the interface between sessions</a:t>
            </a:r>
            <a:endParaRPr lang="en-US" sz="2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94360" y="1783080"/>
          <a:ext cx="10972800" cy="914400"/>
        </p:xfrm>
        <a:graphic>
          <a:graphicData uri="http://schemas.openxmlformats.org/drawingml/2006/table">
            <a:tbl>
              <a:tblPr/>
              <a:tblGrid>
                <a:gridCol w="1691640"/>
                <a:gridCol w="3794760"/>
                <a:gridCol w="548640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Item</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Value</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Basis</a:t>
                      </a:r>
                      <a:endParaRPr lang="en-US" sz="110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solidFill>
                      <a:srgbClr val="2F3596"/>
                    </a:solidFill>
                  </a:tcPr>
                </a:tc>
              </a:tr>
              <a:tr h="384048">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Cluster threshold</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0.70</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chosen from a 0.30–0.90 sweep; reproduces the original 219 clusters</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Box center</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b="1" dirty="0">
                          <a:solidFill>
                            <a:srgbClr val="2F3596"/>
                          </a:solidFill>
                          <a:latin typeface="Calibri" pitchFamily="34" charset="0"/>
                          <a:ea typeface="Calibri" pitchFamily="34" charset="-122"/>
                          <a:cs typeface="Calibri" pitchFamily="34" charset="-120"/>
                        </a:rPr>
                        <a:t>residue-41 CA of each structure</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CE2 is absent in 11.7% of homologs (Ile and others)</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Box size</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b="1" dirty="0">
                          <a:solidFill>
                            <a:srgbClr val="2F3596"/>
                          </a:solidFill>
                          <a:latin typeface="Calibri" pitchFamily="34" charset="0"/>
                          <a:ea typeface="Calibri" pitchFamily="34" charset="-122"/>
                          <a:cs typeface="Calibri" pitchFamily="34" charset="-120"/>
                        </a:rPr>
                        <a:t>npts 80 × 0.375 = 15.000 Å half-width</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above 18 Å the within-position correlation falls 0.93 → 0.78</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Ligand</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ev_ds.pdbqt</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16 atoms / charge sum 1.998 / TORSDOF 3</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Run flags</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--nrun 50 --seed 1 --heuristics 0 --autostop 0</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without the last two the run count varies, breaking reproducibility</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Primary metric</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med (median of 50 runs)</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more robust than best under box perturbation</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Reference score</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Wildtype ad_med_ds = −4.38, IQR 0.09</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engines_288_CA_r15.csv</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r h="384048">
                <a:tc>
                  <a:txBody>
                    <a:bodyPr/>
                    <a:lstStyle/>
                    <a:p>
                      <a:pPr algn="l" indent="0" marL="0">
                        <a:buNone/>
                      </a:pPr>
                      <a:r>
                        <a:rPr lang="en-US" sz="1050" dirty="0">
                          <a:solidFill>
                            <a:srgbClr val="1C1E33"/>
                          </a:solidFill>
                          <a:latin typeface="Calibri" pitchFamily="34" charset="0"/>
                          <a:ea typeface="Calibri" pitchFamily="34" charset="-122"/>
                          <a:cs typeface="Calibri" pitchFamily="34" charset="-120"/>
                        </a:rPr>
                        <a:t>Seed</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20260916</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c>
                  <a:txBody>
                    <a:bodyPr/>
                    <a:lstStyle/>
                    <a:p>
                      <a:pPr algn="ctr" indent="0" marL="0">
                        <a:buNone/>
                      </a:pPr>
                      <a:r>
                        <a:rPr lang="en-US" sz="1050" dirty="0">
                          <a:solidFill>
                            <a:srgbClr val="1C1E33"/>
                          </a:solidFill>
                          <a:latin typeface="Calibri" pitchFamily="34" charset="0"/>
                          <a:ea typeface="Calibri" pitchFamily="34" charset="-122"/>
                          <a:cs typeface="Calibri" pitchFamily="34" charset="-120"/>
                        </a:rPr>
                        <a:t>reproduces selection, split and experiment sets</a:t>
                      </a:r>
                      <a:endParaRPr lang="en-US" sz="1050" dirty="0">
                        <a:latin typeface="Calibri" charset="0"/>
                        <a:ea typeface="Calibri" charset="0"/>
                        <a:cs typeface="Calibri" charset="0"/>
                      </a:endParaRPr>
                    </a:p>
                  </a:txBody>
                  <a:tcPr marL="91440" marR="91440" marT="45720" marB="45720" anchor="ctr">
                    <a:lnL w="9525" cap="flat" cmpd="sng" algn="ctr">
                      <a:solidFill>
                        <a:srgbClr val="D6DAEE"/>
                      </a:solidFill>
                      <a:prstDash val="solid"/>
                      <a:round/>
                      <a:headEnd type="none" w="med" len="med"/>
                      <a:tailEnd type="none" w="med" len="med"/>
                    </a:lnL>
                    <a:lnR w="9525" cap="flat" cmpd="sng" algn="ctr">
                      <a:solidFill>
                        <a:srgbClr val="D6DAEE"/>
                      </a:solidFill>
                      <a:prstDash val="solid"/>
                      <a:round/>
                      <a:headEnd type="none" w="med" len="med"/>
                      <a:tailEnd type="none" w="med" len="med"/>
                    </a:lnR>
                    <a:lnT w="9525" cap="flat" cmpd="sng" algn="ctr">
                      <a:solidFill>
                        <a:srgbClr val="D6DAEE"/>
                      </a:solidFill>
                      <a:prstDash val="solid"/>
                      <a:round/>
                      <a:headEnd type="none" w="med" len="med"/>
                      <a:tailEnd type="none" w="med" len="med"/>
                    </a:lnT>
                    <a:lnB w="9525" cap="flat" cmpd="sng" algn="ctr">
                      <a:solidFill>
                        <a:srgbClr val="D6DAEE"/>
                      </a:solidFill>
                      <a:prstDash val="solid"/>
                      <a:round/>
                      <a:headEnd type="none" w="med" len="med"/>
                      <a:tailEnd type="none" w="med" len="med"/>
                    </a:lnB>
                  </a:tcPr>
                </a:tc>
              </a:tr>
            </a:tbl>
          </a:graphicData>
        </a:graphic>
      </p:graphicFrame>
      <p:sp>
        <p:nvSpPr>
          <p:cNvPr id="5" name="Shape 2"/>
          <p:cNvSpPr/>
          <p:nvPr/>
        </p:nvSpPr>
        <p:spPr>
          <a:xfrm>
            <a:off x="594360" y="5376672"/>
            <a:ext cx="10972800" cy="1024128"/>
          </a:xfrm>
          <a:prstGeom prst="roundRect">
            <a:avLst>
              <a:gd name="adj" fmla="val 5357"/>
            </a:avLst>
          </a:prstGeom>
          <a:solidFill>
            <a:srgbClr val="FBEEE2"/>
          </a:solidFill>
          <a:ln w="12700">
            <a:solidFill>
              <a:srgbClr val="E8C9A8"/>
            </a:solidFill>
            <a:prstDash val="solid"/>
          </a:ln>
        </p:spPr>
      </p:sp>
      <p:sp>
        <p:nvSpPr>
          <p:cNvPr id="6" name="Text 3"/>
          <p:cNvSpPr txBox="1"/>
          <p:nvPr/>
        </p:nvSpPr>
        <p:spPr>
          <a:xfrm>
            <a:off x="886968" y="5522976"/>
            <a:ext cx="10387584" cy="0"/>
          </a:xfrm>
          <a:prstGeom prst="rect">
            <a:avLst/>
          </a:prstGeom>
          <a:noFill/>
          <a:ln/>
        </p:spPr>
        <p:txBody>
          <a:bodyPr wrap="square" lIns="0" tIns="0" rIns="0" bIns="0" rtlCol="0" anchor="t"/>
          <a:lstStyle/>
          <a:p>
            <a:pPr algn="l" indent="0" marL="0">
              <a:lnSpc>
                <a:spcPct val="113000"/>
              </a:lnSpc>
              <a:buNone/>
            </a:pPr>
            <a:r>
              <a:rPr lang="en-US" sz="1200" b="1" dirty="0">
                <a:solidFill>
                  <a:srgbClr val="C0692B"/>
                </a:solidFill>
                <a:latin typeface="Calibri" pitchFamily="34" charset="0"/>
                <a:ea typeface="Calibri" pitchFamily="34" charset="-122"/>
                <a:cs typeface="Calibri" pitchFamily="34" charset="-120"/>
              </a:rPr>
              <a:t>Regenerating the ligand with obabel or prepare_ligand4 drops its charge sum from +2 to 0.000.</a:t>
            </a:r>
            <a:endParaRPr lang="en-US" sz="1200" dirty="0"/>
          </a:p>
        </p:txBody>
      </p:sp>
      <p:sp>
        <p:nvSpPr>
          <p:cNvPr id="7" name="Text 4"/>
          <p:cNvSpPr txBox="1"/>
          <p:nvPr/>
        </p:nvSpPr>
        <p:spPr>
          <a:xfrm>
            <a:off x="886968" y="5833872"/>
            <a:ext cx="10387584" cy="0"/>
          </a:xfrm>
          <a:prstGeom prst="rect">
            <a:avLst/>
          </a:prstGeom>
          <a:noFill/>
          <a:ln/>
        </p:spPr>
        <p:txBody>
          <a:bodyPr wrap="square" lIns="0" tIns="0" rIns="0" bIns="0" rtlCol="0" anchor="t"/>
          <a:lstStyle/>
          <a:p>
            <a:pPr algn="l" indent="0" marL="0">
              <a:lnSpc>
                <a:spcPct val="115000"/>
              </a:lnSpc>
              <a:buNone/>
            </a:pPr>
            <a:r>
              <a:rPr lang="en-US" sz="1100" dirty="0">
                <a:solidFill>
                  <a:srgbClr val="1C1E33"/>
                </a:solidFill>
                <a:latin typeface="Calibri" pitchFamily="34" charset="0"/>
                <a:ea typeface="Calibri" pitchFamily="34" charset="-122"/>
                <a:cs typeface="Calibri" pitchFamily="34" charset="-120"/>
              </a:rPr>
              <a:t>The signal disappears entirely while the output numbers still look normal, so it is hard to notice. GPF generators are likewise forbidden — a parameter_file None line makes autogrid4 segfault.</a:t>
            </a:r>
            <a:endParaRPr lang="en-US" sz="1100" dirty="0"/>
          </a:p>
        </p:txBody>
      </p:sp>
      <p:sp>
        <p:nvSpPr>
          <p:cNvPr id="8" name="Text 5"/>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BACKUP  B5</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Four limitations to state explicitly</a:t>
            </a:r>
            <a:endParaRPr lang="en-US" sz="2600" dirty="0"/>
          </a:p>
        </p:txBody>
      </p:sp>
      <p:sp>
        <p:nvSpPr>
          <p:cNvPr id="4" name="Shape 2"/>
          <p:cNvSpPr/>
          <p:nvPr/>
        </p:nvSpPr>
        <p:spPr>
          <a:xfrm>
            <a:off x="594360" y="1691640"/>
            <a:ext cx="10972800" cy="1280160"/>
          </a:xfrm>
          <a:prstGeom prst="roundRect">
            <a:avLst>
              <a:gd name="adj" fmla="val 4286"/>
            </a:avLst>
          </a:prstGeom>
          <a:solidFill>
            <a:srgbClr val="FBEEE2"/>
          </a:solidFill>
          <a:ln w="12700">
            <a:solidFill>
              <a:srgbClr val="E8C9A8"/>
            </a:solidFill>
            <a:prstDash val="solid"/>
          </a:ln>
        </p:spPr>
      </p:sp>
      <p:sp>
        <p:nvSpPr>
          <p:cNvPr id="5" name="Shape 3"/>
          <p:cNvSpPr/>
          <p:nvPr/>
        </p:nvSpPr>
        <p:spPr>
          <a:xfrm>
            <a:off x="850392" y="1874520"/>
            <a:ext cx="365760" cy="365760"/>
          </a:xfrm>
          <a:prstGeom prst="ellipse">
            <a:avLst/>
          </a:prstGeom>
          <a:solidFill>
            <a:srgbClr val="C0692B"/>
          </a:solidFill>
          <a:ln/>
        </p:spPr>
      </p:sp>
      <p:sp>
        <p:nvSpPr>
          <p:cNvPr id="6" name="Text 4"/>
          <p:cNvSpPr txBox="1"/>
          <p:nvPr/>
        </p:nvSpPr>
        <p:spPr>
          <a:xfrm>
            <a:off x="850392" y="1874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344168" y="1856232"/>
            <a:ext cx="9875520" cy="0"/>
          </a:xfrm>
          <a:prstGeom prst="rect">
            <a:avLst/>
          </a:prstGeom>
          <a:noFill/>
          <a:ln/>
        </p:spPr>
        <p:txBody>
          <a:bodyPr wrap="square" lIns="0" tIns="0" rIns="0" bIns="0" rtlCol="0" anchor="t"/>
          <a:lstStyle/>
          <a:p>
            <a:pPr algn="l" indent="0" marL="0">
              <a:lnSpc>
                <a:spcPct val="113000"/>
              </a:lnSpc>
              <a:buNone/>
            </a:pPr>
            <a:r>
              <a:rPr lang="en-US" sz="1300" b="1" dirty="0">
                <a:solidFill>
                  <a:srgbClr val="C0692B"/>
                </a:solidFill>
                <a:latin typeface="Calibri" pitchFamily="34" charset="0"/>
                <a:ea typeface="Calibri" pitchFamily="34" charset="-122"/>
                <a:cs typeface="Calibri" pitchFamily="34" charset="-120"/>
              </a:rPr>
              <a:t>Fe-S clusters are absent</a:t>
            </a:r>
            <a:endParaRPr lang="en-US" sz="1300" dirty="0"/>
          </a:p>
        </p:txBody>
      </p:sp>
      <p:sp>
        <p:nvSpPr>
          <p:cNvPr id="8" name="Text 6"/>
          <p:cNvSpPr txBox="1"/>
          <p:nvPr/>
        </p:nvSpPr>
        <p:spPr>
          <a:xfrm>
            <a:off x="1344168" y="2167128"/>
            <a:ext cx="9875520" cy="0"/>
          </a:xfrm>
          <a:prstGeom prst="rect">
            <a:avLst/>
          </a:prstGeom>
          <a:noFill/>
          <a:ln/>
        </p:spPr>
        <p:txBody>
          <a:bodyPr wrap="square" lIns="0" tIns="0" rIns="0" bIns="0" rtlCol="0" anchor="t"/>
          <a:lstStyle/>
          <a:p>
            <a:pPr algn="l" indent="0" marL="0">
              <a:lnSpc>
                <a:spcPct val="116000"/>
              </a:lnSpc>
              <a:buNone/>
            </a:pPr>
            <a:r>
              <a:rPr lang="en-US" sz="1100" dirty="0">
                <a:solidFill>
                  <a:srgbClr val="1C1E33"/>
                </a:solidFill>
                <a:latin typeface="Calibri" pitchFamily="34" charset="0"/>
                <a:ea typeface="Calibri" pitchFamily="34" charset="-122"/>
                <a:cs typeface="Calibri" pitchFamily="34" charset="-120"/>
              </a:rPr>
              <a:t>FES (2Fe-2S) lies 5.13 Å from the residue-41 CA, right beside the binding site, but receptor_types carries no metal so it is missing from both sets. The comparison is internally consistent while the electrostatic environment is incomplete. AlphaFold cannot predict cofactors, so there is no alternative — and the fact that ρ = 0.88 against measured Km is reached even so suggests the cluster is not essential for ranking.</a:t>
            </a:r>
            <a:endParaRPr lang="en-US" sz="1100" dirty="0"/>
          </a:p>
        </p:txBody>
      </p:sp>
      <p:sp>
        <p:nvSpPr>
          <p:cNvPr id="9" name="Shape 7"/>
          <p:cNvSpPr/>
          <p:nvPr/>
        </p:nvSpPr>
        <p:spPr>
          <a:xfrm>
            <a:off x="594360" y="3108960"/>
            <a:ext cx="10972800" cy="868680"/>
          </a:xfrm>
          <a:prstGeom prst="roundRect">
            <a:avLst>
              <a:gd name="adj" fmla="val 6316"/>
            </a:avLst>
          </a:prstGeom>
          <a:solidFill>
            <a:srgbClr val="F7F8FC"/>
          </a:solidFill>
          <a:ln w="12700">
            <a:solidFill>
              <a:srgbClr val="D6DAEE"/>
            </a:solidFill>
            <a:prstDash val="solid"/>
          </a:ln>
        </p:spPr>
      </p:sp>
      <p:sp>
        <p:nvSpPr>
          <p:cNvPr id="10" name="Shape 8"/>
          <p:cNvSpPr/>
          <p:nvPr/>
        </p:nvSpPr>
        <p:spPr>
          <a:xfrm>
            <a:off x="850392" y="3291840"/>
            <a:ext cx="365760" cy="365760"/>
          </a:xfrm>
          <a:prstGeom prst="ellipse">
            <a:avLst/>
          </a:prstGeom>
          <a:solidFill>
            <a:srgbClr val="6A72CE"/>
          </a:solidFill>
          <a:ln/>
        </p:spPr>
      </p:sp>
      <p:sp>
        <p:nvSpPr>
          <p:cNvPr id="11" name="Text 9"/>
          <p:cNvSpPr txBox="1"/>
          <p:nvPr/>
        </p:nvSpPr>
        <p:spPr>
          <a:xfrm>
            <a:off x="850392" y="3291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1344168" y="3273552"/>
            <a:ext cx="9875520" cy="0"/>
          </a:xfrm>
          <a:prstGeom prst="rect">
            <a:avLst/>
          </a:prstGeom>
          <a:noFill/>
          <a:ln/>
        </p:spPr>
        <p:txBody>
          <a:bodyPr wrap="square" lIns="0" tIns="0" rIns="0" bIns="0" rtlCol="0" anchor="t"/>
          <a:lstStyle/>
          <a:p>
            <a:pPr algn="l" indent="0" marL="0">
              <a:lnSpc>
                <a:spcPct val="113000"/>
              </a:lnSpc>
              <a:buNone/>
            </a:pPr>
            <a:r>
              <a:rPr lang="en-US" sz="1300" b="1" dirty="0">
                <a:solidFill>
                  <a:srgbClr val="1C1E33"/>
                </a:solidFill>
                <a:latin typeface="Calibri" pitchFamily="34" charset="0"/>
                <a:ea typeface="Calibri" pitchFamily="34" charset="-122"/>
                <a:cs typeface="Calibri" pitchFamily="34" charset="-120"/>
              </a:rPr>
              <a:t>No high-identity homologs</a:t>
            </a:r>
            <a:endParaRPr lang="en-US" sz="1300" dirty="0"/>
          </a:p>
        </p:txBody>
      </p:sp>
      <p:sp>
        <p:nvSpPr>
          <p:cNvPr id="13" name="Text 11"/>
          <p:cNvSpPr txBox="1"/>
          <p:nvPr/>
        </p:nvSpPr>
        <p:spPr>
          <a:xfrm>
            <a:off x="1344168" y="3584448"/>
            <a:ext cx="9875520" cy="0"/>
          </a:xfrm>
          <a:prstGeom prst="rect">
            <a:avLst/>
          </a:prstGeom>
          <a:noFill/>
          <a:ln/>
        </p:spPr>
        <p:txBody>
          <a:bodyPr wrap="square" lIns="0" tIns="0" rIns="0" bIns="0" rtlCol="0" anchor="t"/>
          <a:lstStyle/>
          <a:p>
            <a:pPr algn="l" indent="0" marL="0">
              <a:lnSpc>
                <a:spcPct val="116000"/>
              </a:lnSpc>
              <a:buNone/>
            </a:pPr>
            <a:r>
              <a:rPr lang="en-US" sz="1100" dirty="0">
                <a:solidFill>
                  <a:srgbClr val="1C1E33"/>
                </a:solidFill>
                <a:latin typeface="Calibri" pitchFamily="34" charset="0"/>
                <a:ea typeface="Calibri" pitchFamily="34" charset="-122"/>
                <a:cs typeface="Calibri" pitchFamily="34" charset="-120"/>
              </a:rPr>
              <a:t>Only 3–4 sequences exceed 90% identity and 62.5–72.5% is empty. The model has to work in the 30–50% regime from the outset.</a:t>
            </a:r>
            <a:endParaRPr lang="en-US" sz="1100" dirty="0"/>
          </a:p>
        </p:txBody>
      </p:sp>
      <p:sp>
        <p:nvSpPr>
          <p:cNvPr id="14" name="Shape 12"/>
          <p:cNvSpPr/>
          <p:nvPr/>
        </p:nvSpPr>
        <p:spPr>
          <a:xfrm>
            <a:off x="594360" y="4114800"/>
            <a:ext cx="10972800" cy="868680"/>
          </a:xfrm>
          <a:prstGeom prst="roundRect">
            <a:avLst>
              <a:gd name="adj" fmla="val 6316"/>
            </a:avLst>
          </a:prstGeom>
          <a:solidFill>
            <a:srgbClr val="F7F8FC"/>
          </a:solidFill>
          <a:ln w="12700">
            <a:solidFill>
              <a:srgbClr val="D6DAEE"/>
            </a:solidFill>
            <a:prstDash val="solid"/>
          </a:ln>
        </p:spPr>
      </p:sp>
      <p:sp>
        <p:nvSpPr>
          <p:cNvPr id="15" name="Shape 13"/>
          <p:cNvSpPr/>
          <p:nvPr/>
        </p:nvSpPr>
        <p:spPr>
          <a:xfrm>
            <a:off x="850392" y="4297680"/>
            <a:ext cx="365760" cy="365760"/>
          </a:xfrm>
          <a:prstGeom prst="ellipse">
            <a:avLst/>
          </a:prstGeom>
          <a:solidFill>
            <a:srgbClr val="6A72CE"/>
          </a:solidFill>
          <a:ln/>
        </p:spPr>
      </p:sp>
      <p:sp>
        <p:nvSpPr>
          <p:cNvPr id="16" name="Text 14"/>
          <p:cNvSpPr txBox="1"/>
          <p:nvPr/>
        </p:nvSpPr>
        <p:spPr>
          <a:xfrm>
            <a:off x="850392" y="429768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344168" y="4279392"/>
            <a:ext cx="9875520" cy="0"/>
          </a:xfrm>
          <a:prstGeom prst="rect">
            <a:avLst/>
          </a:prstGeom>
          <a:noFill/>
          <a:ln/>
        </p:spPr>
        <p:txBody>
          <a:bodyPr wrap="square" lIns="0" tIns="0" rIns="0" bIns="0" rtlCol="0" anchor="t"/>
          <a:lstStyle/>
          <a:p>
            <a:pPr algn="l" indent="0" marL="0">
              <a:lnSpc>
                <a:spcPct val="113000"/>
              </a:lnSpc>
              <a:buNone/>
            </a:pPr>
            <a:r>
              <a:rPr lang="en-US" sz="1300" b="1" dirty="0">
                <a:solidFill>
                  <a:srgbClr val="1C1E33"/>
                </a:solidFill>
                <a:latin typeface="Calibri" pitchFamily="34" charset="0"/>
                <a:ea typeface="Calibri" pitchFamily="34" charset="-122"/>
                <a:cs typeface="Calibri" pitchFamily="34" charset="-120"/>
              </a:rPr>
              <a:t>Structural confidence in the low-identity bin</a:t>
            </a:r>
            <a:endParaRPr lang="en-US" sz="1300" dirty="0"/>
          </a:p>
        </p:txBody>
      </p:sp>
      <p:sp>
        <p:nvSpPr>
          <p:cNvPr id="18" name="Text 16"/>
          <p:cNvSpPr txBox="1"/>
          <p:nvPr/>
        </p:nvSpPr>
        <p:spPr>
          <a:xfrm>
            <a:off x="1344168" y="4590288"/>
            <a:ext cx="9875520" cy="0"/>
          </a:xfrm>
          <a:prstGeom prst="rect">
            <a:avLst/>
          </a:prstGeom>
          <a:noFill/>
          <a:ln/>
        </p:spPr>
        <p:txBody>
          <a:bodyPr wrap="square" lIns="0" tIns="0" rIns="0" bIns="0" rtlCol="0" anchor="t"/>
          <a:lstStyle/>
          <a:p>
            <a:pPr algn="l" indent="0" marL="0">
              <a:lnSpc>
                <a:spcPct val="116000"/>
              </a:lnSpc>
              <a:buNone/>
            </a:pPr>
            <a:r>
              <a:rPr lang="en-US" sz="1100" dirty="0">
                <a:solidFill>
                  <a:srgbClr val="1C1E33"/>
                </a:solidFill>
                <a:latin typeface="Calibri" pitchFamily="34" charset="0"/>
                <a:ea typeface="Calibri" pitchFamily="34" charset="-122"/>
                <a:cs typeface="Calibri" pitchFamily="34" charset="-120"/>
              </a:rPr>
              <a:t>The &lt; 30 bin has the least accurate assembly RMSD and only 10 clusters, so the final increment of the learning curve rests on 7 sequences.</a:t>
            </a:r>
            <a:endParaRPr lang="en-US" sz="1100" dirty="0"/>
          </a:p>
        </p:txBody>
      </p:sp>
      <p:sp>
        <p:nvSpPr>
          <p:cNvPr id="19" name="Shape 17"/>
          <p:cNvSpPr/>
          <p:nvPr/>
        </p:nvSpPr>
        <p:spPr>
          <a:xfrm>
            <a:off x="594360" y="5120640"/>
            <a:ext cx="10972800" cy="868680"/>
          </a:xfrm>
          <a:prstGeom prst="roundRect">
            <a:avLst>
              <a:gd name="adj" fmla="val 6316"/>
            </a:avLst>
          </a:prstGeom>
          <a:solidFill>
            <a:srgbClr val="F7F8FC"/>
          </a:solidFill>
          <a:ln w="12700">
            <a:solidFill>
              <a:srgbClr val="D6DAEE"/>
            </a:solidFill>
            <a:prstDash val="solid"/>
          </a:ln>
        </p:spPr>
      </p:sp>
      <p:sp>
        <p:nvSpPr>
          <p:cNvPr id="20" name="Shape 18"/>
          <p:cNvSpPr/>
          <p:nvPr/>
        </p:nvSpPr>
        <p:spPr>
          <a:xfrm>
            <a:off x="850392" y="5303520"/>
            <a:ext cx="365760" cy="365760"/>
          </a:xfrm>
          <a:prstGeom prst="ellipse">
            <a:avLst/>
          </a:prstGeom>
          <a:solidFill>
            <a:srgbClr val="6A72CE"/>
          </a:solidFill>
          <a:ln/>
        </p:spPr>
      </p:sp>
      <p:sp>
        <p:nvSpPr>
          <p:cNvPr id="21" name="Text 19"/>
          <p:cNvSpPr txBox="1"/>
          <p:nvPr/>
        </p:nvSpPr>
        <p:spPr>
          <a:xfrm>
            <a:off x="850392" y="530352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1344168" y="5285232"/>
            <a:ext cx="9875520" cy="0"/>
          </a:xfrm>
          <a:prstGeom prst="rect">
            <a:avLst/>
          </a:prstGeom>
          <a:noFill/>
          <a:ln/>
        </p:spPr>
        <p:txBody>
          <a:bodyPr wrap="square" lIns="0" tIns="0" rIns="0" bIns="0" rtlCol="0" anchor="t"/>
          <a:lstStyle/>
          <a:p>
            <a:pPr algn="l" indent="0" marL="0">
              <a:lnSpc>
                <a:spcPct val="113000"/>
              </a:lnSpc>
              <a:buNone/>
            </a:pPr>
            <a:r>
              <a:rPr lang="en-US" sz="1300" b="1" dirty="0">
                <a:solidFill>
                  <a:srgbClr val="1C1E33"/>
                </a:solidFill>
                <a:latin typeface="Calibri" pitchFamily="34" charset="0"/>
                <a:ea typeface="Calibri" pitchFamily="34" charset="-122"/>
                <a:cs typeface="Calibri" pitchFamily="34" charset="-120"/>
              </a:rPr>
              <a:t>Mixed structure prediction methods</a:t>
            </a:r>
            <a:endParaRPr lang="en-US" sz="1300" dirty="0"/>
          </a:p>
        </p:txBody>
      </p:sp>
      <p:sp>
        <p:nvSpPr>
          <p:cNvPr id="23" name="Text 21"/>
          <p:cNvSpPr txBox="1"/>
          <p:nvPr/>
        </p:nvSpPr>
        <p:spPr>
          <a:xfrm>
            <a:off x="1344168" y="5596128"/>
            <a:ext cx="9875520" cy="0"/>
          </a:xfrm>
          <a:prstGeom prst="rect">
            <a:avLst/>
          </a:prstGeom>
          <a:noFill/>
          <a:ln/>
        </p:spPr>
        <p:txBody>
          <a:bodyPr wrap="square" lIns="0" tIns="0" rIns="0" bIns="0" rtlCol="0" anchor="t"/>
          <a:lstStyle/>
          <a:p>
            <a:pPr algn="l" indent="0" marL="0">
              <a:lnSpc>
                <a:spcPct val="116000"/>
              </a:lnSpc>
              <a:buNone/>
            </a:pPr>
            <a:r>
              <a:rPr lang="en-US" sz="1100" dirty="0">
                <a:solidFill>
                  <a:srgbClr val="1C1E33"/>
                </a:solidFill>
                <a:latin typeface="Calibri" pitchFamily="34" charset="0"/>
                <a:ea typeface="Calibri" pitchFamily="34" charset="-122"/>
                <a:cs typeface="Calibri" pitchFamily="34" charset="-120"/>
              </a:rPr>
              <a:t>23 of 321 (7%) come from ColabFold. Recorded as struct_source and checked after docking together with mode, clashes and pLDDT.</a:t>
            </a:r>
            <a:endParaRPr lang="en-US" sz="1100" dirty="0"/>
          </a:p>
        </p:txBody>
      </p:sp>
      <p:sp>
        <p:nvSpPr>
          <p:cNvPr id="24" name="Text 22"/>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94360" y="365760"/>
            <a:ext cx="10972800" cy="237744"/>
          </a:xfrm>
          <a:prstGeom prst="rect">
            <a:avLst/>
          </a:prstGeom>
          <a:noFill/>
          <a:ln/>
        </p:spPr>
        <p:txBody>
          <a:bodyPr wrap="square" lIns="0" tIns="0" rIns="0" bIns="0" rtlCol="0" anchor="ctr"/>
          <a:lstStyle/>
          <a:p>
            <a:pPr indent="0" marL="0">
              <a:buNone/>
            </a:pPr>
            <a:r>
              <a:rPr lang="en-US" sz="1150" b="1" spc="150" kern="0" dirty="0">
                <a:solidFill>
                  <a:srgbClr val="C0692B"/>
                </a:solidFill>
                <a:latin typeface="Calibri" pitchFamily="34" charset="0"/>
                <a:ea typeface="Calibri" pitchFamily="34" charset="-122"/>
                <a:cs typeface="Calibri" pitchFamily="34" charset="-120"/>
              </a:rPr>
              <a:t>BACKUP  B6  ·  FOR EXTERNAL USE</a:t>
            </a:r>
            <a:endParaRPr lang="en-US" sz="1150" dirty="0"/>
          </a:p>
        </p:txBody>
      </p:sp>
      <p:sp>
        <p:nvSpPr>
          <p:cNvPr id="3" name="Text 1"/>
          <p:cNvSpPr txBox="1"/>
          <p:nvPr/>
        </p:nvSpPr>
        <p:spPr>
          <a:xfrm>
            <a:off x="594360" y="621792"/>
            <a:ext cx="10972800" cy="932688"/>
          </a:xfrm>
          <a:prstGeom prst="rect">
            <a:avLst/>
          </a:prstGeom>
          <a:noFill/>
          <a:ln/>
        </p:spPr>
        <p:txBody>
          <a:bodyPr wrap="square" lIns="0" tIns="0" rIns="0" bIns="0" rtlCol="0" anchor="t"/>
          <a:lstStyle/>
          <a:p>
            <a:pPr indent="0" marL="0">
              <a:lnSpc>
                <a:spcPct val="102000"/>
              </a:lnSpc>
              <a:buNone/>
            </a:pPr>
            <a:r>
              <a:rPr lang="en-US" sz="2600" b="1" dirty="0">
                <a:solidFill>
                  <a:srgbClr val="1C1E33"/>
                </a:solidFill>
                <a:latin typeface="Calibri" pitchFamily="34" charset="0"/>
                <a:ea typeface="Calibri" pitchFamily="34" charset="-122"/>
                <a:cs typeface="Calibri" pitchFamily="34" charset="-120"/>
              </a:rPr>
              <a:t>Outside this group, state the interpretive scope of the docking score</a:t>
            </a:r>
            <a:endParaRPr lang="en-US" sz="2600" dirty="0"/>
          </a:p>
        </p:txBody>
      </p:sp>
      <p:sp>
        <p:nvSpPr>
          <p:cNvPr id="4" name="Shape 2"/>
          <p:cNvSpPr/>
          <p:nvPr/>
        </p:nvSpPr>
        <p:spPr>
          <a:xfrm>
            <a:off x="594360" y="1783080"/>
            <a:ext cx="5577840" cy="868680"/>
          </a:xfrm>
          <a:prstGeom prst="roundRect">
            <a:avLst>
              <a:gd name="adj" fmla="val 6316"/>
            </a:avLst>
          </a:prstGeom>
          <a:solidFill>
            <a:srgbClr val="EEF0FA"/>
          </a:solidFill>
          <a:ln w="12700">
            <a:solidFill>
              <a:srgbClr val="D6DAEE"/>
            </a:solidFill>
            <a:prstDash val="solid"/>
          </a:ln>
        </p:spPr>
      </p:sp>
      <p:sp>
        <p:nvSpPr>
          <p:cNvPr id="5" name="Text 3"/>
          <p:cNvSpPr txBox="1"/>
          <p:nvPr/>
        </p:nvSpPr>
        <p:spPr>
          <a:xfrm>
            <a:off x="850392" y="1920240"/>
            <a:ext cx="5065776" cy="0"/>
          </a:xfrm>
          <a:prstGeom prst="rect">
            <a:avLst/>
          </a:prstGeom>
          <a:noFill/>
          <a:ln/>
        </p:spPr>
        <p:txBody>
          <a:bodyPr wrap="square" lIns="0" tIns="0" rIns="0" bIns="0" rtlCol="0" anchor="t"/>
          <a:lstStyle/>
          <a:p>
            <a:pPr algn="l" indent="0" marL="0">
              <a:lnSpc>
                <a:spcPct val="113000"/>
              </a:lnSpc>
              <a:buNone/>
            </a:pPr>
            <a:r>
              <a:rPr lang="en-US" sz="1150" b="1" dirty="0">
                <a:solidFill>
                  <a:srgbClr val="5C6180"/>
                </a:solidFill>
                <a:latin typeface="Calibri" pitchFamily="34" charset="0"/>
                <a:ea typeface="Calibri" pitchFamily="34" charset="-122"/>
                <a:cs typeface="Calibri" pitchFamily="34" charset="-120"/>
              </a:rPr>
              <a:t>Internal — direct phrasing</a:t>
            </a:r>
            <a:endParaRPr lang="en-US" sz="1150" dirty="0"/>
          </a:p>
        </p:txBody>
      </p:sp>
      <p:sp>
        <p:nvSpPr>
          <p:cNvPr id="6" name="Text 4"/>
          <p:cNvSpPr txBox="1"/>
          <p:nvPr/>
        </p:nvSpPr>
        <p:spPr>
          <a:xfrm>
            <a:off x="850392" y="2212848"/>
            <a:ext cx="5065776" cy="0"/>
          </a:xfrm>
          <a:prstGeom prst="rect">
            <a:avLst/>
          </a:prstGeom>
          <a:noFill/>
          <a:ln/>
        </p:spPr>
        <p:txBody>
          <a:bodyPr wrap="square" lIns="0" tIns="0" rIns="0" bIns="0" rtlCol="0" anchor="t"/>
          <a:lstStyle/>
          <a:p>
            <a:pPr algn="l" indent="0" marL="0">
              <a:lnSpc>
                <a:spcPct val="113000"/>
              </a:lnSpc>
              <a:buNone/>
            </a:pPr>
            <a:r>
              <a:rPr lang="en-US" sz="1200" b="1" dirty="0">
                <a:solidFill>
                  <a:srgbClr val="2F3596"/>
                </a:solidFill>
                <a:latin typeface="Calibri" pitchFamily="34" charset="0"/>
                <a:ea typeface="Calibri" pitchFamily="34" charset="-122"/>
                <a:cs typeface="Calibri" pitchFamily="34" charset="-120"/>
              </a:rPr>
              <a:t>“dock into the EV binding site to predict binding affinity”</a:t>
            </a:r>
            <a:endParaRPr lang="en-US" sz="1200" dirty="0"/>
          </a:p>
        </p:txBody>
      </p:sp>
      <p:sp>
        <p:nvSpPr>
          <p:cNvPr id="7" name="Shape 5"/>
          <p:cNvSpPr/>
          <p:nvPr/>
        </p:nvSpPr>
        <p:spPr>
          <a:xfrm>
            <a:off x="6446520" y="1783080"/>
            <a:ext cx="5120640" cy="868680"/>
          </a:xfrm>
          <a:prstGeom prst="roundRect">
            <a:avLst>
              <a:gd name="adj" fmla="val 6316"/>
            </a:avLst>
          </a:prstGeom>
          <a:solidFill>
            <a:srgbClr val="FBEEE2"/>
          </a:solidFill>
          <a:ln w="12700">
            <a:solidFill>
              <a:srgbClr val="E8C9A8"/>
            </a:solidFill>
            <a:prstDash val="solid"/>
          </a:ln>
        </p:spPr>
      </p:sp>
      <p:sp>
        <p:nvSpPr>
          <p:cNvPr id="8" name="Text 6"/>
          <p:cNvSpPr txBox="1"/>
          <p:nvPr/>
        </p:nvSpPr>
        <p:spPr>
          <a:xfrm>
            <a:off x="6702552" y="1920240"/>
            <a:ext cx="4608576" cy="0"/>
          </a:xfrm>
          <a:prstGeom prst="rect">
            <a:avLst/>
          </a:prstGeom>
          <a:noFill/>
          <a:ln/>
        </p:spPr>
        <p:txBody>
          <a:bodyPr wrap="square" lIns="0" tIns="0" rIns="0" bIns="0" rtlCol="0" anchor="t"/>
          <a:lstStyle/>
          <a:p>
            <a:pPr algn="l" indent="0" marL="0">
              <a:lnSpc>
                <a:spcPct val="113000"/>
              </a:lnSpc>
              <a:buNone/>
            </a:pPr>
            <a:r>
              <a:rPr lang="en-US" sz="1150" b="1" dirty="0">
                <a:solidFill>
                  <a:srgbClr val="5C6180"/>
                </a:solidFill>
                <a:latin typeface="Calibri" pitchFamily="34" charset="0"/>
                <a:ea typeface="Calibri" pitchFamily="34" charset="-122"/>
                <a:cs typeface="Calibri" pitchFamily="34" charset="-120"/>
              </a:rPr>
              <a:t>External manuscript or talk — needs adjusting</a:t>
            </a:r>
            <a:endParaRPr lang="en-US" sz="1150" dirty="0"/>
          </a:p>
        </p:txBody>
      </p:sp>
      <p:sp>
        <p:nvSpPr>
          <p:cNvPr id="9" name="Text 7"/>
          <p:cNvSpPr txBox="1"/>
          <p:nvPr/>
        </p:nvSpPr>
        <p:spPr>
          <a:xfrm>
            <a:off x="6702552" y="2212848"/>
            <a:ext cx="4608576" cy="0"/>
          </a:xfrm>
          <a:prstGeom prst="rect">
            <a:avLst/>
          </a:prstGeom>
          <a:noFill/>
          <a:ln/>
        </p:spPr>
        <p:txBody>
          <a:bodyPr wrap="square" lIns="0" tIns="0" rIns="0" bIns="0" rtlCol="0" anchor="t"/>
          <a:lstStyle/>
          <a:p>
            <a:pPr algn="l" indent="0" marL="0">
              <a:lnSpc>
                <a:spcPct val="113000"/>
              </a:lnSpc>
              <a:buNone/>
            </a:pPr>
            <a:r>
              <a:rPr lang="en-US" sz="1100" b="1" dirty="0">
                <a:solidFill>
                  <a:srgbClr val="C0692B"/>
                </a:solidFill>
                <a:latin typeface="Calibri" pitchFamily="34" charset="0"/>
                <a:ea typeface="Calibri" pitchFamily="34" charset="-122"/>
                <a:cs typeface="Calibri" pitchFamily="34" charset="-120"/>
              </a:rPr>
              <a:t>“scores from a box sweeping the mutated region around residue 41 correlate with measured Km”</a:t>
            </a:r>
            <a:endParaRPr lang="en-US" sz="1100" dirty="0"/>
          </a:p>
        </p:txBody>
      </p:sp>
      <p:sp>
        <p:nvSpPr>
          <p:cNvPr id="10" name="Text 8"/>
          <p:cNvSpPr txBox="1"/>
          <p:nvPr/>
        </p:nvSpPr>
        <p:spPr>
          <a:xfrm>
            <a:off x="594360" y="2926080"/>
            <a:ext cx="10972800" cy="0"/>
          </a:xfrm>
          <a:prstGeom prst="rect">
            <a:avLst/>
          </a:prstGeom>
          <a:noFill/>
          <a:ln/>
        </p:spPr>
        <p:txBody>
          <a:bodyPr wrap="square" lIns="0" tIns="0" rIns="0" bIns="0" rtlCol="0" anchor="t"/>
          <a:lstStyle/>
          <a:p>
            <a:pPr algn="l" indent="0" marL="0">
              <a:lnSpc>
                <a:spcPct val="113000"/>
              </a:lnSpc>
              <a:buNone/>
            </a:pPr>
            <a:r>
              <a:rPr lang="en-US" sz="1350" b="1" dirty="0">
                <a:solidFill>
                  <a:srgbClr val="1C1E33"/>
                </a:solidFill>
                <a:latin typeface="Calibri" pitchFamily="34" charset="0"/>
                <a:ea typeface="Calibri" pitchFamily="34" charset="-122"/>
                <a:cs typeface="Calibri" pitchFamily="34" charset="-120"/>
              </a:rPr>
              <a:t>Why — this is not a direct measurement of site-specific binding affinity</a:t>
            </a:r>
            <a:endParaRPr lang="en-US" sz="1350" dirty="0"/>
          </a:p>
        </p:txBody>
      </p:sp>
      <p:sp>
        <p:nvSpPr>
          <p:cNvPr id="11" name="Text 9"/>
          <p:cNvSpPr txBox="1"/>
          <p:nvPr/>
        </p:nvSpPr>
        <p:spPr>
          <a:xfrm>
            <a:off x="594360" y="3291840"/>
            <a:ext cx="10972800" cy="2011680"/>
          </a:xfrm>
          <a:prstGeom prst="rect">
            <a:avLst/>
          </a:prstGeom>
          <a:noFill/>
          <a:ln/>
        </p:spPr>
        <p:txBody>
          <a:bodyPr wrap="square" lIns="0" tIns="0" rIns="0" bIns="0" rtlCol="0" anchor="t"/>
          <a:lstStyle/>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The 50-run energy range at 15 Å is 0.22 kcal/mol. </a:t>
            </a:r>
            <a:pPr indent="0" marL="0">
              <a:lnSpc>
                <a:spcPct val="116000"/>
              </a:lnSpc>
              <a:spcAft>
                <a:spcPts val="1100"/>
              </a:spcAft>
              <a:buNone/>
            </a:pPr>
            <a:r>
              <a:rPr lang="en-US" sz="1200" dirty="0">
                <a:solidFill>
                  <a:srgbClr val="1C1E33"/>
                </a:solidFill>
                <a:latin typeface="Calibri" pitchFamily="34" charset="0"/>
                <a:ea typeface="Calibri" pitchFamily="34" charset="-122"/>
                <a:cs typeface="Calibri" pitchFamily="34" charset="-120"/>
              </a:rPr>
              <a:t>The energy landscape is flat.</a:t>
            </a:r>
            <a:endParaRPr lang="en-US" sz="1200" dirty="0"/>
          </a:p>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Enlarging the box always reveals a better site farther away. </a:t>
            </a:r>
            <a:pPr indent="0" marL="0">
              <a:lnSpc>
                <a:spcPct val="116000"/>
              </a:lnSpc>
              <a:spcAft>
                <a:spcPts val="1100"/>
              </a:spcAft>
              <a:buNone/>
            </a:pPr>
            <a:r>
              <a:rPr lang="en-US" sz="1200" dirty="0">
                <a:solidFill>
                  <a:srgbClr val="1C1E33"/>
                </a:solidFill>
                <a:latin typeface="Calibri" pitchFamily="34" charset="0"/>
                <a:ea typeface="Calibri" pitchFamily="34" charset="-122"/>
                <a:cs typeface="Calibri" pitchFamily="34" charset="-120"/>
              </a:rPr>
              <a:t>17.23 → 21.42 → 23.62 Å — there is no converging binding site.</a:t>
            </a:r>
            <a:endParaRPr lang="en-US" sz="1200" dirty="0"/>
          </a:p>
          <a:p>
            <a:pPr indent="0" marL="0">
              <a:lnSpc>
                <a:spcPct val="116000"/>
              </a:lnSpc>
              <a:spcAft>
                <a:spcPts val="1100"/>
              </a:spcAft>
              <a:buNone/>
            </a:pPr>
            <a:r>
              <a:rPr lang="en-US" sz="1200" b="1" dirty="0">
                <a:solidFill>
                  <a:srgbClr val="1C1E33"/>
                </a:solidFill>
                <a:latin typeface="Calibri" pitchFamily="34" charset="0"/>
                <a:ea typeface="Calibri" pitchFamily="34" charset="-122"/>
                <a:cs typeface="Calibri" pitchFamily="34" charset="-120"/>
              </a:rPr>
              <a:t>The 8X9F crystallographic EV centroid sits 12.65 Å from the grid center.</a:t>
            </a:r>
            <a:endParaRPr lang="en-US" sz="1200" dirty="0"/>
          </a:p>
          <a:p>
            <a:pPr indent="0" marL="0">
              <a:lnSpc>
                <a:spcPct val="116000"/>
              </a:lnSpc>
              <a:buNone/>
            </a:pPr>
            <a:r>
              <a:rPr lang="en-US" sz="1200" b="1" dirty="0">
                <a:solidFill>
                  <a:srgbClr val="1C1E33"/>
                </a:solidFill>
                <a:latin typeface="Calibri" pitchFamily="34" charset="0"/>
                <a:ea typeface="Calibri" pitchFamily="34" charset="-122"/>
                <a:cs typeface="Calibri" pitchFamily="34" charset="-120"/>
              </a:rPr>
              <a:t>EV occupies markedly different positions in the MDW and GLW variant crystal structures. </a:t>
            </a:r>
            <a:pPr indent="0" marL="0">
              <a:lnSpc>
                <a:spcPct val="116000"/>
              </a:lnSpc>
              <a:spcAft>
                <a:spcPts val="1100"/>
              </a:spcAft>
              <a:buNone/>
            </a:pPr>
            <a:r>
              <a:rPr lang="en-US" sz="1200" dirty="0">
                <a:solidFill>
                  <a:srgbClr val="1C1E33"/>
                </a:solidFill>
                <a:latin typeface="Calibri" pitchFamily="34" charset="0"/>
                <a:ea typeface="Calibri" pitchFamily="34" charset="-122"/>
                <a:cs typeface="Calibri" pitchFamily="34" charset="-120"/>
              </a:rPr>
              <a:t>The crystallographic EV site is not conserved, so it cannot anchor the box design.</a:t>
            </a:r>
            <a:endParaRPr lang="en-US" sz="1200" dirty="0"/>
          </a:p>
        </p:txBody>
      </p:sp>
      <p:sp>
        <p:nvSpPr>
          <p:cNvPr id="12" name="Shape 10"/>
          <p:cNvSpPr/>
          <p:nvPr/>
        </p:nvSpPr>
        <p:spPr>
          <a:xfrm>
            <a:off x="594360" y="5440680"/>
            <a:ext cx="10972800" cy="868680"/>
          </a:xfrm>
          <a:prstGeom prst="roundRect">
            <a:avLst>
              <a:gd name="adj" fmla="val 6316"/>
            </a:avLst>
          </a:prstGeom>
          <a:solidFill>
            <a:srgbClr val="F7F8FC"/>
          </a:solidFill>
          <a:ln w="12700">
            <a:solidFill>
              <a:srgbClr val="D6DAEE"/>
            </a:solidFill>
            <a:prstDash val="solid"/>
          </a:ln>
        </p:spPr>
      </p:sp>
      <p:sp>
        <p:nvSpPr>
          <p:cNvPr id="13" name="Text 11"/>
          <p:cNvSpPr txBox="1"/>
          <p:nvPr/>
        </p:nvSpPr>
        <p:spPr>
          <a:xfrm>
            <a:off x="886968" y="5669280"/>
            <a:ext cx="10387584" cy="0"/>
          </a:xfrm>
          <a:prstGeom prst="rect">
            <a:avLst/>
          </a:prstGeom>
          <a:noFill/>
          <a:ln/>
        </p:spPr>
        <p:txBody>
          <a:bodyPr wrap="square" lIns="0" tIns="0" rIns="0" bIns="0" rtlCol="0" anchor="t"/>
          <a:lstStyle/>
          <a:p>
            <a:pPr algn="l" indent="0" marL="0">
              <a:lnSpc>
                <a:spcPct val="113000"/>
              </a:lnSpc>
              <a:buNone/>
            </a:pPr>
            <a:r>
              <a:rPr lang="en-US" sz="1200" b="1" dirty="0">
                <a:solidFill>
                  <a:srgbClr val="2F3596"/>
                </a:solidFill>
                <a:latin typeface="Calibri" pitchFamily="34" charset="0"/>
                <a:ea typeface="Calibri" pitchFamily="34" charset="-122"/>
                <a:cs typeface="Calibri" pitchFamily="34" charset="-120"/>
              </a:rPr>
              <a:t>In the manuscript title, enhanced electron mediator affinity states the objective; the Results should describe ranking throughout.</a:t>
            </a:r>
            <a:endParaRPr lang="en-US" sz="1200" dirty="0"/>
          </a:p>
        </p:txBody>
      </p:sp>
      <p:sp>
        <p:nvSpPr>
          <p:cNvPr id="14" name="Text 12"/>
          <p:cNvSpPr txBox="1"/>
          <p:nvPr/>
        </p:nvSpPr>
        <p:spPr>
          <a:xfrm>
            <a:off x="11018520" y="6382512"/>
            <a:ext cx="548640" cy="228600"/>
          </a:xfrm>
          <a:prstGeom prst="rect">
            <a:avLst/>
          </a:prstGeom>
          <a:noFill/>
          <a:ln/>
        </p:spPr>
        <p:txBody>
          <a:bodyPr wrap="square" lIns="0" tIns="0" rIns="0" bIns="0" rtlCol="0" anchor="ctr"/>
          <a:lstStyle/>
          <a:p>
            <a:pPr algn="r" indent="0" marL="0">
              <a:buNone/>
            </a:pPr>
            <a:r>
              <a:rPr lang="en-US" sz="950" dirty="0">
                <a:solidFill>
                  <a:srgbClr val="5C6180"/>
                </a:solidFill>
                <a:latin typeface="Calibri" pitchFamily="34" charset="0"/>
                <a:ea typeface="Calibri" pitchFamily="34" charset="-122"/>
                <a:cs typeface="Calibri" pitchFamily="34" charset="-120"/>
              </a:rPr>
              <a:t>25</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Docking-distilled pLM — progress report 2026-09-16</dc:title>
  <dc:subject>PptxGenJS Presentation</dc:subject>
  <dc:creator>CODH project</dc:creator>
  <cp:lastModifiedBy>CODH project</cp:lastModifiedBy>
  <cp:revision>1</cp:revision>
  <dcterms:created xsi:type="dcterms:W3CDTF">2026-09-16T16:26:26Z</dcterms:created>
  <dcterms:modified xsi:type="dcterms:W3CDTF">2026-09-16T16:26:26Z</dcterms:modified>
</cp:coreProperties>
</file>